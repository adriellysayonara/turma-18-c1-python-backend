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10287000" cx="18288000"/>
  <p:notesSz cx="6858000" cy="9144000"/>
  <p:embeddedFontLst>
    <p:embeddedFont>
      <p:font typeface="Montserrat"/>
      <p:regular r:id="rId41"/>
      <p:bold r:id="rId42"/>
      <p:italic r:id="rId43"/>
      <p:boldItalic r:id="rId44"/>
    </p:embeddedFont>
    <p:embeddedFont>
      <p:font typeface="Roboto Mono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9" roundtripDataSignature="AMtx7mgFLKDNQ5pShRAKrh5F2Di58m/R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FDF2E8-9802-4BF3-8C82-5C015A21F88A}">
  <a:tblStyle styleId="{BDFDF2E8-9802-4BF3-8C82-5C015A21F88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Montserrat-bold.fntdata"/><Relationship Id="rId41" Type="http://schemas.openxmlformats.org/officeDocument/2006/relationships/font" Target="fonts/Montserrat-regular.fntdata"/><Relationship Id="rId44" Type="http://schemas.openxmlformats.org/officeDocument/2006/relationships/font" Target="fonts/Montserrat-boldItalic.fntdata"/><Relationship Id="rId43" Type="http://schemas.openxmlformats.org/officeDocument/2006/relationships/font" Target="fonts/Montserrat-italic.fntdata"/><Relationship Id="rId46" Type="http://schemas.openxmlformats.org/officeDocument/2006/relationships/font" Target="fonts/RobotoMono-bold.fntdata"/><Relationship Id="rId45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Mono-boldItalic.fntdata"/><Relationship Id="rId47" Type="http://schemas.openxmlformats.org/officeDocument/2006/relationships/font" Target="fonts/RobotoMono-italic.fntdata"/><Relationship Id="rId4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1f89f91c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71f89f91c1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918a0419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7918a0419f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918a0419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7918a0419f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d9998f8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8d9998f89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d9998f89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8d9998f891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d9998f89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g38d9998f891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d9998f89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8d9998f891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d9998f89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g38d9998f891_0_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d9998f89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8d9998f891_0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d9998f89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38d9998f891_0_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918a0419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g37918a0419f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918a0419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g37918a0419f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7918a0419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g37918a0419f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7918a0419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g37918a0419f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918a0419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g37918a0419f_0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7918a0419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g37918a0419f_0_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7918a0419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g37918a0419f_0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7918a0419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g37918a0419f_0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7918a0419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g37918a0419f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918a0419f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g37918a0419f_0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7918a0419f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g37918a0419f_0_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918a0419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g37918a0419f_0_1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7918a0419f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g37918a0419f_0_1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7918a0419f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g37918a0419f_0_1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7918a0419f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g37918a0419f_0_1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7918a0419f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g37918a0419f_0_1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7918a0419f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g37918a0419f_0_1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7918a0419f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g37918a0419f_0_1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7918a0419f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g37918a0419f_0_1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7918a0419f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4" name="Google Shape;364;g37918a0419f_0_2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7918a0419f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g37918a0419f_0_2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71f89f91c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2" name="Google Shape;382;g371f89f91c1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0" name="Google Shape;39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9250" y="254175"/>
            <a:ext cx="17837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Back-end em python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49075" y="7942375"/>
            <a:ext cx="6696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Profª. Ma. A</a:t>
            </a:r>
            <a:r>
              <a:rPr b="1" lang="en-US" sz="3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drielly Sayonara</a:t>
            </a:r>
            <a:endParaRPr b="1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371f89f91c1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71f89f91c1_0_95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g371f89f91c1_0_95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Objetivos da Aula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g371f89f91c1_0_95"/>
          <p:cNvSpPr txBox="1"/>
          <p:nvPr/>
        </p:nvSpPr>
        <p:spPr>
          <a:xfrm>
            <a:off x="1151325" y="3809875"/>
            <a:ext cx="121380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Compreender a importância dos padrões de projeto no desenvolvimento de software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Estudar os princípios SOLID para código orientado a objetos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Refatorar classes usando boas práticas e padrões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Preparar os alunos para projetos maiores e mais robustos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71f89f91c1_0_95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g37918a0419f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7918a0419f_0_3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g37918a0419f_0_3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 que são Padrões de Projeto?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g37918a0419f_0_3"/>
          <p:cNvSpPr txBox="1"/>
          <p:nvPr/>
        </p:nvSpPr>
        <p:spPr>
          <a:xfrm>
            <a:off x="1151325" y="3809875"/>
            <a:ext cx="12138000" cy="25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Soluções reutilizáveis para problemas recorrentes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Facilitam manutenção e expansão do código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Criam um vocabulário comum entre desenvolvedores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7918a0419f_0_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37918a0419f_0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7918a0419f_0_12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g37918a0419f_0_12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Benefícios dos Padrões de Projeto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g37918a0419f_0_12"/>
          <p:cNvSpPr txBox="1"/>
          <p:nvPr/>
        </p:nvSpPr>
        <p:spPr>
          <a:xfrm>
            <a:off x="1151325" y="3809875"/>
            <a:ext cx="12138000" cy="30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Melhor organização do código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Aumenta a reutilização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Facilita trabalho em equipe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Ajuda a evitar erros comuns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7918a0419f_0_12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8d9998f89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8d9998f891_0_0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g38d9998f891_0_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g38d9998f891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5372" y="3076650"/>
            <a:ext cx="3866800" cy="494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8d9998f891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53772" y="3091450"/>
            <a:ext cx="4274493" cy="494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8d9998f891_0_0"/>
          <p:cNvPicPr preferRelativeResize="0"/>
          <p:nvPr/>
        </p:nvPicPr>
        <p:blipFill rotWithShape="1">
          <a:blip r:embed="rId7">
            <a:alphaModFix/>
          </a:blip>
          <a:srcRect b="0" l="30229" r="30078" t="0"/>
          <a:stretch/>
        </p:blipFill>
        <p:spPr>
          <a:xfrm>
            <a:off x="10690722" y="3091450"/>
            <a:ext cx="3736179" cy="494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g38d9998f891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8d9998f891_0_11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g38d9998f891_0_11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Padrões Criacionais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g38d9998f891_0_11"/>
          <p:cNvSpPr txBox="1"/>
          <p:nvPr/>
        </p:nvSpPr>
        <p:spPr>
          <a:xfrm>
            <a:off x="1151325" y="3809875"/>
            <a:ext cx="121380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Ajudam a </a:t>
            </a:r>
            <a:r>
              <a:rPr b="1" lang="en-US" sz="2000">
                <a:solidFill>
                  <a:schemeClr val="dk1"/>
                </a:solidFill>
              </a:rPr>
              <a:t>criar objetos</a:t>
            </a:r>
            <a:r>
              <a:rPr lang="en-US" sz="2000">
                <a:solidFill>
                  <a:schemeClr val="dk1"/>
                </a:solidFill>
              </a:rPr>
              <a:t> de forma controlada, evitando acoplamento direto entre classes.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8d9998f891_0_11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2" name="Google Shape;132;g38d9998f891_0_11"/>
          <p:cNvGraphicFramePr/>
          <p:nvPr/>
        </p:nvGraphicFramePr>
        <p:xfrm>
          <a:off x="1227863" y="4473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{BDFDF2E8-9802-4BF3-8C82-5C015A21F88A}</a:tableStyleId>
              </a:tblPr>
              <a:tblGrid>
                <a:gridCol w="1468850"/>
                <a:gridCol w="5903950"/>
                <a:gridCol w="64387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Padrão</a:t>
                      </a:r>
                      <a:endParaRPr b="1"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Descrição</a:t>
                      </a:r>
                      <a:endParaRPr b="1"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Exemplo simples</a:t>
                      </a:r>
                      <a:endParaRPr b="1"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Singleton</a:t>
                      </a:r>
                      <a:endParaRPr b="1"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Garante que exista </a:t>
                      </a:r>
                      <a:r>
                        <a:rPr b="1" lang="en-US" sz="1800"/>
                        <a:t>apenas uma instância</a:t>
                      </a:r>
                      <a:r>
                        <a:rPr lang="en-US" sz="1800"/>
                        <a:t> de uma classe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Ex: Configuração global do sistema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Factory Method</a:t>
                      </a:r>
                      <a:endParaRPr b="1"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Cria objetos </a:t>
                      </a:r>
                      <a:r>
                        <a:rPr b="1" lang="en-US" sz="1800"/>
                        <a:t>sem expor a lógica de criação</a:t>
                      </a:r>
                      <a:endParaRPr b="1"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Ex: </a:t>
                      </a:r>
                      <a:r>
                        <a:rPr lang="en-US" sz="1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Fábrica</a:t>
                      </a:r>
                      <a:r>
                        <a:rPr lang="en-US" sz="1800"/>
                        <a:t> que retorna diferentes tipos de personagens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Abstract Factory</a:t>
                      </a:r>
                      <a:endParaRPr b="1"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Cria </a:t>
                      </a:r>
                      <a:r>
                        <a:rPr b="1" lang="en-US" sz="1800"/>
                        <a:t>famílias de objetos relacionados</a:t>
                      </a:r>
                      <a:endParaRPr b="1"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Ex: Criar interface para montar “kits” (ex: GUI para Windows e Linux)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Builder</a:t>
                      </a:r>
                      <a:endParaRPr b="1"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Constrói objetos complexos passo a passo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Ex: Montar um “hambúrguer personalizado”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Prototype</a:t>
                      </a:r>
                      <a:endParaRPr b="1"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Cria objetos </a:t>
                      </a:r>
                      <a:r>
                        <a:rPr b="1" lang="en-US" sz="1800"/>
                        <a:t>a partir de cópias</a:t>
                      </a:r>
                      <a:r>
                        <a:rPr lang="en-US" sz="1800"/>
                        <a:t> de um modelo existente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Ex: Clonar um personagem do jogo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g38d9998f891_0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8d9998f891_0_23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g38d9998f891_0_23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Padrões Estruturais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g38d9998f891_0_23"/>
          <p:cNvSpPr txBox="1"/>
          <p:nvPr/>
        </p:nvSpPr>
        <p:spPr>
          <a:xfrm>
            <a:off x="1151325" y="3809875"/>
            <a:ext cx="121380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Definem </a:t>
            </a:r>
            <a:r>
              <a:rPr b="1" lang="en-US" sz="2000">
                <a:solidFill>
                  <a:schemeClr val="dk1"/>
                </a:solidFill>
              </a:rPr>
              <a:t>como as classes e objetos se relacionam</a:t>
            </a:r>
            <a:r>
              <a:rPr lang="en-US" sz="2000">
                <a:solidFill>
                  <a:schemeClr val="dk1"/>
                </a:solidFill>
              </a:rPr>
              <a:t> para formar estruturas maiores e reutilizáveis.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8d9998f891_0_2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2" name="Google Shape;142;g38d9998f891_0_23"/>
          <p:cNvGraphicFramePr/>
          <p:nvPr/>
        </p:nvGraphicFramePr>
        <p:xfrm>
          <a:off x="1227450" y="4473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{BDFDF2E8-9802-4BF3-8C82-5C015A21F88A}</a:tableStyleId>
              </a:tblPr>
              <a:tblGrid>
                <a:gridCol w="1351450"/>
                <a:gridCol w="6168700"/>
                <a:gridCol w="55507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Padrão</a:t>
                      </a:r>
                      <a:endParaRPr b="1"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Descrição</a:t>
                      </a:r>
                      <a:endParaRPr b="1"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Exemplo</a:t>
                      </a:r>
                      <a:endParaRPr b="1"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Adapter</a:t>
                      </a:r>
                      <a:endParaRPr b="1"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Conecta classes incompatíveis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Ex: Adaptador de tomada 110V/220V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Bridge</a:t>
                      </a:r>
                      <a:endParaRPr b="1"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Separa abstração da implementação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Ex: Controle remoto (abstração) e TV (implementação)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Composite</a:t>
                      </a:r>
                      <a:endParaRPr b="1"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Estrutura hierárquica (árvore) de objetos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Ex: Pastas e arquivos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Decorator</a:t>
                      </a:r>
                      <a:endParaRPr b="1"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Adiciona responsabilidades </a:t>
                      </a:r>
                      <a:r>
                        <a:rPr lang="en-US" sz="1700"/>
                        <a:t>dinámicamente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Ex: Pizza + borda recheada + extra queijo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Facade</a:t>
                      </a:r>
                      <a:endParaRPr b="1"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Fornece uma interface simples para subsistemas complexos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Ex: Classe que chama vários serviços internos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Flyweight</a:t>
                      </a:r>
                      <a:endParaRPr b="1"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Reduz o uso de memória compartilhando objetos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Ex: Sistema com muitos inimigos iguais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Proxy</a:t>
                      </a:r>
                      <a:endParaRPr b="1"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Representa outro objeto e controla seu acesso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Ex: Proxy de rede, proxy de imagem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8d9998f891_0_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8d9998f891_0_36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g38d9998f891_0_36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Padrões Comportamentais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g38d9998f891_0_36"/>
          <p:cNvSpPr txBox="1"/>
          <p:nvPr/>
        </p:nvSpPr>
        <p:spPr>
          <a:xfrm>
            <a:off x="1151325" y="3809875"/>
            <a:ext cx="1502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Lidam com </a:t>
            </a:r>
            <a:r>
              <a:rPr b="1" lang="en-US" sz="2000">
                <a:solidFill>
                  <a:schemeClr val="dk1"/>
                </a:solidFill>
              </a:rPr>
              <a:t>a interação entre objetos</a:t>
            </a:r>
            <a:r>
              <a:rPr lang="en-US" sz="2000">
                <a:solidFill>
                  <a:schemeClr val="dk1"/>
                </a:solidFill>
              </a:rPr>
              <a:t> — como eles comunicam, cooperam e compartilham responsabilidades.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8d9998f891_0_36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2" name="Google Shape;152;g38d9998f891_0_36"/>
          <p:cNvGraphicFramePr/>
          <p:nvPr/>
        </p:nvGraphicFramePr>
        <p:xfrm>
          <a:off x="1228925" y="433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{BDFDF2E8-9802-4BF3-8C82-5C015A21F88A}</a:tableStyleId>
              </a:tblPr>
              <a:tblGrid>
                <a:gridCol w="2249450"/>
                <a:gridCol w="6345625"/>
                <a:gridCol w="61651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Padrão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Descrição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Exemplo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Observer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Um objeto notifica outros quando muda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Ex: Sistema de notificações (YouTube, Instagram)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Strategy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Define famílias de algoritmos intercambiáveis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Ex: Algoritmos de cálculo de desconto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Command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Encapsula uma solicitação como objeto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Ex: Ctrl+Z (desfazer) em editores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State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Muda o comportamento de um objeto conforme seu estado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Ex: Máquina de café (estados: “ligada”, “fazendo café”, “sem água”)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Chain of Responsibility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Passa requisições por uma cadeia de handlers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Ex: Suporte técnico nível 1, 2, 3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Mediator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Centraliza a comunicação entre objetos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Ex: Torre de controle de aeroporto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Template Method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Define o esqueleto de um algoritmo, deixando detalhes para subclasses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Ex: Receita de bolo com etapas fixas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Iterator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Percorre elementos de uma coleção sem expor sua estrutura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Ex: </a:t>
                      </a:r>
                      <a:r>
                        <a:rPr lang="en-US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for item in lista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Visitor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Separa uma operação da estrutura de dados que ela usa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Ex: Impressora de relatórios de diferentes tipos de objetos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g38d9998f891_0_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8d9998f891_0_49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g38d9998f891_0_49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Padrão Singleton (Criacional)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g38d9998f891_0_49"/>
          <p:cNvSpPr txBox="1"/>
          <p:nvPr/>
        </p:nvSpPr>
        <p:spPr>
          <a:xfrm>
            <a:off x="1151325" y="3809875"/>
            <a:ext cx="1502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Garante que só exista uma instância de uma classe — útil para configurações globais, conexões com banco de dados, etc.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8d9998f891_0_49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g38d9998f891_0_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1325" y="4437050"/>
            <a:ext cx="7152901" cy="4112100"/>
          </a:xfrm>
          <a:prstGeom prst="rect">
            <a:avLst/>
          </a:prstGeom>
          <a:noFill/>
          <a:ln cap="flat" cmpd="sng" w="9525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3" name="Google Shape;163;g38d9998f891_0_49"/>
          <p:cNvSpPr txBox="1"/>
          <p:nvPr/>
        </p:nvSpPr>
        <p:spPr>
          <a:xfrm>
            <a:off x="9350850" y="5708150"/>
            <a:ext cx="6055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__new__</a:t>
            </a:r>
            <a:r>
              <a:rPr lang="en-US" sz="1800">
                <a:solidFill>
                  <a:schemeClr val="dk1"/>
                </a:solidFill>
              </a:rPr>
              <a:t> controla a </a:t>
            </a:r>
            <a:r>
              <a:rPr b="1" lang="en-US" sz="1800">
                <a:solidFill>
                  <a:schemeClr val="dk1"/>
                </a:solidFill>
              </a:rPr>
              <a:t>criação do objeto</a:t>
            </a:r>
            <a:r>
              <a:rPr lang="en-US" sz="1800">
                <a:solidFill>
                  <a:schemeClr val="dk1"/>
                </a:solidFill>
              </a:rPr>
              <a:t>, e não apenas sua inicialização.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Se já existir uma instância, ele retorna a mesma.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Assim, nunca teremos duas “configurações” diferentes no sistema.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g38d9998f891_0_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8d9998f891_0_58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g38d9998f891_0_58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Padrão Decorator (Estrutural)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g38d9998f891_0_58"/>
          <p:cNvSpPr txBox="1"/>
          <p:nvPr/>
        </p:nvSpPr>
        <p:spPr>
          <a:xfrm>
            <a:off x="1151325" y="3675300"/>
            <a:ext cx="1502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Adiciona </a:t>
            </a:r>
            <a:r>
              <a:rPr b="1" lang="en-US" sz="2000">
                <a:solidFill>
                  <a:schemeClr val="dk1"/>
                </a:solidFill>
              </a:rPr>
              <a:t>funcionalidades extras</a:t>
            </a:r>
            <a:r>
              <a:rPr lang="en-US" sz="2000">
                <a:solidFill>
                  <a:schemeClr val="dk1"/>
                </a:solidFill>
              </a:rPr>
              <a:t> a um objeto sem alterar sua estrutura original.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8d9998f891_0_58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g38d9998f891_0_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1313" y="4188350"/>
            <a:ext cx="4219575" cy="4619625"/>
          </a:xfrm>
          <a:prstGeom prst="rect">
            <a:avLst/>
          </a:prstGeom>
          <a:noFill/>
          <a:ln cap="flat" cmpd="sng" w="9525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4" name="Google Shape;174;g38d9998f891_0_58"/>
          <p:cNvSpPr txBox="1"/>
          <p:nvPr/>
        </p:nvSpPr>
        <p:spPr>
          <a:xfrm>
            <a:off x="6683550" y="5720863"/>
            <a:ext cx="84927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@logar_acao</a:t>
            </a:r>
            <a:r>
              <a:rPr lang="en-US" sz="2000">
                <a:solidFill>
                  <a:schemeClr val="dk1"/>
                </a:solidFill>
              </a:rPr>
              <a:t> é um </a:t>
            </a:r>
            <a:r>
              <a:rPr b="1" lang="en-US" sz="2000">
                <a:solidFill>
                  <a:schemeClr val="dk1"/>
                </a:solidFill>
              </a:rPr>
              <a:t>decorador</a:t>
            </a:r>
            <a:r>
              <a:rPr lang="en-US" sz="2000">
                <a:solidFill>
                  <a:schemeClr val="dk1"/>
                </a:solidFill>
              </a:rPr>
              <a:t>, ele “embrulha” a função original com mais comportamento (log).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Assim, adicionamos logs </a:t>
            </a:r>
            <a:r>
              <a:rPr b="1" lang="en-US" sz="2000">
                <a:solidFill>
                  <a:schemeClr val="dk1"/>
                </a:solidFill>
              </a:rPr>
              <a:t>sem modificar</a:t>
            </a:r>
            <a:r>
              <a:rPr lang="en-US" sz="2000">
                <a:solidFill>
                  <a:schemeClr val="dk1"/>
                </a:solidFill>
              </a:rPr>
              <a:t> o código das funções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atacar</a:t>
            </a:r>
            <a:r>
              <a:rPr lang="en-US" sz="2000">
                <a:solidFill>
                  <a:schemeClr val="dk1"/>
                </a:solidFill>
              </a:rPr>
              <a:t> 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defender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g38d9998f891_0_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8d9998f891_0_67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g38d9998f891_0_67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Padrão Strategy (Comportamental)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g38d9998f891_0_67"/>
          <p:cNvSpPr txBox="1"/>
          <p:nvPr/>
        </p:nvSpPr>
        <p:spPr>
          <a:xfrm>
            <a:off x="1151325" y="3570625"/>
            <a:ext cx="1502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Permite </a:t>
            </a:r>
            <a:r>
              <a:rPr b="1" lang="en-US" sz="2000">
                <a:solidFill>
                  <a:schemeClr val="dk1"/>
                </a:solidFill>
              </a:rPr>
              <a:t>mudar o comportamento de forma dinâmica</a:t>
            </a:r>
            <a:r>
              <a:rPr lang="en-US" sz="2000">
                <a:solidFill>
                  <a:schemeClr val="dk1"/>
                </a:solidFill>
              </a:rPr>
              <a:t>, escolhendo uma “estratégia” diferente.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8d9998f891_0_67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g38d9998f891_0_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8950" y="4063225"/>
            <a:ext cx="4695239" cy="567972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8d9998f891_0_67"/>
          <p:cNvSpPr txBox="1"/>
          <p:nvPr/>
        </p:nvSpPr>
        <p:spPr>
          <a:xfrm>
            <a:off x="6581900" y="6195075"/>
            <a:ext cx="10257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A classe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Personagem</a:t>
            </a:r>
            <a:r>
              <a:rPr lang="en-US" sz="2000">
                <a:solidFill>
                  <a:schemeClr val="dk1"/>
                </a:solidFill>
              </a:rPr>
              <a:t> </a:t>
            </a:r>
            <a:r>
              <a:rPr b="1" lang="en-US" sz="2000">
                <a:solidFill>
                  <a:schemeClr val="dk1"/>
                </a:solidFill>
              </a:rPr>
              <a:t>não sabe como o ataque funciona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Ela apenas executa a estratégia passada.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Podemos mudar a estratégia </a:t>
            </a:r>
            <a:r>
              <a:rPr b="1" lang="en-US" sz="2000">
                <a:solidFill>
                  <a:schemeClr val="dk1"/>
                </a:solidFill>
              </a:rPr>
              <a:t>em tempo de execução</a:t>
            </a:r>
            <a:r>
              <a:rPr lang="en-US" sz="2000">
                <a:solidFill>
                  <a:schemeClr val="dk1"/>
                </a:solidFill>
              </a:rPr>
              <a:t>, sem alterar o código da classe principal.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g37918a0419f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7918a0419f_0_21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g37918a0419f_0_21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Introdução ao SOLID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g37918a0419f_0_21"/>
          <p:cNvSpPr txBox="1"/>
          <p:nvPr/>
        </p:nvSpPr>
        <p:spPr>
          <a:xfrm>
            <a:off x="1151325" y="3809875"/>
            <a:ext cx="12138000" cy="30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Cinco princípios fundamentais para POO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Criados para facilitar manutenção, escalabilidade e flexibilidade do software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Muito usados em sistemas profissionais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7918a0419f_0_21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g37918a0419f_0_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7918a0419f_0_30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g37918a0419f_0_30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Significado de  SOLID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g37918a0419f_0_3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3" name="Google Shape;203;g37918a0419f_0_30"/>
          <p:cNvGraphicFramePr/>
          <p:nvPr/>
        </p:nvGraphicFramePr>
        <p:xfrm>
          <a:off x="1151325" y="3965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{BDFDF2E8-9802-4BF3-8C82-5C015A21F88A}</a:tableStyleId>
              </a:tblPr>
              <a:tblGrid>
                <a:gridCol w="968800"/>
                <a:gridCol w="2773525"/>
                <a:gridCol w="71154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Letra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Princípio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Descrição resumida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S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Single Responsibility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Uma classe deve ter apenas uma responsabilidade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O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Open/Closed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Aberto para extensão, fechado para modificação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L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Liskov Substitution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Subclasses devem poder substituir suas superclasses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I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Interface Segregation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Interfaces específicas, não genéricas demais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D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Dependency Inversion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Dependa de abstrações, não de implementações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g37918a0419f_0_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7918a0419f_0_39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g37918a0419f_0_39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SRP -  Single Responsibility Principle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g37918a0419f_0_39"/>
          <p:cNvSpPr txBox="1"/>
          <p:nvPr/>
        </p:nvSpPr>
        <p:spPr>
          <a:xfrm>
            <a:off x="1151325" y="3809875"/>
            <a:ext cx="12138000" cy="25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classe deve ter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apenas uma razão para mudar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Evita classes “Deus” que fazem tudo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separar lógica de cálculo e lógica de exibição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7918a0419f_0_39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g37918a0419f_0_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7918a0419f_0_48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g37918a0419f_0_48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Exemplo SRP em Python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g37918a0419f_0_48"/>
          <p:cNvSpPr txBox="1"/>
          <p:nvPr/>
        </p:nvSpPr>
        <p:spPr>
          <a:xfrm>
            <a:off x="1151325" y="7728725"/>
            <a:ext cx="12138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classe tem uma responsabilidade única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7918a0419f_0_48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g37918a0419f_0_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23275" y="4230375"/>
            <a:ext cx="9194101" cy="2943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g37918a0419f_0_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37918a0419f_0_57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g37918a0419f_0_57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OCP - Open/Close Principle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g37918a0419f_0_57"/>
          <p:cNvSpPr txBox="1"/>
          <p:nvPr/>
        </p:nvSpPr>
        <p:spPr>
          <a:xfrm>
            <a:off x="1151325" y="3979825"/>
            <a:ext cx="12138000" cy="30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Classes devem estar abertas para extensão, mas fechadas para modificação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Facilita adicionar novas funcionalidades sem alterar código existente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7918a0419f_0_57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g37918a0419f_0_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7918a0419f_0_67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g37918a0419f_0_67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OCP - Open/Close Principle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g37918a0419f_0_67"/>
          <p:cNvSpPr txBox="1"/>
          <p:nvPr/>
        </p:nvSpPr>
        <p:spPr>
          <a:xfrm>
            <a:off x="1151325" y="7577800"/>
            <a:ext cx="133137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Novos descontos podem ser criados sem modificar a classe base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7918a0419f_0_67"/>
          <p:cNvSpPr txBox="1"/>
          <p:nvPr/>
        </p:nvSpPr>
        <p:spPr>
          <a:xfrm>
            <a:off x="16838900" y="8854475"/>
            <a:ext cx="69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g37918a0419f_0_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4006" y="4188350"/>
            <a:ext cx="9815345" cy="28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g37918a0419f_0_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37918a0419f_0_76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g37918a0419f_0_76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LSP - Liskov Substitution Principle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g37918a0419f_0_76"/>
          <p:cNvSpPr txBox="1"/>
          <p:nvPr/>
        </p:nvSpPr>
        <p:spPr>
          <a:xfrm>
            <a:off x="1151325" y="4188350"/>
            <a:ext cx="13313700" cy="25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Subclasses devem poder substituir suas superclasses sem quebrar o código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Garante coerência entre herança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7918a0419f_0_76"/>
          <p:cNvSpPr txBox="1"/>
          <p:nvPr/>
        </p:nvSpPr>
        <p:spPr>
          <a:xfrm>
            <a:off x="16838900" y="8854475"/>
            <a:ext cx="69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g37918a0419f_0_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37918a0419f_0_86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g37918a0419f_0_86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Exemplo LSP 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g37918a0419f_0_86"/>
          <p:cNvSpPr txBox="1"/>
          <p:nvPr/>
        </p:nvSpPr>
        <p:spPr>
          <a:xfrm>
            <a:off x="1151325" y="6800925"/>
            <a:ext cx="133137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pato pode substituir a classe Ave sem problemas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7918a0419f_0_86"/>
          <p:cNvSpPr txBox="1"/>
          <p:nvPr/>
        </p:nvSpPr>
        <p:spPr>
          <a:xfrm>
            <a:off x="16838900" y="8854475"/>
            <a:ext cx="69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g37918a0419f_0_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11125" y="3983063"/>
            <a:ext cx="9194100" cy="2510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g37918a0419f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37918a0419f_0_95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g37918a0419f_0_95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ISP - Interface Segregation Principle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g37918a0419f_0_95"/>
          <p:cNvSpPr txBox="1"/>
          <p:nvPr/>
        </p:nvSpPr>
        <p:spPr>
          <a:xfrm>
            <a:off x="1151325" y="4188350"/>
            <a:ext cx="13313700" cy="25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Classes não devem ser forçadas a implementar métodos que não usam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Melhor dividir interfaces em partes menores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7918a0419f_0_95"/>
          <p:cNvSpPr txBox="1"/>
          <p:nvPr/>
        </p:nvSpPr>
        <p:spPr>
          <a:xfrm>
            <a:off x="16838900" y="8854475"/>
            <a:ext cx="69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g37918a0419f_0_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7918a0419f_0_105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g37918a0419f_0_105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ISP - Interface Segregation Principle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g37918a0419f_0_105"/>
          <p:cNvSpPr txBox="1"/>
          <p:nvPr/>
        </p:nvSpPr>
        <p:spPr>
          <a:xfrm>
            <a:off x="1151325" y="7367000"/>
            <a:ext cx="13313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interface trata apenas de sua função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7918a0419f_0_105"/>
          <p:cNvSpPr txBox="1"/>
          <p:nvPr/>
        </p:nvSpPr>
        <p:spPr>
          <a:xfrm>
            <a:off x="16838900" y="8854475"/>
            <a:ext cx="69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g37918a0419f_0_10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76225" y="4393750"/>
            <a:ext cx="7263900" cy="2725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g37918a0419f_0_1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g37918a0419f_0_114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g37918a0419f_0_114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DIP - Dependency Inversion Principle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g37918a0419f_0_114"/>
          <p:cNvSpPr txBox="1"/>
          <p:nvPr/>
        </p:nvSpPr>
        <p:spPr>
          <a:xfrm>
            <a:off x="1151325" y="4188350"/>
            <a:ext cx="10483200" cy="25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Módulos de alto nível não devem depender de módulos de baixo nível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Ambos devem depender de abstrações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7918a0419f_0_114"/>
          <p:cNvSpPr txBox="1"/>
          <p:nvPr/>
        </p:nvSpPr>
        <p:spPr>
          <a:xfrm>
            <a:off x="16838900" y="8854475"/>
            <a:ext cx="69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g37918a0419f_0_1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7918a0419f_0_124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g37918a0419f_0_124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Exemplo DIP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g37918a0419f_0_124"/>
          <p:cNvSpPr txBox="1"/>
          <p:nvPr/>
        </p:nvSpPr>
        <p:spPr>
          <a:xfrm>
            <a:off x="1151325" y="7456775"/>
            <a:ext cx="104832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Dependência é injetada, aumentando flexibilidade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7918a0419f_0_124"/>
          <p:cNvSpPr txBox="1"/>
          <p:nvPr/>
        </p:nvSpPr>
        <p:spPr>
          <a:xfrm>
            <a:off x="16838900" y="8854475"/>
            <a:ext cx="69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g37918a0419f_0_1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39150" y="3970425"/>
            <a:ext cx="10483200" cy="3191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g37918a0419f_0_1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37918a0419f_0_133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g37918a0419f_0_133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Resumo de SOLID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g37918a0419f_0_133"/>
          <p:cNvSpPr txBox="1"/>
          <p:nvPr/>
        </p:nvSpPr>
        <p:spPr>
          <a:xfrm>
            <a:off x="1151325" y="4188350"/>
            <a:ext cx="10483200" cy="30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Código mais legível e manutenível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Menos duplicação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Maior escalabilidade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próximo de boas práticas do mercado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7918a0419f_0_133"/>
          <p:cNvSpPr txBox="1"/>
          <p:nvPr/>
        </p:nvSpPr>
        <p:spPr>
          <a:xfrm>
            <a:off x="16838900" y="8854475"/>
            <a:ext cx="69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g37918a0419f_0_1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7918a0419f_0_143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4" name="Google Shape;314;g37918a0419f_0_143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Atividade 1 - Refatoração com SRP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5" name="Google Shape;315;g37918a0419f_0_143"/>
          <p:cNvSpPr txBox="1"/>
          <p:nvPr/>
        </p:nvSpPr>
        <p:spPr>
          <a:xfrm>
            <a:off x="1151325" y="4188350"/>
            <a:ext cx="104832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Refatorar uma classe que mistura cálculos e prints.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Separar responsabilidades em classes distintas.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7918a0419f_0_143"/>
          <p:cNvSpPr txBox="1"/>
          <p:nvPr/>
        </p:nvSpPr>
        <p:spPr>
          <a:xfrm>
            <a:off x="16838900" y="8854475"/>
            <a:ext cx="69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g37918a0419f_0_1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g37918a0419f_0_151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g37918a0419f_0_151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Atividade 2 - Extensão com OCP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g37918a0419f_0_151"/>
          <p:cNvSpPr txBox="1"/>
          <p:nvPr/>
        </p:nvSpPr>
        <p:spPr>
          <a:xfrm>
            <a:off x="1151325" y="4188350"/>
            <a:ext cx="104832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novas classes de sem modificar a base.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7918a0419f_0_151"/>
          <p:cNvSpPr txBox="1"/>
          <p:nvPr/>
        </p:nvSpPr>
        <p:spPr>
          <a:xfrm>
            <a:off x="16838900" y="8854475"/>
            <a:ext cx="69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g37918a0419f_0_1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g37918a0419f_0_159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g37918a0419f_0_159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Atividade 3 - Correção de violação LSP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g37918a0419f_0_159"/>
          <p:cNvSpPr txBox="1"/>
          <p:nvPr/>
        </p:nvSpPr>
        <p:spPr>
          <a:xfrm>
            <a:off x="1151325" y="4188350"/>
            <a:ext cx="10483200" cy="12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Corrigir hierarquia de classes onde subclasses não respeitam a </a:t>
            </a:r>
            <a:r>
              <a:rPr lang="en-US" sz="3200">
                <a:solidFill>
                  <a:schemeClr val="dk1"/>
                </a:solidFill>
              </a:rPr>
              <a:t>superclasse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7918a0419f_0_159"/>
          <p:cNvSpPr txBox="1"/>
          <p:nvPr/>
        </p:nvSpPr>
        <p:spPr>
          <a:xfrm>
            <a:off x="16838900" y="8854475"/>
            <a:ext cx="69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g37918a0419f_0_1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37918a0419f_0_167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g37918a0419f_0_167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Atividade 4- Interface Segregation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g37918a0419f_0_167"/>
          <p:cNvSpPr txBox="1"/>
          <p:nvPr/>
        </p:nvSpPr>
        <p:spPr>
          <a:xfrm>
            <a:off x="1151325" y="4188350"/>
            <a:ext cx="104832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Dividir interfaces muito grandes em menores.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Aplicar em classes práticas..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7918a0419f_0_167"/>
          <p:cNvSpPr txBox="1"/>
          <p:nvPr/>
        </p:nvSpPr>
        <p:spPr>
          <a:xfrm>
            <a:off x="16838900" y="8854475"/>
            <a:ext cx="69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g37918a0419f_0_1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g37918a0419f_0_183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g37918a0419f_0_183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Atividade 5 - Dependency Inversion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g37918a0419f_0_183"/>
          <p:cNvSpPr txBox="1"/>
          <p:nvPr/>
        </p:nvSpPr>
        <p:spPr>
          <a:xfrm>
            <a:off x="1151325" y="4188350"/>
            <a:ext cx="10483200" cy="12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Refatorar classe de serviço que cria diretamente dependências. Usar injeção de dependência.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7918a0419f_0_183"/>
          <p:cNvSpPr txBox="1"/>
          <p:nvPr/>
        </p:nvSpPr>
        <p:spPr>
          <a:xfrm>
            <a:off x="16838900" y="8854475"/>
            <a:ext cx="69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g37918a0419f_0_1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7918a0419f_0_191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g37918a0419f_0_191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Boas práticas em Padrões de Projeto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g37918a0419f_0_191"/>
          <p:cNvSpPr txBox="1"/>
          <p:nvPr/>
        </p:nvSpPr>
        <p:spPr>
          <a:xfrm>
            <a:off x="1151325" y="4188350"/>
            <a:ext cx="10483200" cy="25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aplicar padrões sem necessidade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Refatorar gradualmente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Priorizar legibilidade e clareza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7918a0419f_0_191"/>
          <p:cNvSpPr txBox="1"/>
          <p:nvPr/>
        </p:nvSpPr>
        <p:spPr>
          <a:xfrm>
            <a:off x="16838900" y="8854475"/>
            <a:ext cx="69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g37918a0419f_0_2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g37918a0419f_0_200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8" name="Google Shape;368;g37918a0419f_0_200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" name="Google Shape;369;g37918a0419f_0_200"/>
          <p:cNvSpPr txBox="1"/>
          <p:nvPr/>
        </p:nvSpPr>
        <p:spPr>
          <a:xfrm>
            <a:off x="1151325" y="4188350"/>
            <a:ext cx="104832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Conhecemos os princípios SOLID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Vimos exemplos práticos em Python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Exercícios reforçaram boas práticas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Próxima aula: Padrões de projeto mais usados (Factory, Singleton, Strategy)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7918a0419f_0_200"/>
          <p:cNvSpPr txBox="1"/>
          <p:nvPr/>
        </p:nvSpPr>
        <p:spPr>
          <a:xfrm>
            <a:off x="16838900" y="8854475"/>
            <a:ext cx="69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g37918a0419f_0_2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g37918a0419f_0_209"/>
          <p:cNvSpPr txBox="1"/>
          <p:nvPr/>
        </p:nvSpPr>
        <p:spPr>
          <a:xfrm>
            <a:off x="2086950" y="1276525"/>
            <a:ext cx="726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 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g37918a0419f_0_209"/>
          <p:cNvSpPr txBox="1"/>
          <p:nvPr/>
        </p:nvSpPr>
        <p:spPr>
          <a:xfrm>
            <a:off x="1151325" y="3028800"/>
            <a:ext cx="880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Materiais de Estudo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8" name="Google Shape;378;g37918a0419f_0_209"/>
          <p:cNvSpPr txBox="1"/>
          <p:nvPr/>
        </p:nvSpPr>
        <p:spPr>
          <a:xfrm>
            <a:off x="1151325" y="4188350"/>
            <a:ext cx="104832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Livro: Padrões de Projeto – GoF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SOLID Principles – https://solidprinciples.com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Curso DevMedia: SOLID em Python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Artigo Real Python: https://realpython.com/python-refactoring/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37918a0419f_0_209"/>
          <p:cNvSpPr txBox="1"/>
          <p:nvPr/>
        </p:nvSpPr>
        <p:spPr>
          <a:xfrm>
            <a:off x="16838900" y="8854475"/>
            <a:ext cx="69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g371f89f91c1_0_1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g371f89f91c1_0_185"/>
          <p:cNvSpPr txBox="1"/>
          <p:nvPr/>
        </p:nvSpPr>
        <p:spPr>
          <a:xfrm>
            <a:off x="2870800" y="4343100"/>
            <a:ext cx="11767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Alguma dúvida ?</a:t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prof.adrielly.sayonara@gmail.com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6" name="Google Shape;386;g371f89f91c1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g371f89f91c1_0_185"/>
          <p:cNvSpPr txBox="1"/>
          <p:nvPr/>
        </p:nvSpPr>
        <p:spPr>
          <a:xfrm>
            <a:off x="2086950" y="1276525"/>
            <a:ext cx="7721700" cy="16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25 -Padrões de Projeto e SOLID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Isaias Dias</dc:creator>
</cp:coreProperties>
</file>