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HldQN8s/eerEv+0Y8BE7EG635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ea567a94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7ea567a94b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a567a9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ea567a94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a567a9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ea567a94b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a567a9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7ea567a94b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a567a9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ea567a94b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a567a94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ea567a94b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075" y="7942375"/>
            <a:ext cx="748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1f89f91c1_0_95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151325" y="3809875"/>
            <a:ext cx="9644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o </a:t>
            </a:r>
            <a:r>
              <a:rPr b="1" lang="en-US" sz="2000">
                <a:solidFill>
                  <a:schemeClr val="dk1"/>
                </a:solidFill>
              </a:rPr>
              <a:t>ciclo de trabalho no Scrum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Diferenciar </a:t>
            </a:r>
            <a:r>
              <a:rPr b="1" lang="en-US" sz="2000">
                <a:solidFill>
                  <a:schemeClr val="dk1"/>
                </a:solidFill>
              </a:rPr>
              <a:t>Product Backlog, Sprint Backlog e Incremento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Conhecer os </a:t>
            </a:r>
            <a:r>
              <a:rPr b="1" lang="en-US" sz="2000">
                <a:solidFill>
                  <a:schemeClr val="dk1"/>
                </a:solidFill>
              </a:rPr>
              <a:t>papéis no Scrum</a:t>
            </a:r>
            <a:r>
              <a:rPr lang="en-US" sz="2000">
                <a:solidFill>
                  <a:schemeClr val="dk1"/>
                </a:solidFill>
              </a:rPr>
              <a:t> (PO, Scrum Master, Dev Team).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Realizar uma </a:t>
            </a:r>
            <a:r>
              <a:rPr b="1" lang="en-US" sz="2000">
                <a:solidFill>
                  <a:schemeClr val="dk1"/>
                </a:solidFill>
              </a:rPr>
              <a:t>simulação de Sprint</a:t>
            </a:r>
            <a:r>
              <a:rPr lang="en-US" sz="2000">
                <a:solidFill>
                  <a:schemeClr val="dk1"/>
                </a:solidFill>
              </a:rPr>
              <a:t> em sala de aula com um mini-projeto.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5" name="Google Shape;95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7ea567a94b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7ea567a94b_0_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ea567a94b_0_2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que é Scrum?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7ea567a94b_0_2"/>
          <p:cNvSpPr txBox="1"/>
          <p:nvPr/>
        </p:nvSpPr>
        <p:spPr>
          <a:xfrm>
            <a:off x="1151325" y="3809875"/>
            <a:ext cx="96441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framework ágil</a:t>
            </a:r>
            <a:r>
              <a:rPr lang="en-US" sz="2000">
                <a:solidFill>
                  <a:schemeClr val="dk1"/>
                </a:solidFill>
              </a:rPr>
              <a:t> para organizar projetos.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Baseado em </a:t>
            </a:r>
            <a:r>
              <a:rPr b="1" lang="en-US" sz="2000">
                <a:solidFill>
                  <a:schemeClr val="dk1"/>
                </a:solidFill>
              </a:rPr>
              <a:t>iterações curtas</a:t>
            </a:r>
            <a:r>
              <a:rPr lang="en-US" sz="2000">
                <a:solidFill>
                  <a:schemeClr val="dk1"/>
                </a:solidFill>
              </a:rPr>
              <a:t> chamadas </a:t>
            </a:r>
            <a:r>
              <a:rPr i="1" lang="en-US" sz="2000">
                <a:solidFill>
                  <a:schemeClr val="dk1"/>
                </a:solidFill>
              </a:rPr>
              <a:t>sprints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Foco em: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Entregas rápidas e incrementais.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Feedback constante do cliente.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Trabalho colaborativo.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📌 </a:t>
            </a:r>
            <a:r>
              <a:rPr b="1" lang="en-US" sz="2000">
                <a:solidFill>
                  <a:schemeClr val="dk1"/>
                </a:solidFill>
              </a:rPr>
              <a:t>Analogia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Um time de futebol → cada jogo é uma </a:t>
            </a:r>
            <a:r>
              <a:rPr i="1" lang="en-US" sz="2000">
                <a:solidFill>
                  <a:schemeClr val="dk1"/>
                </a:solidFill>
              </a:rPr>
              <a:t>sprint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Treinador define estratégia (PO).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Jogadores executam (Dev Team).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Preparador ajuda a evitar lesões e problemas (Scrum Master).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4" name="Google Shape;104;g37ea567a94b_0_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ea567a94b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ea567a94b_0_1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ea567a94b_0_12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Papéis no Scrum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7ea567a94b_0_12"/>
          <p:cNvSpPr txBox="1"/>
          <p:nvPr/>
        </p:nvSpPr>
        <p:spPr>
          <a:xfrm>
            <a:off x="1151325" y="3809875"/>
            <a:ext cx="96441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Product Owner (PO)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Define o que deve ser feito.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Organiza e prioriza o </a:t>
            </a:r>
            <a:r>
              <a:rPr b="1" lang="en-US" sz="2000">
                <a:solidFill>
                  <a:schemeClr val="dk1"/>
                </a:solidFill>
              </a:rPr>
              <a:t>Product Backl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Scrum Master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Garante que o time siga o Scrum.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Remove impedimentos.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Atua como facilitador.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Time de Desenvolvimento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Faz o trabalho de construir o produto.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Autônomo e multidisciplinar.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3" name="Google Shape;113;g37ea567a94b_0_1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7ea567a94b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ea567a94b_0_2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7ea567a94b_0_22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Backlog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7ea567a94b_0_22"/>
          <p:cNvSpPr txBox="1"/>
          <p:nvPr/>
        </p:nvSpPr>
        <p:spPr>
          <a:xfrm>
            <a:off x="1151325" y="3809875"/>
            <a:ext cx="9644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Product Backlog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Lista </a:t>
            </a:r>
            <a:r>
              <a:rPr b="1" lang="en-US" sz="2000">
                <a:solidFill>
                  <a:schemeClr val="dk1"/>
                </a:solidFill>
              </a:rPr>
              <a:t>tudo que o sistema deve ter</a:t>
            </a:r>
            <a:r>
              <a:rPr lang="en-US" sz="2000">
                <a:solidFill>
                  <a:schemeClr val="dk1"/>
                </a:solidFill>
              </a:rPr>
              <a:t> (funcionalidades, requisitos, melhorias).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📌 Exemplo (E-commerce): cadastro, login, carrinho, pagamento, entrega.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Sprint Backlog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Itens selecionados do </a:t>
            </a:r>
            <a:r>
              <a:rPr b="1" lang="en-US" sz="2000">
                <a:solidFill>
                  <a:schemeClr val="dk1"/>
                </a:solidFill>
              </a:rPr>
              <a:t>Product Backlog</a:t>
            </a:r>
            <a:r>
              <a:rPr lang="en-US" sz="2000">
                <a:solidFill>
                  <a:schemeClr val="dk1"/>
                </a:solidFill>
              </a:rPr>
              <a:t> para serem feitos </a:t>
            </a:r>
            <a:r>
              <a:rPr b="1" lang="en-US" sz="2000">
                <a:solidFill>
                  <a:schemeClr val="dk1"/>
                </a:solidFill>
              </a:rPr>
              <a:t>na sprint atual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📌 Exemplo: nessa sprint → cadastro e login.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2" name="Google Shape;122;g37ea567a94b_0_2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7ea567a94b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ea567a94b_0_3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ea567a94b_0_32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A Sprint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7ea567a94b_0_32"/>
          <p:cNvSpPr txBox="1"/>
          <p:nvPr/>
        </p:nvSpPr>
        <p:spPr>
          <a:xfrm>
            <a:off x="1151325" y="3809875"/>
            <a:ext cx="96441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Iteração fixa (1 a 4 semanas).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Objetivo: entregar um </a:t>
            </a:r>
            <a:r>
              <a:rPr b="1" lang="en-US" sz="2000">
                <a:solidFill>
                  <a:schemeClr val="dk1"/>
                </a:solidFill>
              </a:rPr>
              <a:t>incremento de software funcional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Eventos principais: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Sprint Planning</a:t>
            </a:r>
            <a:r>
              <a:rPr lang="en-US" sz="2000">
                <a:solidFill>
                  <a:schemeClr val="dk1"/>
                </a:solidFill>
              </a:rPr>
              <a:t> (planejamento).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Daily Scrum</a:t>
            </a:r>
            <a:r>
              <a:rPr lang="en-US" sz="2000">
                <a:solidFill>
                  <a:schemeClr val="dk1"/>
                </a:solidFill>
              </a:rPr>
              <a:t> (reunião diária de 15 min).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Sprint Review</a:t>
            </a:r>
            <a:r>
              <a:rPr lang="en-US" sz="2000">
                <a:solidFill>
                  <a:schemeClr val="dk1"/>
                </a:solidFill>
              </a:rPr>
              <a:t> (apresentação do que foi feito).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Sprint Retrospective</a:t>
            </a:r>
            <a:r>
              <a:rPr lang="en-US" sz="2000">
                <a:solidFill>
                  <a:schemeClr val="dk1"/>
                </a:solidFill>
              </a:rPr>
              <a:t> (lições aprendidas).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31" name="Google Shape;131;g37ea567a94b_0_3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7ea567a94b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7ea567a94b_0_42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ea567a94b_0_42"/>
          <p:cNvSpPr txBox="1"/>
          <p:nvPr/>
        </p:nvSpPr>
        <p:spPr>
          <a:xfrm>
            <a:off x="1151325" y="3028800"/>
            <a:ext cx="813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Fluxo de Trabalho no Scrum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ea567a94b_0_42"/>
          <p:cNvSpPr txBox="1"/>
          <p:nvPr/>
        </p:nvSpPr>
        <p:spPr>
          <a:xfrm>
            <a:off x="1151325" y="3809875"/>
            <a:ext cx="130113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PO organiza o </a:t>
            </a:r>
            <a:r>
              <a:rPr b="1" lang="en-US" sz="2000">
                <a:solidFill>
                  <a:schemeClr val="dk1"/>
                </a:solidFill>
              </a:rPr>
              <a:t>Product Backlog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Time escolhe itens para o </a:t>
            </a:r>
            <a:r>
              <a:rPr b="1" lang="en-US" sz="2000">
                <a:solidFill>
                  <a:schemeClr val="dk1"/>
                </a:solidFill>
              </a:rPr>
              <a:t>Sprint Backlog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Time trabalha durante a sprint.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No final → entrega funcional + review.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📌 Visual: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Product Backlog → Sprint Planning → Sprint Backlog → Desenvolvimento → Review → Incremento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0" name="Google Shape;140;g37ea567a94b_0_4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7ea567a94b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7ea567a94b_0_54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i="0" lang="en-US" sz="27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Scrum: Sprint, Backlog e Papéis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7ea567a94b_0_54"/>
          <p:cNvSpPr txBox="1"/>
          <p:nvPr/>
        </p:nvSpPr>
        <p:spPr>
          <a:xfrm>
            <a:off x="1151325" y="3028800"/>
            <a:ext cx="813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Fluxo de Trabalho no Scrum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7ea567a94b_0_54"/>
          <p:cNvSpPr txBox="1"/>
          <p:nvPr/>
        </p:nvSpPr>
        <p:spPr>
          <a:xfrm>
            <a:off x="1151325" y="3809875"/>
            <a:ext cx="130113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PO organiza o </a:t>
            </a:r>
            <a:r>
              <a:rPr b="1" lang="en-US" sz="2000">
                <a:solidFill>
                  <a:schemeClr val="dk1"/>
                </a:solidFill>
              </a:rPr>
              <a:t>Product Backlog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Time escolhe itens para o </a:t>
            </a:r>
            <a:r>
              <a:rPr b="1" lang="en-US" sz="2000">
                <a:solidFill>
                  <a:schemeClr val="dk1"/>
                </a:solidFill>
              </a:rPr>
              <a:t>Sprint Backlog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Time trabalha durante a sprint.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No final → entrega funcional + review.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📌 Visual: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Product Backlog → Sprint Planning → Sprint Backlog → Desenvolvimento → Review → Incremento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9" name="Google Shape;149;g37ea567a94b_0_5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71f89f91c1_0_185"/>
          <p:cNvSpPr txBox="1"/>
          <p:nvPr/>
        </p:nvSpPr>
        <p:spPr>
          <a:xfrm>
            <a:off x="2086950" y="1184275"/>
            <a:ext cx="73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71f89f91c1_0_185"/>
          <p:cNvSpPr txBox="1"/>
          <p:nvPr/>
        </p:nvSpPr>
        <p:spPr>
          <a:xfrm>
            <a:off x="1961625" y="1276525"/>
            <a:ext cx="787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18 — Scrum: Sprint, Backlog e Papéis</a:t>
            </a:r>
            <a:endParaRPr b="1" sz="2700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