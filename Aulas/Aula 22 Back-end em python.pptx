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10287000" cx="18288000"/>
  <p:notesSz cx="6858000" cy="9144000"/>
  <p:embeddedFontLst>
    <p:embeddedFont>
      <p:font typeface="Montserrat"/>
      <p:regular r:id="rId40"/>
      <p:bold r:id="rId41"/>
      <p:italic r:id="rId42"/>
      <p:boldItalic r:id="rId43"/>
    </p:embeddedFont>
    <p:embeddedFont>
      <p:font typeface="Roboto Mon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8" roundtripDataSignature="AMtx7mg+iHPTG0bU6ip1xRc9NJ7+XHO4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regular.fntdata"/><Relationship Id="rId20" Type="http://schemas.openxmlformats.org/officeDocument/2006/relationships/slide" Target="slides/slide15.xml"/><Relationship Id="rId42" Type="http://schemas.openxmlformats.org/officeDocument/2006/relationships/font" Target="fonts/Montserrat-italic.fntdata"/><Relationship Id="rId41" Type="http://schemas.openxmlformats.org/officeDocument/2006/relationships/font" Target="fonts/Montserrat-bold.fntdata"/><Relationship Id="rId22" Type="http://schemas.openxmlformats.org/officeDocument/2006/relationships/slide" Target="slides/slide17.xml"/><Relationship Id="rId44" Type="http://schemas.openxmlformats.org/officeDocument/2006/relationships/font" Target="fonts/RobotoMono-regular.fntdata"/><Relationship Id="rId21" Type="http://schemas.openxmlformats.org/officeDocument/2006/relationships/slide" Target="slides/slide16.xml"/><Relationship Id="rId43" Type="http://schemas.openxmlformats.org/officeDocument/2006/relationships/font" Target="fonts/Montserrat-boldItalic.fntdata"/><Relationship Id="rId24" Type="http://schemas.openxmlformats.org/officeDocument/2006/relationships/slide" Target="slides/slide19.xml"/><Relationship Id="rId46" Type="http://schemas.openxmlformats.org/officeDocument/2006/relationships/font" Target="fonts/RobotoMono-italic.fntdata"/><Relationship Id="rId23" Type="http://schemas.openxmlformats.org/officeDocument/2006/relationships/slide" Target="slides/slide18.xml"/><Relationship Id="rId45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customschemas.google.com/relationships/presentationmetadata" Target="metadata"/><Relationship Id="rId25" Type="http://schemas.openxmlformats.org/officeDocument/2006/relationships/slide" Target="slides/slide20.xml"/><Relationship Id="rId47" Type="http://schemas.openxmlformats.org/officeDocument/2006/relationships/font" Target="fonts/RobotoMono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1f89f91c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71f89f91c1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34bfdd58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734bfdd588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75c5530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775c5530a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34bfdd58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734bfdd588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75c5530a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775c5530a0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34bfdd58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734bfdd588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34bfdd58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734bfdd588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75c5530a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775c5530a0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34bfdd58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734bfdd588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75c5530a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775c5530a0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75c5530a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g3775c5530a0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75c5530a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3775c5530a0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4e4918a8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84e4918a81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34bfdd58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3734bfdd588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4e4918a8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g384e4918a81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84e4918a8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384e4918a81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4e4918a8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384e4918a81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84e4918a8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g384e4918a81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84e4918a8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g384e4918a81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84e4918a81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g384e4918a81_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75c5530a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g3775c5530a0_0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734bfdd58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g3734bfdd588_0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7287c6a1d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g37287c6a1d9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734bfdd588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g3734bfdd588_0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734bfdd588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g3734bfdd588_0_1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775c5530a0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6" name="Google Shape;326;g3775c5530a0_0_1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84e4918a8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g384e4918a81_0_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84e4918a8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g384e4918a81_0_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84e4918a81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7" name="Google Shape;357;g384e4918a81_0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84e4918a81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8" name="Google Shape;368;g384e4918a81_0_1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84e4918a8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9" name="Google Shape;379;g384e4918a81_0_1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71f89f91c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g371f89f91c1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7" name="Google Shape;39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9250" y="254175"/>
            <a:ext cx="17837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Back-end em python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49075" y="7942375"/>
            <a:ext cx="5334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Profª. Adrielly Sayonara</a:t>
            </a:r>
            <a:endParaRPr b="1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371f89f91c1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71f89f91c1_0_95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Relacional, Chaves 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g371f89f91c1_0_95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Objetivos da Aula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g371f89f91c1_0_95"/>
          <p:cNvSpPr txBox="1"/>
          <p:nvPr/>
        </p:nvSpPr>
        <p:spPr>
          <a:xfrm>
            <a:off x="1151325" y="3809875"/>
            <a:ext cx="9644100" cy="3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Compreender o modelo lógico relacional derivado do modelo ER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Entender o papel das chaves primária e estrangeira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Aprender os princípios da normalização de dados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Realizar a modelagem lógica de um sistema de exemplo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71f89f91c1_0_95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g3734bfdd588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734bfdd588_0_1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Relacional, Chaves 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g3734bfdd588_0_1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 modelo ER ao modelo relacional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g3734bfdd588_0_1"/>
          <p:cNvSpPr txBox="1"/>
          <p:nvPr/>
        </p:nvSpPr>
        <p:spPr>
          <a:xfrm>
            <a:off x="1151325" y="3809875"/>
            <a:ext cx="9644100" cy="27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Tradução do diagrama ER para tabelas relacionais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entidade vira uma tabela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relacionamento vira uma tabela ou chave estrangeira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734bfdd588_0_1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3775c5530a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775c5530a0_0_0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Relacional, Chaves 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g3775c5530a0_0_0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 que é Modelo Lógico Relacional?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g3775c5530a0_0_0"/>
          <p:cNvSpPr txBox="1"/>
          <p:nvPr/>
        </p:nvSpPr>
        <p:spPr>
          <a:xfrm>
            <a:off x="1151325" y="3809875"/>
            <a:ext cx="13446300" cy="61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Representação das entidades e relacionamentos em </a:t>
            </a: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tabelas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A conversão segue regras claras: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US" sz="2500">
                <a:solidFill>
                  <a:schemeClr val="dk1"/>
                </a:solidFill>
              </a:rPr>
              <a:t>Entidades</a:t>
            </a:r>
            <a:r>
              <a:rPr lang="en-US" sz="2500">
                <a:solidFill>
                  <a:schemeClr val="dk1"/>
                </a:solidFill>
              </a:rPr>
              <a:t> tornam-se </a:t>
            </a:r>
            <a:r>
              <a:rPr b="1" lang="en-US" sz="2500">
                <a:solidFill>
                  <a:schemeClr val="dk1"/>
                </a:solidFill>
              </a:rPr>
              <a:t>Tabelas</a:t>
            </a:r>
            <a:r>
              <a:rPr lang="en-US" sz="2500">
                <a:solidFill>
                  <a:schemeClr val="dk1"/>
                </a:solidFill>
              </a:rPr>
              <a:t>. O nome da entidade vira o nome da tabela (ex: </a:t>
            </a:r>
            <a:r>
              <a:rPr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Aluno</a:t>
            </a:r>
            <a:r>
              <a:rPr lang="en-US" sz="2500">
                <a:solidFill>
                  <a:schemeClr val="dk1"/>
                </a:solidFill>
              </a:rPr>
              <a:t> -&gt; Tabela </a:t>
            </a:r>
            <a:r>
              <a:rPr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alunos</a:t>
            </a:r>
            <a:r>
              <a:rPr lang="en-US" sz="2500">
                <a:solidFill>
                  <a:schemeClr val="dk1"/>
                </a:solidFill>
              </a:rPr>
              <a:t>).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US" sz="2500">
                <a:solidFill>
                  <a:schemeClr val="dk1"/>
                </a:solidFill>
              </a:rPr>
              <a:t>Atributos</a:t>
            </a:r>
            <a:r>
              <a:rPr lang="en-US" sz="2500">
                <a:solidFill>
                  <a:schemeClr val="dk1"/>
                </a:solidFill>
              </a:rPr>
              <a:t> tornam-se </a:t>
            </a:r>
            <a:r>
              <a:rPr b="1" lang="en-US" sz="2500">
                <a:solidFill>
                  <a:schemeClr val="dk1"/>
                </a:solidFill>
              </a:rPr>
              <a:t>Colunas</a:t>
            </a:r>
            <a:r>
              <a:rPr lang="en-US" sz="2500">
                <a:solidFill>
                  <a:schemeClr val="dk1"/>
                </a:solidFill>
              </a:rPr>
              <a:t>. O nome do atributo vira o nome da coluna (ex: </a:t>
            </a:r>
            <a:r>
              <a:rPr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Nome</a:t>
            </a:r>
            <a:r>
              <a:rPr lang="en-US" sz="2500">
                <a:solidFill>
                  <a:schemeClr val="dk1"/>
                </a:solidFill>
              </a:rPr>
              <a:t> -&gt; Coluna </a:t>
            </a:r>
            <a:r>
              <a:rPr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nome</a:t>
            </a:r>
            <a:r>
              <a:rPr lang="en-US" sz="2500">
                <a:solidFill>
                  <a:schemeClr val="dk1"/>
                </a:solidFill>
              </a:rPr>
              <a:t>).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US" sz="2500">
                <a:solidFill>
                  <a:schemeClr val="dk1"/>
                </a:solidFill>
              </a:rPr>
              <a:t>Relacionamentos</a:t>
            </a:r>
            <a:r>
              <a:rPr lang="en-US" sz="2500">
                <a:solidFill>
                  <a:schemeClr val="dk1"/>
                </a:solidFill>
              </a:rPr>
              <a:t> tornam-se </a:t>
            </a:r>
            <a:r>
              <a:rPr b="1" lang="en-US" sz="2500">
                <a:solidFill>
                  <a:schemeClr val="dk1"/>
                </a:solidFill>
              </a:rPr>
              <a:t>Chaves Estrangeiras</a:t>
            </a:r>
            <a:r>
              <a:rPr lang="en-US" sz="2500">
                <a:solidFill>
                  <a:schemeClr val="dk1"/>
                </a:solidFill>
              </a:rPr>
              <a:t> ou novas tabelas (para relacionamentos N:N).</a:t>
            </a:r>
            <a:endParaRPr sz="2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775c5530a0_0_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734bfdd588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734bfdd588_0_10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Relacional, Chaves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g3734bfdd588_0_10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Tabela relacional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g3734bfdd588_0_10"/>
          <p:cNvSpPr txBox="1"/>
          <p:nvPr/>
        </p:nvSpPr>
        <p:spPr>
          <a:xfrm>
            <a:off x="1151325" y="3809875"/>
            <a:ext cx="9644100" cy="3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Conjunto de tuplas (linhas)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tupla representa um registro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Linhas = registro (tuplas)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Colunas = atributos (campos)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Ordem das linhas e colunas não importa logicamente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734bfdd588_0_1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3775c5530a0_0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775c5530a0_0_9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Relacional, Chaves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g3775c5530a0_0_9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Exemplo em SQL: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g3775c5530a0_0_9"/>
          <p:cNvSpPr txBox="1"/>
          <p:nvPr/>
        </p:nvSpPr>
        <p:spPr>
          <a:xfrm>
            <a:off x="1151325" y="3809875"/>
            <a:ext cx="964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775c5530a0_0_9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g3775c5530a0_0_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5825" y="4188354"/>
            <a:ext cx="9644099" cy="35521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g3734bfdd588_0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3734bfdd588_0_19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g3734bfdd588_0_19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Chave Primária (PK)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g3734bfdd588_0_19"/>
          <p:cNvSpPr txBox="1"/>
          <p:nvPr/>
        </p:nvSpPr>
        <p:spPr>
          <a:xfrm>
            <a:off x="1151325" y="3809875"/>
            <a:ext cx="9644100" cy="22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Identifica unicamente cada linha da tabela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ser natural (ex: CPF) ou artificial (ex: id)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pode conter valores nulos ou repetidos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734bfdd588_0_19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g3734bfdd588_0_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72725" y="5416750"/>
            <a:ext cx="6746250" cy="250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3734bfdd588_0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734bfdd588_0_28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g3734bfdd588_0_28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Chave Estrangeira (FK)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g3734bfdd588_0_28"/>
          <p:cNvSpPr txBox="1"/>
          <p:nvPr/>
        </p:nvSpPr>
        <p:spPr>
          <a:xfrm>
            <a:off x="1151325" y="3809875"/>
            <a:ext cx="6695100" cy="3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Faz referência a uma PK em outra tabela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Estabelece vínculos entre tabelas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Garante integridade referencial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Usada para implementar relacionamentos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734bfdd588_0_28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g3734bfdd588_0_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71025" y="4560905"/>
            <a:ext cx="8675424" cy="308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g3775c5530a0_0_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775c5530a0_0_20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g3775c5530a0_0_20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Chave Candidata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g3775c5530a0_0_20"/>
          <p:cNvSpPr txBox="1"/>
          <p:nvPr/>
        </p:nvSpPr>
        <p:spPr>
          <a:xfrm>
            <a:off x="1151325" y="3809875"/>
            <a:ext cx="12399300" cy="30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Atributo que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poderia ser chave primária</a:t>
            </a:r>
            <a:b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em Cliente, tanto CPF quanto Email podem identificar unicamente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775c5530a0_0_2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3734bfdd588_0_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734bfdd588_0_37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g3734bfdd588_0_37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Exemplo prático com PK e FK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g3734bfdd588_0_37"/>
          <p:cNvSpPr txBox="1"/>
          <p:nvPr/>
        </p:nvSpPr>
        <p:spPr>
          <a:xfrm>
            <a:off x="1151325" y="3809875"/>
            <a:ext cx="9644100" cy="22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 </a:t>
            </a:r>
            <a: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 (id_cliente PK, nome)</a:t>
            </a:r>
            <a:endParaRPr b="0" i="0" sz="28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 </a:t>
            </a:r>
            <a: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pedido (id_pedido PK, id_cliente FK)</a:t>
            </a:r>
            <a:endParaRPr b="0" i="0" sz="28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pedido está vinculado a um cliente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734bfdd588_0_37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3775c5530a0_0_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775c5530a0_0_30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, Chaves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g3775c5530a0_0_30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Chave Alternativa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g3775c5530a0_0_30"/>
          <p:cNvSpPr txBox="1"/>
          <p:nvPr/>
        </p:nvSpPr>
        <p:spPr>
          <a:xfrm>
            <a:off x="1151325" y="3809875"/>
            <a:ext cx="96441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existem várias candidatas, a escolhida como PK é a principal, e as demais são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chaves alternativas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775c5530a0_0_3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g3775c5530a0_0_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775c5530a0_0_39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, Chaves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g3775c5530a0_0_39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Cardinalidade no Modelo Lógico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g3775c5530a0_0_39"/>
          <p:cNvSpPr txBox="1"/>
          <p:nvPr/>
        </p:nvSpPr>
        <p:spPr>
          <a:xfrm>
            <a:off x="1151325" y="3809875"/>
            <a:ext cx="9644100" cy="42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1:N → FK simples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N:M → tabela intermediária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Alunos x Disciplinas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775c5530a0_0_39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g3775c5530a0_0_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775c5530a0_0_48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g3775c5530a0_0_48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Normalização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g3775c5530a0_0_48"/>
          <p:cNvSpPr txBox="1"/>
          <p:nvPr/>
        </p:nvSpPr>
        <p:spPr>
          <a:xfrm>
            <a:off x="1151325" y="3809875"/>
            <a:ext cx="129894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A Normalização é um processo de arrumação e otimização o banco de dados.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O objetivo é eliminar a repetição desnecessária de dados (redundância) e garantir que a informação esteja sempre correta e consistente (integridade).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775c5530a0_0_48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g384e4918a81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84e4918a81_0_5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g384e4918a81_0_5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Normalização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g384e4918a81_0_5"/>
          <p:cNvSpPr txBox="1"/>
          <p:nvPr/>
        </p:nvSpPr>
        <p:spPr>
          <a:xfrm>
            <a:off x="1151325" y="3809875"/>
            <a:ext cx="15687600" cy="3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A Normalização é um processo de arrumação e otimização o banco de dados.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</a:rPr>
              <a:t>O objetivo é eliminar a repetição desnecessária de dados (redundância) e garantir que a informação esteja sempre correta e consistente (integridade).</a:t>
            </a:r>
            <a:endParaRPr sz="2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Para fazer isso, seguimos um conjunto de regras chamadas </a:t>
            </a:r>
            <a:r>
              <a:rPr b="1" lang="en-US" sz="2800">
                <a:solidFill>
                  <a:schemeClr val="dk1"/>
                </a:solidFill>
              </a:rPr>
              <a:t>Formas Normais (FNs)</a:t>
            </a:r>
            <a:r>
              <a:rPr lang="en-US" sz="2800">
                <a:solidFill>
                  <a:schemeClr val="dk1"/>
                </a:solidFill>
              </a:rPr>
              <a:t>. As mais usadas para organizar a base são a </a:t>
            </a:r>
            <a:r>
              <a:rPr b="1" lang="en-US" sz="2800">
                <a:solidFill>
                  <a:schemeClr val="dk1"/>
                </a:solidFill>
              </a:rPr>
              <a:t>1FN, 2FN e 3FN</a:t>
            </a:r>
            <a:r>
              <a:rPr lang="en-US" sz="2800">
                <a:solidFill>
                  <a:schemeClr val="dk1"/>
                </a:solidFill>
              </a:rPr>
              <a:t>. É um método para prevenir que surjam problemas quando você inserir, atualizar ou apagar informações.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05" name="Google Shape;205;g384e4918a81_0_5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g3734bfdd588_0_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734bfdd588_0_48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g3734bfdd588_0_48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 que é normalização?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g3734bfdd588_0_48"/>
          <p:cNvSpPr txBox="1"/>
          <p:nvPr/>
        </p:nvSpPr>
        <p:spPr>
          <a:xfrm>
            <a:off x="1151325" y="3809875"/>
            <a:ext cx="9644100" cy="58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Processo de organização dos dados para: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Eliminar redundâncias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Melhorar integridade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Reduzir anomalias de atualização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Etapas: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1FN → elimina grupos repetidos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2FN → remove dependência parcial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3FN → remove dependência transitiva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734bfdd588_0_48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g384e4918a81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84e4918a81_0_13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g384e4918a81_0_13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Normalização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g384e4918a81_0_13"/>
          <p:cNvSpPr txBox="1"/>
          <p:nvPr/>
        </p:nvSpPr>
        <p:spPr>
          <a:xfrm>
            <a:off x="1151325" y="3809875"/>
            <a:ext cx="12989400" cy="3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Primeira Forma Normal (1FN)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Regra: Cada coluna deve conter valores atómicos e indivisíveis. Não pode haver grupos de valores repetidos.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Problema Comum: Uma coluna telefones que guarda (91234-5678, 98765-4321).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Solução: Criar uma nova linha para cada telefone ou uma nova tabela.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23" name="Google Shape;223;g384e4918a81_0_1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g384e4918a81_0_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84e4918a81_0_39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g384e4918a81_0_39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Normalização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g384e4918a81_0_39"/>
          <p:cNvSpPr txBox="1"/>
          <p:nvPr/>
        </p:nvSpPr>
        <p:spPr>
          <a:xfrm>
            <a:off x="1151325" y="3809875"/>
            <a:ext cx="12989400" cy="12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Primeira Forma Normal (1FN)</a:t>
            </a:r>
            <a:endParaRPr b="1" sz="2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32" name="Google Shape;232;g384e4918a81_0_39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g384e4918a81_0_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0225" y="4661925"/>
            <a:ext cx="7816975" cy="2538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4" name="Google Shape;234;g384e4918a81_0_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50925" y="3304200"/>
            <a:ext cx="4681150" cy="2085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5" name="Google Shape;235;g384e4918a81_0_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16375" y="5641550"/>
            <a:ext cx="5150250" cy="2968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g384e4918a81_0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84e4918a81_0_23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g384e4918a81_0_23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Normalização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g384e4918a81_0_23"/>
          <p:cNvSpPr txBox="1"/>
          <p:nvPr/>
        </p:nvSpPr>
        <p:spPr>
          <a:xfrm>
            <a:off x="1151325" y="3809875"/>
            <a:ext cx="12989400" cy="4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Segunda Forma Normal (2FN)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</a:rPr>
              <a:t>Regra:</a:t>
            </a:r>
            <a:r>
              <a:rPr lang="en-US" sz="2800">
                <a:solidFill>
                  <a:schemeClr val="dk1"/>
                </a:solidFill>
              </a:rPr>
              <a:t> Uma tabela deve estar na 1FN, e todos os seus atributos não-chave devem depender da Chave Primária completa. Esta regra só se aplica a tabelas com chaves primárias compostas (formadas por mais de uma coluna).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</a:rPr>
              <a:t>Problema Comum:</a:t>
            </a:r>
            <a:r>
              <a:rPr lang="en-US" sz="2800">
                <a:solidFill>
                  <a:schemeClr val="dk1"/>
                </a:solidFill>
              </a:rPr>
              <a:t> Uma tabela pedidos_produtos tem uma chave composta (pedido_id, produto_id). O nome_do_produto só depende do produto_id e não do pedido_id completo.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</a:rPr>
              <a:t>Solução:</a:t>
            </a:r>
            <a:r>
              <a:rPr lang="en-US" sz="2800">
                <a:solidFill>
                  <a:schemeClr val="dk1"/>
                </a:solidFill>
              </a:rPr>
              <a:t> Mover a informação do produto para a sua própria tabela.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44" name="Google Shape;244;g384e4918a81_0_2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g384e4918a81_0_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84e4918a81_0_31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g384e4918a81_0_31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Normalização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g384e4918a81_0_31"/>
          <p:cNvSpPr txBox="1"/>
          <p:nvPr/>
        </p:nvSpPr>
        <p:spPr>
          <a:xfrm>
            <a:off x="1151325" y="3809875"/>
            <a:ext cx="12989400" cy="12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Segunda Forma Normal (2FN)</a:t>
            </a:r>
            <a:endParaRPr b="1" sz="2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53" name="Google Shape;253;g384e4918a81_0_31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g384e4918a81_0_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6213" y="4517375"/>
            <a:ext cx="9705375" cy="18495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5" name="Google Shape;255;g384e4918a81_0_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505075" y="4128575"/>
            <a:ext cx="5133438" cy="18495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6" name="Google Shape;256;g384e4918a81_0_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917875" y="6127850"/>
            <a:ext cx="6489550" cy="22105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g384e4918a81_0_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84e4918a81_0_53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g384e4918a81_0_53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Normalização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g384e4918a81_0_53"/>
          <p:cNvSpPr txBox="1"/>
          <p:nvPr/>
        </p:nvSpPr>
        <p:spPr>
          <a:xfrm>
            <a:off x="1151325" y="3809875"/>
            <a:ext cx="13554900" cy="4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Terceira Forma Normal (3FN)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</a:rPr>
              <a:t>Regra:</a:t>
            </a:r>
            <a:r>
              <a:rPr lang="en-US" sz="2800">
                <a:solidFill>
                  <a:schemeClr val="dk1"/>
                </a:solidFill>
              </a:rPr>
              <a:t> Uma tabela deve estar na 2FN, e nenhum atributo não-chave pode depender de outro atributo não-chave. Evitamos dependências transitivas.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</a:rPr>
              <a:t>Problema Comum:</a:t>
            </a:r>
            <a:r>
              <a:rPr lang="en-US" sz="2800">
                <a:solidFill>
                  <a:schemeClr val="dk1"/>
                </a:solidFill>
              </a:rPr>
              <a:t> Numa tabela </a:t>
            </a:r>
            <a:r>
              <a:rPr lang="en-US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funcionarios</a:t>
            </a:r>
            <a:r>
              <a:rPr lang="en-US" sz="2800">
                <a:solidFill>
                  <a:schemeClr val="dk1"/>
                </a:solidFill>
              </a:rPr>
              <a:t>, a coluna </a:t>
            </a:r>
            <a:r>
              <a:rPr lang="en-US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cidade</a:t>
            </a:r>
            <a:r>
              <a:rPr lang="en-US" sz="2800">
                <a:solidFill>
                  <a:schemeClr val="dk1"/>
                </a:solidFill>
              </a:rPr>
              <a:t> depende de </a:t>
            </a:r>
            <a:r>
              <a:rPr lang="en-US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CEP</a:t>
            </a:r>
            <a:r>
              <a:rPr lang="en-US" sz="2800">
                <a:solidFill>
                  <a:schemeClr val="dk1"/>
                </a:solidFill>
              </a:rPr>
              <a:t>, que não é a chave primária. Se o </a:t>
            </a:r>
            <a:r>
              <a:rPr lang="en-US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CEP</a:t>
            </a:r>
            <a:r>
              <a:rPr lang="en-US" sz="2800">
                <a:solidFill>
                  <a:schemeClr val="dk1"/>
                </a:solidFill>
              </a:rPr>
              <a:t> mudar, a </a:t>
            </a:r>
            <a:r>
              <a:rPr lang="en-US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cidade</a:t>
            </a:r>
            <a:r>
              <a:rPr lang="en-US" sz="2800">
                <a:solidFill>
                  <a:schemeClr val="dk1"/>
                </a:solidFill>
              </a:rPr>
              <a:t> tem que ser atualizada em vários registos.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</a:rPr>
              <a:t>Solução:</a:t>
            </a:r>
            <a:r>
              <a:rPr lang="en-US" sz="2800">
                <a:solidFill>
                  <a:schemeClr val="dk1"/>
                </a:solidFill>
              </a:rPr>
              <a:t> Criar uma nova tabela para </a:t>
            </a:r>
            <a:r>
              <a:rPr lang="en-US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CEPs</a:t>
            </a:r>
            <a:r>
              <a:rPr lang="en-US" sz="2800">
                <a:solidFill>
                  <a:schemeClr val="dk1"/>
                </a:solidFill>
              </a:rPr>
              <a:t> e </a:t>
            </a:r>
            <a:r>
              <a:rPr lang="en-US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Cidades</a:t>
            </a:r>
            <a:r>
              <a:rPr lang="en-US" sz="2800">
                <a:solidFill>
                  <a:schemeClr val="dk1"/>
                </a:solidFill>
              </a:rPr>
              <a:t> e usar uma Chave Estrangeira.</a:t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265" name="Google Shape;265;g384e4918a81_0_5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g384e4918a81_0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384e4918a81_0_62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g384e4918a81_0_62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Normalização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g384e4918a81_0_62"/>
          <p:cNvSpPr txBox="1"/>
          <p:nvPr/>
        </p:nvSpPr>
        <p:spPr>
          <a:xfrm>
            <a:off x="1151325" y="3809875"/>
            <a:ext cx="13554900" cy="12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Terceira Forma Normal (3FN)</a:t>
            </a:r>
            <a:endParaRPr b="1"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274" name="Google Shape;274;g384e4918a81_0_62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g384e4918a81_0_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1325" y="4879400"/>
            <a:ext cx="9612275" cy="1893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6" name="Google Shape;276;g384e4918a81_0_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63688" y="4415000"/>
            <a:ext cx="5944550" cy="1457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7" name="Google Shape;277;g384e4918a81_0_6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940050" y="6141925"/>
            <a:ext cx="4191824" cy="1265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g3775c5530a0_0_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g3775c5530a0_0_56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" name="Google Shape;284;g3775c5530a0_0_56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 ER para Tabelas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" name="Google Shape;285;g3775c5530a0_0_56"/>
          <p:cNvSpPr txBox="1"/>
          <p:nvPr/>
        </p:nvSpPr>
        <p:spPr>
          <a:xfrm>
            <a:off x="1151325" y="3809875"/>
            <a:ext cx="5780700" cy="12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ER →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Aluno (1) cursa (N) Curso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775c5530a0_0_56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g3775c5530a0_0_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54700" y="3675300"/>
            <a:ext cx="6515100" cy="47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g3734bfdd588_0_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734bfdd588_0_57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g3734bfdd588_0_57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Benefícios da normalização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g3734bfdd588_0_57"/>
          <p:cNvSpPr txBox="1"/>
          <p:nvPr/>
        </p:nvSpPr>
        <p:spPr>
          <a:xfrm>
            <a:off x="1151325" y="3809875"/>
            <a:ext cx="9644100" cy="27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Banco mais eficiente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Menor uso de espaço, reduz redundância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Facilidade de manutenção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Dados consistentes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734bfdd588_0_57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g37287c6a1d9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7287c6a1d9_0_3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g37287c6a1d9_0_3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Exemplo normalizado (após)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Tabelas:</a:t>
            </a:r>
            <a:endParaRPr b="0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g37287c6a1d9_0_3"/>
          <p:cNvSpPr txBox="1"/>
          <p:nvPr/>
        </p:nvSpPr>
        <p:spPr>
          <a:xfrm>
            <a:off x="1151325" y="3809875"/>
            <a:ext cx="9644100" cy="25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cliente(id_cliente, nome, email)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produto(id_produto, nome, valor)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pedido(id_pedido, id_cliente)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item_pedido(id_pedido, id_produto)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7287c6a1d9_0_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g3734bfdd588_0_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3734bfdd588_0_107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g3734bfdd588_0_107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Regras para criar o modelo lógico</a:t>
            </a:r>
            <a:endParaRPr b="0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" name="Google Shape;313;g3734bfdd588_0_107"/>
          <p:cNvSpPr txBox="1"/>
          <p:nvPr/>
        </p:nvSpPr>
        <p:spPr>
          <a:xfrm>
            <a:off x="1151325" y="3809875"/>
            <a:ext cx="9644100" cy="25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 claro para tabelas e colunas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Definir PKs e FKs desde o início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Tabelas de junção para N:N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Atributos normalizados (1 valor por campo)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734bfdd588_0_107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g3734bfdd588_0_1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3734bfdd588_0_116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g3734bfdd588_0_116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Regras para criar o modelo lógico</a:t>
            </a:r>
            <a:endParaRPr b="0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g3734bfdd588_0_116"/>
          <p:cNvSpPr txBox="1"/>
          <p:nvPr/>
        </p:nvSpPr>
        <p:spPr>
          <a:xfrm>
            <a:off x="1151325" y="3809875"/>
            <a:ext cx="9644100" cy="25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 claro para tabelas e colunas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Definir PKs e FKs desde o início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Tabelas de junção para N:N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Atributos normalizados (1 valor por campo)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734bfdd588_0_116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g3775c5530a0_0_1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3775c5530a0_0_180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g3775c5530a0_0_180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Resumo</a:t>
            </a:r>
            <a:endParaRPr b="0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g3775c5530a0_0_18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775c5530a0_0_180"/>
          <p:cNvSpPr txBox="1"/>
          <p:nvPr/>
        </p:nvSpPr>
        <p:spPr>
          <a:xfrm>
            <a:off x="1576250" y="3892725"/>
            <a:ext cx="12583800" cy="3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lógico relacional → traduz ER para tabelas</a:t>
            </a: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Chaves: primária, estrangeira, candidata, alternativa</a:t>
            </a: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Normalização até 3FN → elimina redundância e inconsistências</a:t>
            </a: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 de fixação aplicados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g384e4918a81_0_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384e4918a81_0_74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g384e4918a81_0_74"/>
          <p:cNvSpPr txBox="1"/>
          <p:nvPr/>
        </p:nvSpPr>
        <p:spPr>
          <a:xfrm>
            <a:off x="1151325" y="3028800"/>
            <a:ext cx="14838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Atividade 1 - Primeira Forma Normal (1FN) - Valores Atómicos</a:t>
            </a:r>
            <a:endParaRPr b="0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g384e4918a81_0_74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84e4918a81_0_74"/>
          <p:cNvSpPr txBox="1"/>
          <p:nvPr/>
        </p:nvSpPr>
        <p:spPr>
          <a:xfrm>
            <a:off x="1576250" y="3892725"/>
            <a:ext cx="125838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A tabela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Clientes_Endereços</a:t>
            </a:r>
            <a:r>
              <a:rPr lang="en-US" sz="2000">
                <a:solidFill>
                  <a:schemeClr val="dk1"/>
                </a:solidFill>
              </a:rPr>
              <a:t> permite que a coluna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Emails_Contato</a:t>
            </a:r>
            <a:r>
              <a:rPr lang="en-US" sz="2000">
                <a:solidFill>
                  <a:schemeClr val="dk1"/>
                </a:solidFill>
              </a:rPr>
              <a:t> armazene múltiplos valores (vários e-mails) separados por vírgula.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2" name="Google Shape;342;g384e4918a81_0_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3900" y="4706325"/>
            <a:ext cx="9194100" cy="269616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3" name="Google Shape;343;g384e4918a81_0_74"/>
          <p:cNvSpPr txBox="1"/>
          <p:nvPr/>
        </p:nvSpPr>
        <p:spPr>
          <a:xfrm>
            <a:off x="1576250" y="7764200"/>
            <a:ext cx="12879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Objetivo:</a:t>
            </a:r>
            <a:r>
              <a:rPr lang="en-US" sz="2000">
                <a:solidFill>
                  <a:schemeClr val="dk1"/>
                </a:solidFill>
              </a:rPr>
              <a:t> Normalize esta tabela para a </a:t>
            </a:r>
            <a:r>
              <a:rPr b="1" lang="en-US" sz="2000">
                <a:solidFill>
                  <a:schemeClr val="dk1"/>
                </a:solidFill>
              </a:rPr>
              <a:t>Primeira Forma Normal (1FN)</a:t>
            </a:r>
            <a:r>
              <a:rPr lang="en-US" sz="2000">
                <a:solidFill>
                  <a:schemeClr val="dk1"/>
                </a:solidFill>
              </a:rPr>
              <a:t>. Mostre como a nova estrutura (duas tabelas) deve ser para que cada e-mail fique em um registro separado.</a:t>
            </a:r>
            <a:endParaRPr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g384e4918a81_0_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g384e4918a81_0_91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g384e4918a81_0_91"/>
          <p:cNvSpPr txBox="1"/>
          <p:nvPr/>
        </p:nvSpPr>
        <p:spPr>
          <a:xfrm>
            <a:off x="1151325" y="3028800"/>
            <a:ext cx="14838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Exercício 2: Segunda Forma Normal (2FN) - Dependência Parcial</a:t>
            </a:r>
            <a:endParaRPr b="0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g384e4918a81_0_91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84e4918a81_0_91"/>
          <p:cNvSpPr txBox="1"/>
          <p:nvPr/>
        </p:nvSpPr>
        <p:spPr>
          <a:xfrm>
            <a:off x="1576250" y="3892725"/>
            <a:ext cx="125838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A tabela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Detalhes_Venda</a:t>
            </a:r>
            <a:r>
              <a:rPr lang="en-US" sz="2000">
                <a:solidFill>
                  <a:schemeClr val="dk1"/>
                </a:solidFill>
              </a:rPr>
              <a:t> usa uma chave primária composta: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(ID_Venda, ID_Produto)</a:t>
            </a:r>
            <a:r>
              <a:rPr lang="en-US" sz="2000">
                <a:solidFill>
                  <a:schemeClr val="dk1"/>
                </a:solidFill>
              </a:rPr>
              <a:t>. O problema é que o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Nome_Produto</a:t>
            </a:r>
            <a:r>
              <a:rPr lang="en-US" sz="2000">
                <a:solidFill>
                  <a:schemeClr val="dk1"/>
                </a:solidFill>
              </a:rPr>
              <a:t> e o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Preço_Unitário</a:t>
            </a:r>
            <a:r>
              <a:rPr lang="en-US" sz="2000">
                <a:solidFill>
                  <a:schemeClr val="dk1"/>
                </a:solidFill>
              </a:rPr>
              <a:t> só dependem do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ID_Produto</a:t>
            </a:r>
            <a:r>
              <a:rPr lang="en-US" sz="2000">
                <a:solidFill>
                  <a:schemeClr val="dk1"/>
                </a:solidFill>
              </a:rPr>
              <a:t> (parte da chave), não da chave completa.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84e4918a81_0_91"/>
          <p:cNvSpPr txBox="1"/>
          <p:nvPr/>
        </p:nvSpPr>
        <p:spPr>
          <a:xfrm>
            <a:off x="1576250" y="7764200"/>
            <a:ext cx="128793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Objetivo:</a:t>
            </a:r>
            <a:r>
              <a:rPr lang="en-US" sz="2000">
                <a:solidFill>
                  <a:schemeClr val="dk1"/>
                </a:solidFill>
              </a:rPr>
              <a:t> Divida a tabela em duas para que todos os atributos não-chave dependam da </a:t>
            </a:r>
            <a:r>
              <a:rPr b="1" lang="en-US" sz="2000">
                <a:solidFill>
                  <a:schemeClr val="dk1"/>
                </a:solidFill>
              </a:rPr>
              <a:t>chave primária completa</a:t>
            </a:r>
            <a:r>
              <a:rPr lang="en-US" sz="2000">
                <a:solidFill>
                  <a:schemeClr val="dk1"/>
                </a:solidFill>
              </a:rPr>
              <a:t>, atingindo a </a:t>
            </a:r>
            <a:r>
              <a:rPr b="1" lang="en-US" sz="2000">
                <a:solidFill>
                  <a:schemeClr val="dk1"/>
                </a:solidFill>
              </a:rPr>
              <a:t>Segunda Forma Normal (2FN)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354" name="Google Shape;354;g384e4918a81_0_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2388" y="4923750"/>
            <a:ext cx="8435875" cy="22182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g384e4918a81_0_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84e4918a81_0_106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g384e4918a81_0_106"/>
          <p:cNvSpPr txBox="1"/>
          <p:nvPr/>
        </p:nvSpPr>
        <p:spPr>
          <a:xfrm>
            <a:off x="1151325" y="3028800"/>
            <a:ext cx="14838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Exercício 3: Terceira Forma Normal (3FN) - Dependência Transitiva</a:t>
            </a:r>
            <a:endParaRPr b="0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g384e4918a81_0_106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84e4918a81_0_106"/>
          <p:cNvSpPr txBox="1"/>
          <p:nvPr/>
        </p:nvSpPr>
        <p:spPr>
          <a:xfrm>
            <a:off x="1576250" y="3892725"/>
            <a:ext cx="125838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A tabela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Cursos_Instrutores</a:t>
            </a:r>
            <a:r>
              <a:rPr lang="en-US" sz="2000">
                <a:solidFill>
                  <a:schemeClr val="dk1"/>
                </a:solidFill>
              </a:rPr>
              <a:t> tem uma dependência transitiva: a coluna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Nome_Instrutor</a:t>
            </a:r>
            <a:r>
              <a:rPr lang="en-US" sz="2000">
                <a:solidFill>
                  <a:schemeClr val="dk1"/>
                </a:solidFill>
              </a:rPr>
              <a:t> depende da coluna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ID_Instrutor</a:t>
            </a:r>
            <a:r>
              <a:rPr lang="en-US" sz="2000">
                <a:solidFill>
                  <a:schemeClr val="dk1"/>
                </a:solidFill>
              </a:rPr>
              <a:t>, que não é a chave primária da tabela.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84e4918a81_0_106"/>
          <p:cNvSpPr txBox="1"/>
          <p:nvPr/>
        </p:nvSpPr>
        <p:spPr>
          <a:xfrm>
            <a:off x="1576250" y="7764200"/>
            <a:ext cx="12879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Objetivo:</a:t>
            </a:r>
            <a:r>
              <a:rPr lang="en-US" sz="2000">
                <a:solidFill>
                  <a:schemeClr val="dk1"/>
                </a:solidFill>
              </a:rPr>
              <a:t> Identifique a dependência transitiva e separe-a em duas tabelas para atingir a </a:t>
            </a:r>
            <a:r>
              <a:rPr b="1" lang="en-US" sz="2000">
                <a:solidFill>
                  <a:schemeClr val="dk1"/>
                </a:solidFill>
              </a:rPr>
              <a:t>Terceira Forma Normal (3FN)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365" name="Google Shape;365;g384e4918a81_0_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4525" y="4923750"/>
            <a:ext cx="6935943" cy="2562088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g384e4918a81_0_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384e4918a81_0_120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2" name="Google Shape;372;g384e4918a81_0_120"/>
          <p:cNvSpPr txBox="1"/>
          <p:nvPr/>
        </p:nvSpPr>
        <p:spPr>
          <a:xfrm>
            <a:off x="1151325" y="3028800"/>
            <a:ext cx="14838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Exercício 4: Combinado (1FN e 3FN)</a:t>
            </a:r>
            <a:endParaRPr b="0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g384e4918a81_0_12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84e4918a81_0_120"/>
          <p:cNvSpPr txBox="1"/>
          <p:nvPr/>
        </p:nvSpPr>
        <p:spPr>
          <a:xfrm>
            <a:off x="1576250" y="3892725"/>
            <a:ext cx="125838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A tabela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Pedidos_Clientes</a:t>
            </a:r>
            <a:r>
              <a:rPr lang="en-US" sz="2000">
                <a:solidFill>
                  <a:schemeClr val="dk1"/>
                </a:solidFill>
              </a:rPr>
              <a:t> tem dois problemas: a coluna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Telefones_Cliente</a:t>
            </a:r>
            <a:r>
              <a:rPr lang="en-US" sz="2000">
                <a:solidFill>
                  <a:schemeClr val="dk1"/>
                </a:solidFill>
              </a:rPr>
              <a:t> tem múltiplos valores (viola 1FN) e a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Nome_Cidade</a:t>
            </a:r>
            <a:r>
              <a:rPr lang="en-US" sz="2000">
                <a:solidFill>
                  <a:schemeClr val="dk1"/>
                </a:solidFill>
              </a:rPr>
              <a:t> depende do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ID_Cidade</a:t>
            </a:r>
            <a:r>
              <a:rPr lang="en-US" sz="2000">
                <a:solidFill>
                  <a:schemeClr val="dk1"/>
                </a:solidFill>
              </a:rPr>
              <a:t> (viola 3FN).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84e4918a81_0_120"/>
          <p:cNvSpPr txBox="1"/>
          <p:nvPr/>
        </p:nvSpPr>
        <p:spPr>
          <a:xfrm>
            <a:off x="1576250" y="7764200"/>
            <a:ext cx="12879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Objetivo:</a:t>
            </a:r>
            <a:r>
              <a:rPr lang="en-US" sz="2000">
                <a:solidFill>
                  <a:schemeClr val="dk1"/>
                </a:solidFill>
              </a:rPr>
              <a:t> Normalize esta estrutura em </a:t>
            </a:r>
            <a:r>
              <a:rPr b="1" lang="en-US" sz="2000">
                <a:solidFill>
                  <a:schemeClr val="dk1"/>
                </a:solidFill>
              </a:rPr>
              <a:t>três ou mais tabelas</a:t>
            </a:r>
            <a:r>
              <a:rPr lang="en-US" sz="2000">
                <a:solidFill>
                  <a:schemeClr val="dk1"/>
                </a:solidFill>
              </a:rPr>
              <a:t> para que todas as informações estejam na </a:t>
            </a:r>
            <a:r>
              <a:rPr b="1" lang="en-US" sz="2000">
                <a:solidFill>
                  <a:schemeClr val="dk1"/>
                </a:solidFill>
              </a:rPr>
              <a:t>Terceira Forma Normal (3FN)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376" name="Google Shape;376;g384e4918a81_0_1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1325" y="4872825"/>
            <a:ext cx="10549159" cy="27248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g384e4918a81_0_1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384e4918a81_0_134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g384e4918a81_0_134"/>
          <p:cNvSpPr txBox="1"/>
          <p:nvPr/>
        </p:nvSpPr>
        <p:spPr>
          <a:xfrm>
            <a:off x="1151325" y="3028800"/>
            <a:ext cx="14838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Exercício 5</a:t>
            </a:r>
            <a:endParaRPr b="0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4" name="Google Shape;384;g384e4918a81_0_134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84e4918a81_0_134"/>
          <p:cNvSpPr txBox="1"/>
          <p:nvPr/>
        </p:nvSpPr>
        <p:spPr>
          <a:xfrm>
            <a:off x="1576250" y="3892725"/>
            <a:ext cx="125838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Pense em um sistema para gerenciar Reservas de Estacionamento em um prédio comercial.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84e4918a81_0_134"/>
          <p:cNvSpPr txBox="1"/>
          <p:nvPr/>
        </p:nvSpPr>
        <p:spPr>
          <a:xfrm>
            <a:off x="1428500" y="4706325"/>
            <a:ext cx="128793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Objetivo: Antes de normalizar, liste e descreva: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Entidades Principais</a:t>
            </a:r>
            <a:r>
              <a:rPr lang="en-US" sz="2000">
                <a:solidFill>
                  <a:schemeClr val="dk1"/>
                </a:solidFill>
              </a:rPr>
              <a:t> (e suas respectivas Chaves Primárias).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Relacionamentos </a:t>
            </a:r>
            <a:r>
              <a:rPr lang="en-US" sz="2000">
                <a:solidFill>
                  <a:schemeClr val="dk1"/>
                </a:solidFill>
              </a:rPr>
              <a:t>entre estas entidades (com o "verbo" do relacionamento).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Cardinalidade</a:t>
            </a:r>
            <a:r>
              <a:rPr lang="en-US" sz="2000">
                <a:solidFill>
                  <a:schemeClr val="dk1"/>
                </a:solidFill>
              </a:rPr>
              <a:t> de cada relacionamento (1:1, 1:N ou N:N).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g371f89f91c1_0_1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g371f89f91c1_0_185"/>
          <p:cNvSpPr txBox="1"/>
          <p:nvPr/>
        </p:nvSpPr>
        <p:spPr>
          <a:xfrm>
            <a:off x="2870800" y="4343100"/>
            <a:ext cx="11767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Alguma dúvida ?</a:t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prof.adrielly.sayonara@gmail.com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3" name="Google Shape;393;g371f89f91c1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371f89f91c1_0_185"/>
          <p:cNvSpPr txBox="1"/>
          <p:nvPr/>
        </p:nvSpPr>
        <p:spPr>
          <a:xfrm>
            <a:off x="2086950" y="1276525"/>
            <a:ext cx="7721700" cy="21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Isaias Dias</dc:creator>
</cp:coreProperties>
</file>