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g8Ham5r1C62mUtPuEEUlxkBmDU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RobotoMono-bold.fntdata"/><Relationship Id="rId21" Type="http://schemas.openxmlformats.org/officeDocument/2006/relationships/font" Target="fonts/RobotoMono-regular.fntdata"/><Relationship Id="rId24" Type="http://schemas.openxmlformats.org/officeDocument/2006/relationships/font" Target="fonts/RobotoMono-boldItalic.fntdata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1f89f91c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71f89f91c1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ea5759655_5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g37ea5759655_5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a5759655_5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7ea5759655_5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ea5759655_5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7ea5759655_5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38140537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838140537c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ea5759655_5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7ea5759655_5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ea5759655_5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7ea5759655_5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ea5759655_5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7ea5759655_5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1f89f91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71f89f91c1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239250" y="254175"/>
            <a:ext cx="178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Back-end em python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49075" y="7942375"/>
            <a:ext cx="7489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Profª. Ma. Adrielly Sayonara</a:t>
            </a:r>
            <a:endParaRPr b="1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371f89f91c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71f89f91c1_0_95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16 - Engenharia de Software: Revisão + UML (Classes, Atividades)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71f89f91c1_0_95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da Aula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g371f89f91c1_0_95"/>
          <p:cNvSpPr txBox="1"/>
          <p:nvPr/>
        </p:nvSpPr>
        <p:spPr>
          <a:xfrm>
            <a:off x="1151325" y="3809875"/>
            <a:ext cx="9644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Relembrar conceitos básicos de Engenharia de Software.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Entender a importância da </a:t>
            </a:r>
            <a:r>
              <a:rPr b="1" lang="en-US" sz="2000">
                <a:solidFill>
                  <a:schemeClr val="dk1"/>
                </a:solidFill>
              </a:rPr>
              <a:t>modelagem antes da implementação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Introduzir </a:t>
            </a:r>
            <a:r>
              <a:rPr b="1" lang="en-US" sz="2000">
                <a:solidFill>
                  <a:schemeClr val="dk1"/>
                </a:solidFill>
              </a:rPr>
              <a:t>UML (Unified Modeling Language)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Trabalhar com </a:t>
            </a:r>
            <a:r>
              <a:rPr b="1" lang="en-US" sz="2000">
                <a:solidFill>
                  <a:schemeClr val="dk1"/>
                </a:solidFill>
              </a:rPr>
              <a:t>diagrama de classes</a:t>
            </a:r>
            <a:r>
              <a:rPr lang="en-US" sz="2000">
                <a:solidFill>
                  <a:schemeClr val="dk1"/>
                </a:solidFill>
              </a:rPr>
              <a:t> e </a:t>
            </a:r>
            <a:r>
              <a:rPr b="1" lang="en-US" sz="2000">
                <a:solidFill>
                  <a:schemeClr val="dk1"/>
                </a:solidFill>
              </a:rPr>
              <a:t>diagrama de atividades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Praticar: modelar um </a:t>
            </a:r>
            <a:r>
              <a:rPr b="1" lang="en-US" sz="2000">
                <a:solidFill>
                  <a:schemeClr val="dk1"/>
                </a:solidFill>
              </a:rPr>
              <a:t>sistema OO</a:t>
            </a:r>
            <a:r>
              <a:rPr lang="en-US" sz="2000">
                <a:solidFill>
                  <a:schemeClr val="dk1"/>
                </a:solidFill>
              </a:rPr>
              <a:t> em UML e implementar em Python.</a:t>
            </a: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95" name="Google Shape;95;g371f89f91c1_0_95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37ea5759655_5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7ea5759655_5_2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16 - Engenharia de Software: Revisão + UML (Classes, Atividades)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7ea5759655_5_2"/>
          <p:cNvSpPr txBox="1"/>
          <p:nvPr/>
        </p:nvSpPr>
        <p:spPr>
          <a:xfrm>
            <a:off x="1151325" y="3028800"/>
            <a:ext cx="729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Revisão de Engenharia de Software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g37ea5759655_5_2"/>
          <p:cNvSpPr txBox="1"/>
          <p:nvPr/>
        </p:nvSpPr>
        <p:spPr>
          <a:xfrm>
            <a:off x="1151325" y="3809875"/>
            <a:ext cx="96441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Engenharia de Software = disciplina que </a:t>
            </a:r>
            <a:r>
              <a:rPr b="1" lang="en-US" sz="2000">
                <a:solidFill>
                  <a:schemeClr val="dk1"/>
                </a:solidFill>
              </a:rPr>
              <a:t>organiza o desenvolvimento de sistemas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Problema comum: sem planejamento → sistemas ficam confusos, difíceis de manter.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Solução: </a:t>
            </a:r>
            <a:r>
              <a:rPr b="1" lang="en-US" sz="2000">
                <a:solidFill>
                  <a:schemeClr val="dk1"/>
                </a:solidFill>
              </a:rPr>
              <a:t>requisitos + modelagem + implementação + testes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📌 </a:t>
            </a:r>
            <a:r>
              <a:rPr b="1" lang="en-US" sz="2000">
                <a:solidFill>
                  <a:schemeClr val="dk1"/>
                </a:solidFill>
              </a:rPr>
              <a:t>Analogia</a:t>
            </a:r>
            <a:r>
              <a:rPr lang="en-US" sz="2000">
                <a:solidFill>
                  <a:schemeClr val="dk1"/>
                </a:solidFill>
              </a:rPr>
              <a:t>: Construir um prédio → precisa de planta antes de levantar paredes.</a:t>
            </a: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04" name="Google Shape;104;g37ea5759655_5_2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37ea5759655_5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7ea5759655_5_12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16 - Engenharia de Software: Revisão + UML (Classes, Atividades)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7ea5759655_5_12"/>
          <p:cNvSpPr txBox="1"/>
          <p:nvPr/>
        </p:nvSpPr>
        <p:spPr>
          <a:xfrm>
            <a:off x="1151325" y="3028800"/>
            <a:ext cx="729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O que é UML?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g37ea5759655_5_12"/>
          <p:cNvSpPr txBox="1"/>
          <p:nvPr/>
        </p:nvSpPr>
        <p:spPr>
          <a:xfrm>
            <a:off x="1151325" y="3809875"/>
            <a:ext cx="9644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UML = </a:t>
            </a:r>
            <a:r>
              <a:rPr b="1" lang="en-US" sz="2000">
                <a:solidFill>
                  <a:schemeClr val="dk1"/>
                </a:solidFill>
              </a:rPr>
              <a:t>linguagem visual</a:t>
            </a:r>
            <a:r>
              <a:rPr lang="en-US" sz="2000">
                <a:solidFill>
                  <a:schemeClr val="dk1"/>
                </a:solidFill>
              </a:rPr>
              <a:t> para modelar sistemas de software.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Ajuda a representar </a:t>
            </a:r>
            <a:r>
              <a:rPr b="1" lang="en-US" sz="2000">
                <a:solidFill>
                  <a:schemeClr val="dk1"/>
                </a:solidFill>
              </a:rPr>
              <a:t>classes, relacionamentos, processos e interações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Usada por </a:t>
            </a:r>
            <a:r>
              <a:rPr b="1" lang="en-US" sz="2000">
                <a:solidFill>
                  <a:schemeClr val="dk1"/>
                </a:solidFill>
              </a:rPr>
              <a:t>analistas, arquitetos, desenvolvedores e testadores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13" name="Google Shape;113;g37ea5759655_5_12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7ea5759655_5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7ea5759655_5_23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16 - Engenharia de Software: Revisão + UML (Classes, Atividades)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7ea5759655_5_23"/>
          <p:cNvSpPr txBox="1"/>
          <p:nvPr/>
        </p:nvSpPr>
        <p:spPr>
          <a:xfrm>
            <a:off x="1151325" y="3028800"/>
            <a:ext cx="729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Diagrama de Classes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g37ea5759655_5_23"/>
          <p:cNvSpPr txBox="1"/>
          <p:nvPr/>
        </p:nvSpPr>
        <p:spPr>
          <a:xfrm>
            <a:off x="1151325" y="3809875"/>
            <a:ext cx="96441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Mostra as </a:t>
            </a:r>
            <a:r>
              <a:rPr b="1" lang="en-US" sz="2000">
                <a:solidFill>
                  <a:schemeClr val="dk1"/>
                </a:solidFill>
              </a:rPr>
              <a:t>classes, atributos, métodos e relações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Elementos principais: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Compartimento 1 (Superior):</a:t>
            </a:r>
            <a:r>
              <a:rPr lang="en-US" sz="2000">
                <a:solidFill>
                  <a:schemeClr val="dk1"/>
                </a:solidFill>
              </a:rPr>
              <a:t> Nome da Classe (ex: </a:t>
            </a:r>
            <a:r>
              <a:rPr lang="en-US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Cliente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Produto</a:t>
            </a:r>
            <a:r>
              <a:rPr lang="en-US" sz="2000">
                <a:solidFill>
                  <a:schemeClr val="dk1"/>
                </a:solidFill>
              </a:rPr>
              <a:t>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Compartimento 2 (Meio):</a:t>
            </a:r>
            <a:r>
              <a:rPr lang="en-US" sz="2000">
                <a:solidFill>
                  <a:schemeClr val="dk1"/>
                </a:solidFill>
              </a:rPr>
              <a:t> Atributos da Classe. São as "características" ou dados que a classe armazena (ex: </a:t>
            </a:r>
            <a:r>
              <a:rPr lang="en-US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-nome: String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+preco: Double</a:t>
            </a:r>
            <a:r>
              <a:rPr lang="en-US" sz="2000">
                <a:solidFill>
                  <a:schemeClr val="dk1"/>
                </a:solidFill>
              </a:rPr>
              <a:t>). Sinais de visibilidade (</a:t>
            </a:r>
            <a:r>
              <a:rPr lang="en-US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US" sz="2000">
                <a:solidFill>
                  <a:schemeClr val="dk1"/>
                </a:solidFill>
              </a:rPr>
              <a:t> para público, </a:t>
            </a:r>
            <a:r>
              <a:rPr lang="en-US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US" sz="2000">
                <a:solidFill>
                  <a:schemeClr val="dk1"/>
                </a:solidFill>
              </a:rPr>
              <a:t> para privado) são usados aqui.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Compartimento 3 (Inferior):</a:t>
            </a:r>
            <a:r>
              <a:rPr lang="en-US" sz="2000">
                <a:solidFill>
                  <a:schemeClr val="dk1"/>
                </a:solidFill>
              </a:rPr>
              <a:t> Métodos ou Operações. São as "ações" ou o comportamento que a classe pode realizar (ex: </a:t>
            </a:r>
            <a:r>
              <a:rPr lang="en-US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+comprar()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-calcularDescont</a:t>
            </a:r>
            <a:endParaRPr b="1"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22" name="Google Shape;122;g37ea5759655_5_2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838140537c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838140537c_0_1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16 - Engenharia de Software: Revisão + UML (Classes, Atividades)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838140537c_0_1"/>
          <p:cNvSpPr txBox="1"/>
          <p:nvPr/>
        </p:nvSpPr>
        <p:spPr>
          <a:xfrm>
            <a:off x="1151325" y="3028800"/>
            <a:ext cx="729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Diagrama de Classes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g3838140537c_0_1"/>
          <p:cNvSpPr txBox="1"/>
          <p:nvPr/>
        </p:nvSpPr>
        <p:spPr>
          <a:xfrm>
            <a:off x="1151325" y="3809875"/>
            <a:ext cx="15355800" cy="49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Relacionamentos entre Classes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As classes não vivem isoladas; elas interagem. As principais relações são: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Associação:</a:t>
            </a:r>
            <a:r>
              <a:rPr lang="en-US" sz="2000">
                <a:solidFill>
                  <a:schemeClr val="dk1"/>
                </a:solidFill>
              </a:rPr>
              <a:t> Uma conexão genérica entre classes.</a:t>
            </a:r>
            <a:r>
              <a:rPr b="1" lang="en-US" sz="2000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rgbClr val="7EB61F"/>
                </a:solidFill>
              </a:rPr>
              <a:t>Representada por uma linha simples. Ex: Um </a:t>
            </a:r>
            <a:r>
              <a:rPr b="1" lang="en-US" sz="2000">
                <a:solidFill>
                  <a:srgbClr val="7EB61F"/>
                </a:solidFill>
                <a:latin typeface="Roboto Mono"/>
                <a:ea typeface="Roboto Mono"/>
                <a:cs typeface="Roboto Mono"/>
                <a:sym typeface="Roboto Mono"/>
              </a:rPr>
              <a:t>Cliente</a:t>
            </a:r>
            <a:r>
              <a:rPr b="1" lang="en-US" sz="2000">
                <a:solidFill>
                  <a:srgbClr val="7EB61F"/>
                </a:solidFill>
              </a:rPr>
              <a:t> está associado a uma </a:t>
            </a:r>
            <a:r>
              <a:rPr b="1" lang="en-US" sz="2000">
                <a:solidFill>
                  <a:srgbClr val="7EB61F"/>
                </a:solidFill>
                <a:latin typeface="Roboto Mono"/>
                <a:ea typeface="Roboto Mono"/>
                <a:cs typeface="Roboto Mono"/>
                <a:sym typeface="Roboto Mono"/>
              </a:rPr>
              <a:t>Compra</a:t>
            </a:r>
            <a:r>
              <a:rPr b="1" lang="en-US" sz="2000">
                <a:solidFill>
                  <a:srgbClr val="7EB61F"/>
                </a:solidFill>
              </a:rPr>
              <a:t>.</a:t>
            </a:r>
            <a:endParaRPr b="1" sz="2000">
              <a:solidFill>
                <a:srgbClr val="7EB61F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Agregação:</a:t>
            </a:r>
            <a:r>
              <a:rPr lang="en-US" sz="2000">
                <a:solidFill>
                  <a:schemeClr val="dk1"/>
                </a:solidFill>
              </a:rPr>
              <a:t> Uma forma de associação que representa uma relação "todo-parte", mas onde a parte pode existir independentemente do todo. </a:t>
            </a:r>
            <a:r>
              <a:rPr b="1" lang="en-US" sz="2000">
                <a:solidFill>
                  <a:srgbClr val="7EB61F"/>
                </a:solidFill>
              </a:rPr>
              <a:t>Representada por uma linha com um losango vazio. Ex: Um </a:t>
            </a:r>
            <a:r>
              <a:rPr b="1" lang="en-US" sz="2000">
                <a:solidFill>
                  <a:srgbClr val="7EB61F"/>
                </a:solidFill>
                <a:latin typeface="Roboto Mono"/>
                <a:ea typeface="Roboto Mono"/>
                <a:cs typeface="Roboto Mono"/>
                <a:sym typeface="Roboto Mono"/>
              </a:rPr>
              <a:t>Time</a:t>
            </a:r>
            <a:r>
              <a:rPr b="1" lang="en-US" sz="2000">
                <a:solidFill>
                  <a:srgbClr val="7EB61F"/>
                </a:solidFill>
              </a:rPr>
              <a:t> tem </a:t>
            </a:r>
            <a:r>
              <a:rPr b="1" lang="en-US" sz="2000">
                <a:solidFill>
                  <a:srgbClr val="7EB61F"/>
                </a:solidFill>
                <a:latin typeface="Roboto Mono"/>
                <a:ea typeface="Roboto Mono"/>
                <a:cs typeface="Roboto Mono"/>
                <a:sym typeface="Roboto Mono"/>
              </a:rPr>
              <a:t>Jogadores</a:t>
            </a:r>
            <a:r>
              <a:rPr b="1" lang="en-US" sz="2000">
                <a:solidFill>
                  <a:srgbClr val="7EB61F"/>
                </a:solidFill>
              </a:rPr>
              <a:t>. Os jogadores podem existir sem o time.</a:t>
            </a:r>
            <a:endParaRPr b="1" sz="2000">
              <a:solidFill>
                <a:srgbClr val="7EB61F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Composição:</a:t>
            </a:r>
            <a:r>
              <a:rPr lang="en-US" sz="2000">
                <a:solidFill>
                  <a:schemeClr val="dk1"/>
                </a:solidFill>
              </a:rPr>
              <a:t> Uma forma mais forte de agregação. A parte não pode existir sem o todo. </a:t>
            </a:r>
            <a:r>
              <a:rPr b="1" lang="en-US" sz="2000">
                <a:solidFill>
                  <a:srgbClr val="7EB61F"/>
                </a:solidFill>
              </a:rPr>
              <a:t>Representada por uma linha com um losango preenchido. Ex: Um </a:t>
            </a:r>
            <a:r>
              <a:rPr b="1" lang="en-US" sz="2000">
                <a:solidFill>
                  <a:srgbClr val="7EB61F"/>
                </a:solidFill>
                <a:latin typeface="Roboto Mono"/>
                <a:ea typeface="Roboto Mono"/>
                <a:cs typeface="Roboto Mono"/>
                <a:sym typeface="Roboto Mono"/>
              </a:rPr>
              <a:t>Pedido</a:t>
            </a:r>
            <a:r>
              <a:rPr b="1" lang="en-US" sz="2000">
                <a:solidFill>
                  <a:srgbClr val="7EB61F"/>
                </a:solidFill>
              </a:rPr>
              <a:t> é composto por </a:t>
            </a:r>
            <a:r>
              <a:rPr b="1" lang="en-US" sz="2000">
                <a:solidFill>
                  <a:srgbClr val="7EB61F"/>
                </a:solidFill>
                <a:latin typeface="Roboto Mono"/>
                <a:ea typeface="Roboto Mono"/>
                <a:cs typeface="Roboto Mono"/>
                <a:sym typeface="Roboto Mono"/>
              </a:rPr>
              <a:t>ItensPedido</a:t>
            </a:r>
            <a:r>
              <a:rPr b="1" lang="en-US" sz="2000">
                <a:solidFill>
                  <a:srgbClr val="7EB61F"/>
                </a:solidFill>
              </a:rPr>
              <a:t>. Se o pedido é excluído, os itens também são.</a:t>
            </a:r>
            <a:endParaRPr b="1" sz="2000">
              <a:solidFill>
                <a:srgbClr val="7EB61F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Herança (Generalização/Especialização):</a:t>
            </a:r>
            <a:r>
              <a:rPr lang="en-US" sz="2000">
                <a:solidFill>
                  <a:schemeClr val="dk1"/>
                </a:solidFill>
              </a:rPr>
              <a:t> Uma classe "filha" herda os atributos e métodos de uma classe "mãe". </a:t>
            </a:r>
            <a:r>
              <a:rPr b="1" lang="en-US" sz="2000">
                <a:solidFill>
                  <a:srgbClr val="7EB61F"/>
                </a:solidFill>
              </a:rPr>
              <a:t>Representada por uma linha com um triângulo. Ex: </a:t>
            </a:r>
            <a:r>
              <a:rPr b="1" lang="en-US" sz="2000">
                <a:solidFill>
                  <a:srgbClr val="7EB61F"/>
                </a:solidFill>
                <a:latin typeface="Roboto Mono"/>
                <a:ea typeface="Roboto Mono"/>
                <a:cs typeface="Roboto Mono"/>
                <a:sym typeface="Roboto Mono"/>
              </a:rPr>
              <a:t>Carro</a:t>
            </a:r>
            <a:r>
              <a:rPr b="1" lang="en-US" sz="2000">
                <a:solidFill>
                  <a:srgbClr val="7EB61F"/>
                </a:solidFill>
              </a:rPr>
              <a:t> e </a:t>
            </a:r>
            <a:r>
              <a:rPr b="1" lang="en-US" sz="2000">
                <a:solidFill>
                  <a:srgbClr val="7EB61F"/>
                </a:solidFill>
                <a:latin typeface="Roboto Mono"/>
                <a:ea typeface="Roboto Mono"/>
                <a:cs typeface="Roboto Mono"/>
                <a:sym typeface="Roboto Mono"/>
              </a:rPr>
              <a:t>Moto</a:t>
            </a:r>
            <a:r>
              <a:rPr b="1" lang="en-US" sz="2000">
                <a:solidFill>
                  <a:srgbClr val="7EB61F"/>
                </a:solidFill>
              </a:rPr>
              <a:t> são especializações de </a:t>
            </a:r>
            <a:r>
              <a:rPr b="1" lang="en-US" sz="2000">
                <a:solidFill>
                  <a:srgbClr val="7EB61F"/>
                </a:solidFill>
                <a:latin typeface="Roboto Mono"/>
                <a:ea typeface="Roboto Mono"/>
                <a:cs typeface="Roboto Mono"/>
                <a:sym typeface="Roboto Mono"/>
              </a:rPr>
              <a:t>Veículo</a:t>
            </a:r>
            <a:r>
              <a:rPr b="1" lang="en-US" sz="2000">
                <a:solidFill>
                  <a:srgbClr val="7EB61F"/>
                </a:solidFill>
              </a:rPr>
              <a:t>.</a:t>
            </a:r>
            <a:endParaRPr b="1" sz="2000">
              <a:solidFill>
                <a:srgbClr val="7EB61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31" name="Google Shape;131;g3838140537c_0_1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ea5759655_5_3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g37ea5759655_5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7ea5759655_5_33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16 - Engenharia de Software: Revisão + UML (Classes, Atividades)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g37ea5759655_5_33" title="Gemini_Generated_Image_csgfr9csgfr9csgf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8625" y="2515750"/>
            <a:ext cx="6099625" cy="609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7ea5759655_5_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7ea5759655_5_43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16 - Engenharia de Software: Revisão + UML (Classes, Atividades)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7ea5759655_5_43"/>
          <p:cNvSpPr txBox="1"/>
          <p:nvPr/>
        </p:nvSpPr>
        <p:spPr>
          <a:xfrm>
            <a:off x="1151325" y="3028800"/>
            <a:ext cx="729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Diagrama de Atividades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g37ea5759655_5_43"/>
          <p:cNvSpPr txBox="1"/>
          <p:nvPr/>
        </p:nvSpPr>
        <p:spPr>
          <a:xfrm>
            <a:off x="1151325" y="3809875"/>
            <a:ext cx="16387500" cy="5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Mostra </a:t>
            </a:r>
            <a:r>
              <a:rPr b="1" lang="en-US" sz="2000">
                <a:solidFill>
                  <a:schemeClr val="dk1"/>
                </a:solidFill>
              </a:rPr>
              <a:t>fluxo de ações/processos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Usado para descrever </a:t>
            </a:r>
            <a:r>
              <a:rPr b="1" lang="en-US" sz="2000">
                <a:solidFill>
                  <a:schemeClr val="dk1"/>
                </a:solidFill>
              </a:rPr>
              <a:t>casos de uso</a:t>
            </a:r>
            <a:r>
              <a:rPr lang="en-US" sz="2000">
                <a:solidFill>
                  <a:schemeClr val="dk1"/>
                </a:solidFill>
              </a:rPr>
              <a:t> ou </a:t>
            </a:r>
            <a:r>
              <a:rPr b="1" lang="en-US" sz="2000">
                <a:solidFill>
                  <a:schemeClr val="dk1"/>
                </a:solidFill>
              </a:rPr>
              <a:t>métodos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Elementos Principais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Nó de Início:</a:t>
            </a:r>
            <a:r>
              <a:rPr lang="en-US" sz="2000">
                <a:solidFill>
                  <a:schemeClr val="dk1"/>
                </a:solidFill>
              </a:rPr>
              <a:t> Um círculo sólido que marca o começo do fluxo.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Nó de Fim:</a:t>
            </a:r>
            <a:r>
              <a:rPr lang="en-US" sz="2000">
                <a:solidFill>
                  <a:schemeClr val="dk1"/>
                </a:solidFill>
              </a:rPr>
              <a:t> Um círculo sólido dentro de outro círculo que marca o fim do fluxo.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Ação/Atividade:</a:t>
            </a:r>
            <a:r>
              <a:rPr lang="en-US" sz="2000">
                <a:solidFill>
                  <a:schemeClr val="dk1"/>
                </a:solidFill>
              </a:rPr>
              <a:t> Um retângulo com bordas arredondadas que representa uma tarefa a ser realizada (ex: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Processar Pagamento</a:t>
            </a:r>
            <a:r>
              <a:rPr lang="en-US" sz="2000">
                <a:solidFill>
                  <a:schemeClr val="dk1"/>
                </a:solidFill>
              </a:rPr>
              <a:t>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Fluxo de Controle:</a:t>
            </a:r>
            <a:r>
              <a:rPr lang="en-US" sz="2000">
                <a:solidFill>
                  <a:schemeClr val="dk1"/>
                </a:solidFill>
              </a:rPr>
              <a:t> Uma seta que conecta as atividades, mostrando a sequência de execução.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Nó de Decisão (Diamante):</a:t>
            </a:r>
            <a:r>
              <a:rPr lang="en-US" sz="2000">
                <a:solidFill>
                  <a:schemeClr val="dk1"/>
                </a:solidFill>
              </a:rPr>
              <a:t> Representa um ponto de decisão com uma ou mais saídas. As saídas são rotuladas com as condições (ex: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[Pagamento Aprovado]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[Pagamento Recusado]</a:t>
            </a:r>
            <a:r>
              <a:rPr lang="en-US" sz="2000">
                <a:solidFill>
                  <a:schemeClr val="dk1"/>
                </a:solidFill>
              </a:rPr>
              <a:t>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Nó de Bifurcação (Barra Horizontal):</a:t>
            </a:r>
            <a:r>
              <a:rPr lang="en-US" sz="2000">
                <a:solidFill>
                  <a:schemeClr val="dk1"/>
                </a:solidFill>
              </a:rPr>
              <a:t> Divide o fluxo em dois ou mais fluxos paralelos que podem ser executados simultaneamente.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Nó de Junção (Barra Horizontal):</a:t>
            </a:r>
            <a:r>
              <a:rPr lang="en-US" sz="2000">
                <a:solidFill>
                  <a:schemeClr val="dk1"/>
                </a:solidFill>
              </a:rPr>
              <a:t> Combina fluxos paralelos em um único fluxo. A atividade seguinte só pode começar quando todas as atividades paralelas forem concluídas.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48" name="Google Shape;148;g37ea5759655_5_4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7ea5759655_5_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7ea5759655_5_54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16 - Engenharia de Software: Revisão + UML (Classes, Atividades)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7ea5759655_5_54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g37ea5759655_5_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1325" y="2646501"/>
            <a:ext cx="5770276" cy="5770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71f89f91c1_0_185"/>
          <p:cNvSpPr txBox="1"/>
          <p:nvPr/>
        </p:nvSpPr>
        <p:spPr>
          <a:xfrm>
            <a:off x="2086950" y="1184275"/>
            <a:ext cx="7392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33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71f89f91c1_0_185"/>
          <p:cNvSpPr txBox="1"/>
          <p:nvPr/>
        </p:nvSpPr>
        <p:spPr>
          <a:xfrm>
            <a:off x="2870800" y="4343100"/>
            <a:ext cx="11767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Alguma dúvida ?</a:t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prof.adrielly.sayonara@gmail.com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4" name="Google Shape;164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71f89f91c1_0_185"/>
          <p:cNvSpPr txBox="1"/>
          <p:nvPr/>
        </p:nvSpPr>
        <p:spPr>
          <a:xfrm>
            <a:off x="1961625" y="1276525"/>
            <a:ext cx="78711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16 - Engenharia de Software: Revisão + UML (Classes, Atividades)</a:t>
            </a:r>
            <a:endParaRPr b="1" sz="2700">
              <a:solidFill>
                <a:srgbClr val="7EB61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sz="2700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Isaias Dias</dc:creator>
</cp:coreProperties>
</file>