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10287000" cx="18288000"/>
  <p:notesSz cx="6858000" cy="9144000"/>
  <p:embeddedFontLst>
    <p:embeddedFont>
      <p:font typeface="Montserrat"/>
      <p:regular r:id="rId31"/>
      <p:bold r:id="rId32"/>
      <p:italic r:id="rId33"/>
      <p:boldItalic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hJIZ9Kbkj0axMnHDJXDz//Zpfq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bold.fntdata"/><Relationship Id="rId13" Type="http://schemas.openxmlformats.org/officeDocument/2006/relationships/slide" Target="slides/slide8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10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7784b096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77784b096e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7784b096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77784b096e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7784b096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77784b096e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7784b096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77784b096e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7784b096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77784b096e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910efb84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7910efb845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7784b096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77784b096e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10efb84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7910efb845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910efb84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7910efb845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910efb84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37910efb845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910efb84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7910efb845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910efb84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7910efb845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910efb84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g37910efb845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910efb84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7910efb845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910efb84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37910efb845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910efb84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g37910efb845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7910efb845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g37910efb845_0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7910efb845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g37910efb845_0_1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7910efb84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g37910efb845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7910efb845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g37910efb845_0_1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7910efb84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g37910efb845_0_1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49075" y="7942375"/>
            <a:ext cx="8672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Ma. A</a:t>
            </a:r>
            <a:r>
              <a:rPr b="1" lang="en-US" sz="3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drielly Sayonara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71f89f91c1_0_9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809875"/>
            <a:ext cx="12138000" cy="42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Utilizar cláusulas SQL para filtrar (</a:t>
            </a: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e ordenar (</a:t>
            </a: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 BY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Realizar consultas combinando tabelas com </a:t>
            </a: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INNER JOIN</a:t>
            </a:r>
            <a:endParaRPr b="0" i="0" sz="32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 funções de agregação como </a:t>
            </a: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AVG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</a:t>
            </a:r>
            <a:endParaRPr b="0" i="0" sz="32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Praticar consultas reais em um banco de dados de loja virtual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71f89f91c1_0_9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77784b096e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77784b096e_0_1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g377784b096e_0_1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Relembrando a aula passada: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g377784b096e_0_1"/>
          <p:cNvSpPr txBox="1"/>
          <p:nvPr/>
        </p:nvSpPr>
        <p:spPr>
          <a:xfrm>
            <a:off x="1151325" y="3809875"/>
            <a:ext cx="9644100" cy="3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Criamos tabelas (</a:t>
            </a: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CREATE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Inserimos dados (</a:t>
            </a: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INSERT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Consultamos (</a:t>
            </a: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👉 Agora vamos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refinar e analisar os dados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77784b096e_0_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77784b096e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77784b096e_0_10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g377784b096e_0_10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Comando WHERE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77784b096e_0_10"/>
          <p:cNvSpPr txBox="1"/>
          <p:nvPr/>
        </p:nvSpPr>
        <p:spPr>
          <a:xfrm>
            <a:off x="1151325" y="3809875"/>
            <a:ext cx="9644100" cy="55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Usado para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filtrar registros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Operadores comuns: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&lt;&gt;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(diferente), </a:t>
            </a: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&gt;=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&lt;=</a:t>
            </a:r>
            <a:b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b="0" i="0" sz="28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</a:t>
            </a:r>
            <a:b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b="0" i="0" sz="28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LIKE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(padrões de texto)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(conjunto de valores)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77784b096e_0_1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77784b096e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77784b096e_0_19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g377784b096e_0_19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 WHERE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g377784b096e_0_1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g377784b096e_0_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47506" y="4517375"/>
            <a:ext cx="9943044" cy="334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377784b096e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77784b096e_0_28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g377784b096e_0_28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WHERE com AND/OR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g377784b096e_0_28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g377784b096e_0_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4001875"/>
            <a:ext cx="10950725" cy="41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77784b096e_0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77784b096e_0_37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g377784b096e_0_37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WHERE com LIKE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g377784b096e_0_37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g377784b096e_0_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61650" y="3914775"/>
            <a:ext cx="9805649" cy="4674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7910efb845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7910efb845_0_1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g37910efb845_0_1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Exercício - Filtro simples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g37910efb845_0_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7910efb845_0_1"/>
          <p:cNvSpPr txBox="1"/>
          <p:nvPr/>
        </p:nvSpPr>
        <p:spPr>
          <a:xfrm>
            <a:off x="1227900" y="3718550"/>
            <a:ext cx="106245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Selecionar todos os produtos com preço maior que 100.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g37910efb845_0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5775" y="5260125"/>
            <a:ext cx="13702379" cy="164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377784b096e_0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77784b096e_0_46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g377784b096e_0_46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ORDER BY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g377784b096e_0_46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77784b096e_0_46"/>
          <p:cNvSpPr txBox="1"/>
          <p:nvPr/>
        </p:nvSpPr>
        <p:spPr>
          <a:xfrm>
            <a:off x="1358525" y="3936275"/>
            <a:ext cx="4310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Ordena os resultados.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ASC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(padrão, crescente) ou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(decrescente).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g377784b096e_0_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0525" y="4894025"/>
            <a:ext cx="8604050" cy="30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7910efb845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7910efb845_0_12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g37910efb845_0_12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Exercício - Ordenação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g37910efb845_0_1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7910efb845_0_12"/>
          <p:cNvSpPr txBox="1"/>
          <p:nvPr/>
        </p:nvSpPr>
        <p:spPr>
          <a:xfrm>
            <a:off x="1358525" y="3936275"/>
            <a:ext cx="10319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Listar clientes por ordem alfabética de nome.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g37910efb845_0_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82675" y="5329450"/>
            <a:ext cx="8923800" cy="164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7910efb845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7910efb845_0_2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g37910efb845_0_23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Introdução a JOINs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g37910efb845_0_2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7910efb845_0_23"/>
          <p:cNvSpPr txBox="1"/>
          <p:nvPr/>
        </p:nvSpPr>
        <p:spPr>
          <a:xfrm>
            <a:off x="1358525" y="3936275"/>
            <a:ext cx="10319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 dados de múltiplas tabelas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principais: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INNER JOIN</a:t>
            </a:r>
            <a:endParaRPr b="0" i="0" sz="32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LEFT JOIN</a:t>
            </a:r>
            <a:endParaRPr b="0" i="0" sz="32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RIGHT JOIN</a:t>
            </a:r>
            <a:endParaRPr b="0" i="0" sz="32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FULL JOIN</a:t>
            </a:r>
            <a:endParaRPr b="0" i="0" sz="32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g37910efb845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7910efb845_0_3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g37910efb845_0_33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INNER JOIN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g37910efb845_0_3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7910efb845_0_33"/>
          <p:cNvSpPr txBox="1"/>
          <p:nvPr/>
        </p:nvSpPr>
        <p:spPr>
          <a:xfrm>
            <a:off x="1358525" y="3936275"/>
            <a:ext cx="10319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 apenas registros que têm correspondência nas duas tabelas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g37910efb845_0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6950" y="6048175"/>
            <a:ext cx="12371927" cy="164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g37910efb845_0_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7910efb845_0_4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g37910efb845_0_43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JOIN simples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g37910efb845_0_4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7910efb845_0_43"/>
          <p:cNvSpPr txBox="1"/>
          <p:nvPr/>
        </p:nvSpPr>
        <p:spPr>
          <a:xfrm>
            <a:off x="1358525" y="3936275"/>
            <a:ext cx="10319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Mostrar o nome do cliente e o número do pedido.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g37910efb845_0_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7910efb845_0_5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g37910efb845_0_53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INNER JOIN com múltplas tabela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g37910efb845_0_5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7910efb845_0_53"/>
          <p:cNvSpPr txBox="1"/>
          <p:nvPr/>
        </p:nvSpPr>
        <p:spPr>
          <a:xfrm>
            <a:off x="1358525" y="3936275"/>
            <a:ext cx="10319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g37910efb845_0_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0" y="4188350"/>
            <a:ext cx="12239950" cy="25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37910efb845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7910efb845_0_62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g37910efb845_0_62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Funções de Agregação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g37910efb845_0_6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7910efb845_0_62"/>
          <p:cNvSpPr txBox="1"/>
          <p:nvPr/>
        </p:nvSpPr>
        <p:spPr>
          <a:xfrm>
            <a:off x="1358525" y="3936275"/>
            <a:ext cx="10319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7910efb845_0_62"/>
          <p:cNvSpPr txBox="1"/>
          <p:nvPr/>
        </p:nvSpPr>
        <p:spPr>
          <a:xfrm>
            <a:off x="1532700" y="3979825"/>
            <a:ext cx="7489500" cy="3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COUNT()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conta registros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SUM()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soma valores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AVG()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média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MIN()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valor mínimo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MAX()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valor máximo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g37910efb845_0_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7910efb845_0_7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g37910efb845_0_73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 com COUNT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g37910efb845_0_7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7910efb845_0_73"/>
          <p:cNvSpPr txBox="1"/>
          <p:nvPr/>
        </p:nvSpPr>
        <p:spPr>
          <a:xfrm>
            <a:off x="1358525" y="3936275"/>
            <a:ext cx="10319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7910efb845_0_73"/>
          <p:cNvSpPr txBox="1"/>
          <p:nvPr/>
        </p:nvSpPr>
        <p:spPr>
          <a:xfrm>
            <a:off x="1532700" y="6773125"/>
            <a:ext cx="96231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 quantos clientes estão cadastrados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g37910efb845_0_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2690" y="4517375"/>
            <a:ext cx="13710783" cy="164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7910efb845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7910efb845_0_9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g37910efb845_0_95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 com SUM e AVG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g37910efb845_0_9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7910efb845_0_95"/>
          <p:cNvSpPr txBox="1"/>
          <p:nvPr/>
        </p:nvSpPr>
        <p:spPr>
          <a:xfrm>
            <a:off x="1358525" y="3936275"/>
            <a:ext cx="10319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7910efb845_0_95"/>
          <p:cNvSpPr txBox="1"/>
          <p:nvPr/>
        </p:nvSpPr>
        <p:spPr>
          <a:xfrm>
            <a:off x="1532700" y="6773125"/>
            <a:ext cx="96231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Soma e média de preços dos produtos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g37910efb845_0_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2944" y="4400638"/>
            <a:ext cx="13718407" cy="164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g37910efb845_0_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7910efb845_0_106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g37910efb845_0_106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GROUP BY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g37910efb845_0_106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7910efb845_0_106"/>
          <p:cNvSpPr txBox="1"/>
          <p:nvPr/>
        </p:nvSpPr>
        <p:spPr>
          <a:xfrm>
            <a:off x="1358525" y="3936275"/>
            <a:ext cx="10319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7910efb845_0_106"/>
          <p:cNvSpPr txBox="1"/>
          <p:nvPr/>
        </p:nvSpPr>
        <p:spPr>
          <a:xfrm>
            <a:off x="1532700" y="3936275"/>
            <a:ext cx="9623100" cy="3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Agrupa registros por uma coluna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 o total de pedidos por cliente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g37910efb845_0_1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70123" y="5329450"/>
            <a:ext cx="10459403" cy="164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g37910efb845_0_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37910efb845_0_117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g37910efb845_0_117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Exercício - Agrupamento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g37910efb845_0_117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7910efb845_0_117"/>
          <p:cNvSpPr txBox="1"/>
          <p:nvPr/>
        </p:nvSpPr>
        <p:spPr>
          <a:xfrm>
            <a:off x="1358525" y="3936275"/>
            <a:ext cx="10319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7910efb845_0_117"/>
          <p:cNvSpPr txBox="1"/>
          <p:nvPr/>
        </p:nvSpPr>
        <p:spPr>
          <a:xfrm>
            <a:off x="1532700" y="3936275"/>
            <a:ext cx="10755000" cy="3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Mostrar a quantidade de pedidos feitos por cada cliente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g37910efb845_0_1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7910efb845_0_127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g37910efb845_0_127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HAVING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g37910efb845_0_127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7910efb845_0_127"/>
          <p:cNvSpPr txBox="1"/>
          <p:nvPr/>
        </p:nvSpPr>
        <p:spPr>
          <a:xfrm>
            <a:off x="1358525" y="3936275"/>
            <a:ext cx="10319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7910efb845_0_127"/>
          <p:cNvSpPr txBox="1"/>
          <p:nvPr/>
        </p:nvSpPr>
        <p:spPr>
          <a:xfrm>
            <a:off x="1532700" y="3936275"/>
            <a:ext cx="10755000" cy="3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Filtra resultados após o </a:t>
            </a:r>
            <a:r>
              <a:rPr b="0" i="0" lang="en-US" sz="32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 BY</a:t>
            </a:r>
            <a:endParaRPr b="0" i="0" sz="32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 apenas clientes com mais de 2 pedidos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g37910efb845_0_1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96366" y="4628100"/>
            <a:ext cx="10654135" cy="236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37910efb845_0_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7910efb845_0_138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g37910efb845_0_138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Atividade prática em grupo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g37910efb845_0_138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7910efb845_0_138"/>
          <p:cNvSpPr txBox="1"/>
          <p:nvPr/>
        </p:nvSpPr>
        <p:spPr>
          <a:xfrm>
            <a:off x="1358525" y="3936275"/>
            <a:ext cx="10319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7910efb845_0_138"/>
          <p:cNvSpPr txBox="1"/>
          <p:nvPr/>
        </p:nvSpPr>
        <p:spPr>
          <a:xfrm>
            <a:off x="1532700" y="3936275"/>
            <a:ext cx="10755000" cy="3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consultas para: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Listar produtos mais caros que R$200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Mostrar clientes com mais de 3 pedidos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Calcular a soma total dos pedidos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g37910efb845_0_1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7910efb845_0_159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g37910efb845_0_159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g37910efb845_0_15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7910efb845_0_159"/>
          <p:cNvSpPr txBox="1"/>
          <p:nvPr/>
        </p:nvSpPr>
        <p:spPr>
          <a:xfrm>
            <a:off x="1358525" y="3936275"/>
            <a:ext cx="10319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7910efb845_0_159"/>
          <p:cNvSpPr txBox="1"/>
          <p:nvPr/>
        </p:nvSpPr>
        <p:spPr>
          <a:xfrm>
            <a:off x="1532700" y="3936275"/>
            <a:ext cx="10755000" cy="3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filtra resultados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 BY organiza a saída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INNER JOIN combina dados de várias tabelas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Funções de agregação trazem estatísticas úteis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BY + HAVING para agrupamentos avançados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37910efb845_0_1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7910efb845_0_169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24 - WHERE, ORDER BY, INNER JOIN e Funções Agregação ( SUM, AVG)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g37910efb845_0_169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Materiais para estudo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g37910efb845_0_16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7910efb845_0_169"/>
          <p:cNvSpPr txBox="1"/>
          <p:nvPr/>
        </p:nvSpPr>
        <p:spPr>
          <a:xfrm>
            <a:off x="1358525" y="3936275"/>
            <a:ext cx="10319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7910efb845_0_169"/>
          <p:cNvSpPr txBox="1"/>
          <p:nvPr/>
        </p:nvSpPr>
        <p:spPr>
          <a:xfrm>
            <a:off x="1532700" y="3936275"/>
            <a:ext cx="10755000" cy="3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SQLBolt – https://sqlbolt.com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SQLZoo – https://sqlzoo.net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W3Schools SQL Tutorial – https://www.w3schools.com/sql/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Livro: Use a Cabeça! SQL – Lynn Beighley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g371f89f91c1_0_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clara.gomes@ufpe.br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8" name="Google Shape;308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71f89f91c1_0_185"/>
          <p:cNvSpPr txBox="1"/>
          <p:nvPr/>
        </p:nvSpPr>
        <p:spPr>
          <a:xfrm>
            <a:off x="2086950" y="1276525"/>
            <a:ext cx="7721700" cy="21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22 - Modelo Lógico Relacional e Normalização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