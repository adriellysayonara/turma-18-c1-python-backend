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0287000" cx="18288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mlkWtxy4/4dd6JAadvKJXvyUL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CCE57D-F04F-469C-B995-4A7EC7954A38}">
  <a:tblStyle styleId="{61CCE57D-F04F-469C-B995-4A7EC7954A3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Montserrat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1f89f91c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71f89f91c1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ea4ab420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7ea4ab4201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a4ab420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7ea4ab4201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ea4ab420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7ea4ab4201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ea4ab420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7ea4ab4201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ea4ab420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ea4ab4201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a4ab420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7ea4ab4201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ea4ab420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7ea4ab4201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1f89f91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71f89f91c1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39250" y="254175"/>
            <a:ext cx="17837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Back-end em python</a:t>
            </a:r>
            <a:endParaRPr b="1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49075" y="7942375"/>
            <a:ext cx="748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Profª. Ma. Adrielly Sayonara</a:t>
            </a:r>
            <a:endParaRPr b="1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71f89f91c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71f89f91c1_0_95"/>
          <p:cNvSpPr txBox="1"/>
          <p:nvPr/>
        </p:nvSpPr>
        <p:spPr>
          <a:xfrm>
            <a:off x="1961625" y="1276525"/>
            <a:ext cx="787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Requisitos funcionais e não funcionais - Metodologias ágeis (Scrum, Kanban)</a:t>
            </a:r>
            <a:endParaRPr b="1" i="0" sz="24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71f89f91c1_0_95"/>
          <p:cNvSpPr txBox="1"/>
          <p:nvPr/>
        </p:nvSpPr>
        <p:spPr>
          <a:xfrm>
            <a:off x="1151325" y="3028800"/>
            <a:ext cx="382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da Aula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g371f89f91c1_0_95"/>
          <p:cNvSpPr txBox="1"/>
          <p:nvPr/>
        </p:nvSpPr>
        <p:spPr>
          <a:xfrm>
            <a:off x="1151325" y="3809875"/>
            <a:ext cx="9644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Entender o que são requisitos e sua importância.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Diferenciar funcionais de não funcionais.</a:t>
            </a: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Conhecer as metodologias ágeis mais usadas no mercado: Scrum e Kanban.</a:t>
            </a:r>
            <a:endParaRPr sz="2000">
              <a:solidFill>
                <a:schemeClr val="dk1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Simular uma pequena dinâmica de requisitos + gestão ágil.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95" name="Google Shape;95;g371f89f91c1_0_95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7ea4ab4201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7ea4ab4201_0_2"/>
          <p:cNvSpPr txBox="1"/>
          <p:nvPr/>
        </p:nvSpPr>
        <p:spPr>
          <a:xfrm>
            <a:off x="1961625" y="1276525"/>
            <a:ext cx="787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Requisitos funcionais e não funcionais - Metodologias ágeis (Scrum, Kanban)</a:t>
            </a:r>
            <a:endParaRPr b="1" i="0" sz="24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7ea4ab4201_0_2"/>
          <p:cNvSpPr txBox="1"/>
          <p:nvPr/>
        </p:nvSpPr>
        <p:spPr>
          <a:xfrm>
            <a:off x="1151325" y="3028800"/>
            <a:ext cx="605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Introdução aos Requisitos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g37ea4ab4201_0_2"/>
          <p:cNvSpPr txBox="1"/>
          <p:nvPr/>
        </p:nvSpPr>
        <p:spPr>
          <a:xfrm>
            <a:off x="1151325" y="3809875"/>
            <a:ext cx="9644100" cy="46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Todo sistema nasce de </a:t>
            </a:r>
            <a:r>
              <a:rPr b="1" lang="en-US" sz="2000">
                <a:solidFill>
                  <a:schemeClr val="dk1"/>
                </a:solidFill>
              </a:rPr>
              <a:t>necessidades do usuário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Um requisito é </a:t>
            </a:r>
            <a:r>
              <a:rPr b="1" lang="en-US" sz="2000">
                <a:solidFill>
                  <a:schemeClr val="dk1"/>
                </a:solidFill>
              </a:rPr>
              <a:t>tudo que o software deve atender ou respeitar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Divide-se em: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en-US" sz="2000">
                <a:solidFill>
                  <a:schemeClr val="dk1"/>
                </a:solidFill>
              </a:rPr>
              <a:t>Funcionais</a:t>
            </a:r>
            <a:r>
              <a:rPr lang="en-US" sz="2000">
                <a:solidFill>
                  <a:schemeClr val="dk1"/>
                </a:solidFill>
              </a:rPr>
              <a:t> → o que o sistema </a:t>
            </a:r>
            <a:r>
              <a:rPr b="1" lang="en-US" sz="2000">
                <a:solidFill>
                  <a:schemeClr val="dk1"/>
                </a:solidFill>
              </a:rPr>
              <a:t>faz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en-US" sz="2000">
                <a:solidFill>
                  <a:schemeClr val="dk1"/>
                </a:solidFill>
              </a:rPr>
              <a:t>Não funcionais</a:t>
            </a:r>
            <a:r>
              <a:rPr lang="en-US" sz="2000">
                <a:solidFill>
                  <a:schemeClr val="dk1"/>
                </a:solidFill>
              </a:rPr>
              <a:t> → como o sistema </a:t>
            </a:r>
            <a:r>
              <a:rPr b="1" lang="en-US" sz="2000">
                <a:solidFill>
                  <a:schemeClr val="dk1"/>
                </a:solidFill>
              </a:rPr>
              <a:t>deve ser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📌 </a:t>
            </a:r>
            <a:r>
              <a:rPr b="1" lang="en-US" sz="2000">
                <a:solidFill>
                  <a:schemeClr val="dk1"/>
                </a:solidFill>
              </a:rPr>
              <a:t>Analogia</a:t>
            </a:r>
            <a:r>
              <a:rPr lang="en-US" sz="2000">
                <a:solidFill>
                  <a:schemeClr val="dk1"/>
                </a:solidFill>
              </a:rPr>
              <a:t>: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 Imagine construir uma pizzaria: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Requisito funcional → “O cliente pode montar sua pizza com até 3 ingredientes”.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Requisito não funcional → “A pizza deve ser entregue em até 30 minutos”.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4" name="Google Shape;104;g37ea4ab4201_0_2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7ea4ab4201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7ea4ab4201_0_11"/>
          <p:cNvSpPr txBox="1"/>
          <p:nvPr/>
        </p:nvSpPr>
        <p:spPr>
          <a:xfrm>
            <a:off x="1961625" y="1276525"/>
            <a:ext cx="787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Requisitos funcionais e não funcionais - Metodologias ágeis (Scrum, Kanban)</a:t>
            </a:r>
            <a:endParaRPr b="1" i="0" sz="24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7ea4ab4201_0_11"/>
          <p:cNvSpPr txBox="1"/>
          <p:nvPr/>
        </p:nvSpPr>
        <p:spPr>
          <a:xfrm>
            <a:off x="1151325" y="3028800"/>
            <a:ext cx="605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Requisitos Funcionais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g37ea4ab4201_0_11"/>
          <p:cNvSpPr txBox="1"/>
          <p:nvPr/>
        </p:nvSpPr>
        <p:spPr>
          <a:xfrm>
            <a:off x="1151325" y="3809875"/>
            <a:ext cx="9644100" cy="3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São as </a:t>
            </a:r>
            <a:r>
              <a:rPr b="1" lang="en-US" sz="2000">
                <a:solidFill>
                  <a:schemeClr val="dk1"/>
                </a:solidFill>
              </a:rPr>
              <a:t>funcionalidades do sistema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Descrevem </a:t>
            </a:r>
            <a:r>
              <a:rPr b="1" lang="en-US" sz="2000">
                <a:solidFill>
                  <a:schemeClr val="dk1"/>
                </a:solidFill>
              </a:rPr>
              <a:t>ações, serviços, regras de negócio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📍 Exemplos para um sistema bancário: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 cliente pode </a:t>
            </a:r>
            <a:r>
              <a:rPr b="1" lang="en-US" sz="2000">
                <a:solidFill>
                  <a:schemeClr val="dk1"/>
                </a:solidFill>
              </a:rPr>
              <a:t>sacar dinheiro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 cliente pode </a:t>
            </a:r>
            <a:r>
              <a:rPr b="1" lang="en-US" sz="2000">
                <a:solidFill>
                  <a:schemeClr val="dk1"/>
                </a:solidFill>
              </a:rPr>
              <a:t>transferir valores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 sistema deve </a:t>
            </a:r>
            <a:r>
              <a:rPr b="1" lang="en-US" sz="2000">
                <a:solidFill>
                  <a:schemeClr val="dk1"/>
                </a:solidFill>
              </a:rPr>
              <a:t>exibir saldo em tempo real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13" name="Google Shape;113;g37ea4ab4201_0_1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7ea4ab4201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7ea4ab4201_0_21"/>
          <p:cNvSpPr txBox="1"/>
          <p:nvPr/>
        </p:nvSpPr>
        <p:spPr>
          <a:xfrm>
            <a:off x="1961625" y="1276525"/>
            <a:ext cx="787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Requisitos funcionais e não funcionais - Metodologias ágeis (Scrum, Kanban)</a:t>
            </a:r>
            <a:endParaRPr b="1" i="0" sz="24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7ea4ab4201_0_21"/>
          <p:cNvSpPr txBox="1"/>
          <p:nvPr/>
        </p:nvSpPr>
        <p:spPr>
          <a:xfrm>
            <a:off x="1151325" y="3028800"/>
            <a:ext cx="605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Requisitos Não Funcionais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g37ea4ab4201_0_21"/>
          <p:cNvSpPr txBox="1"/>
          <p:nvPr/>
        </p:nvSpPr>
        <p:spPr>
          <a:xfrm>
            <a:off x="1151325" y="3809875"/>
            <a:ext cx="96441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Relacionados à </a:t>
            </a:r>
            <a:r>
              <a:rPr b="1" lang="en-US" sz="2000">
                <a:solidFill>
                  <a:schemeClr val="dk1"/>
                </a:solidFill>
              </a:rPr>
              <a:t>qualidade do sistema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Não dizem </a:t>
            </a:r>
            <a:r>
              <a:rPr i="1" lang="en-US" sz="2000">
                <a:solidFill>
                  <a:schemeClr val="dk1"/>
                </a:solidFill>
              </a:rPr>
              <a:t>o que</a:t>
            </a:r>
            <a:r>
              <a:rPr lang="en-US" sz="2000">
                <a:solidFill>
                  <a:schemeClr val="dk1"/>
                </a:solidFill>
              </a:rPr>
              <a:t> o sistema faz, mas </a:t>
            </a:r>
            <a:r>
              <a:rPr i="1" lang="en-US" sz="2000">
                <a:solidFill>
                  <a:schemeClr val="dk1"/>
                </a:solidFill>
              </a:rPr>
              <a:t>como</a:t>
            </a:r>
            <a:r>
              <a:rPr lang="en-US" sz="2000">
                <a:solidFill>
                  <a:schemeClr val="dk1"/>
                </a:solidFill>
              </a:rPr>
              <a:t> faz.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📍 Exemplos: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 sistema deve estar disponível </a:t>
            </a:r>
            <a:r>
              <a:rPr b="1" lang="en-US" sz="2000">
                <a:solidFill>
                  <a:schemeClr val="dk1"/>
                </a:solidFill>
              </a:rPr>
              <a:t>24/7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 tempo de resposta deve ser </a:t>
            </a:r>
            <a:r>
              <a:rPr b="1" lang="en-US" sz="2000">
                <a:solidFill>
                  <a:schemeClr val="dk1"/>
                </a:solidFill>
              </a:rPr>
              <a:t>menor que 2 segundos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 sistema deve suportar </a:t>
            </a:r>
            <a:r>
              <a:rPr b="1" lang="en-US" sz="2000">
                <a:solidFill>
                  <a:schemeClr val="dk1"/>
                </a:solidFill>
              </a:rPr>
              <a:t>1.000 usuários simultâneos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Segurança: senha deve ter no mínimo 8 caracteres.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22" name="Google Shape;122;g37ea4ab4201_0_2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g37ea4ab4201_0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7ea4ab4201_0_31"/>
          <p:cNvSpPr txBox="1"/>
          <p:nvPr/>
        </p:nvSpPr>
        <p:spPr>
          <a:xfrm>
            <a:off x="1961625" y="1276525"/>
            <a:ext cx="787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Requisitos funcionais e não funcionais - Metodologias ágeis (Scrum, Kanban)</a:t>
            </a:r>
            <a:endParaRPr b="1" i="0" sz="24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7ea4ab4201_0_31"/>
          <p:cNvSpPr txBox="1"/>
          <p:nvPr/>
        </p:nvSpPr>
        <p:spPr>
          <a:xfrm>
            <a:off x="1151325" y="3028800"/>
            <a:ext cx="605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Metodologias Ágeis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g37ea4ab4201_0_31"/>
          <p:cNvSpPr txBox="1"/>
          <p:nvPr/>
        </p:nvSpPr>
        <p:spPr>
          <a:xfrm>
            <a:off x="1151325" y="3809875"/>
            <a:ext cx="96441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Conjunto de práticas para </a:t>
            </a:r>
            <a:r>
              <a:rPr b="1" lang="en-US" sz="2000">
                <a:solidFill>
                  <a:schemeClr val="dk1"/>
                </a:solidFill>
              </a:rPr>
              <a:t>organizar o trabalho em equipe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Baseadas no </a:t>
            </a:r>
            <a:r>
              <a:rPr b="1" lang="en-US" sz="2000">
                <a:solidFill>
                  <a:schemeClr val="dk1"/>
                </a:solidFill>
              </a:rPr>
              <a:t>Manifesto Ágil (2001)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Princípios principais: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Entregas rápidas e incrementais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Feedback constante do cliente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Trabalho colaborativo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31" name="Google Shape;131;g37ea4ab4201_0_3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37ea4ab4201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7ea4ab4201_0_41"/>
          <p:cNvSpPr txBox="1"/>
          <p:nvPr/>
        </p:nvSpPr>
        <p:spPr>
          <a:xfrm>
            <a:off x="1961625" y="1276525"/>
            <a:ext cx="787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Requisitos funcionais e não funcionais - Metodologias ágeis (Scrum, Kanban)</a:t>
            </a:r>
            <a:endParaRPr b="1" i="0" sz="24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7ea4ab4201_0_41"/>
          <p:cNvSpPr txBox="1"/>
          <p:nvPr/>
        </p:nvSpPr>
        <p:spPr>
          <a:xfrm>
            <a:off x="1151325" y="3028800"/>
            <a:ext cx="605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Scrum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g37ea4ab4201_0_41"/>
          <p:cNvSpPr txBox="1"/>
          <p:nvPr/>
        </p:nvSpPr>
        <p:spPr>
          <a:xfrm>
            <a:off x="1151325" y="3809875"/>
            <a:ext cx="96441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Framework ágil</a:t>
            </a:r>
            <a:r>
              <a:rPr lang="en-US" sz="2000">
                <a:solidFill>
                  <a:schemeClr val="dk1"/>
                </a:solidFill>
              </a:rPr>
              <a:t> mais usado.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Organização em </a:t>
            </a:r>
            <a:r>
              <a:rPr b="1" lang="en-US" sz="2000">
                <a:solidFill>
                  <a:schemeClr val="dk1"/>
                </a:solidFill>
              </a:rPr>
              <a:t>sprints</a:t>
            </a:r>
            <a:r>
              <a:rPr lang="en-US" sz="2000">
                <a:solidFill>
                  <a:schemeClr val="dk1"/>
                </a:solidFill>
              </a:rPr>
              <a:t> (iterações de 1 a 4 semanas).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Papéis: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en-US" sz="2000">
                <a:solidFill>
                  <a:schemeClr val="dk1"/>
                </a:solidFill>
              </a:rPr>
              <a:t>Product Owner</a:t>
            </a:r>
            <a:r>
              <a:rPr lang="en-US" sz="2000">
                <a:solidFill>
                  <a:schemeClr val="dk1"/>
                </a:solidFill>
              </a:rPr>
              <a:t> → responsável pelo pelo que será construído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en-US" sz="2000">
                <a:solidFill>
                  <a:schemeClr val="dk1"/>
                </a:solidFill>
              </a:rPr>
              <a:t>Scrum Master</a:t>
            </a:r>
            <a:r>
              <a:rPr lang="en-US" sz="2000">
                <a:solidFill>
                  <a:schemeClr val="dk1"/>
                </a:solidFill>
              </a:rPr>
              <a:t> → ajuda a equipe a seguir as regras do Scrum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b="1" lang="en-US" sz="2000">
                <a:solidFill>
                  <a:schemeClr val="dk1"/>
                </a:solidFill>
              </a:rPr>
              <a:t>Time de Desenvolvimento</a:t>
            </a:r>
            <a:r>
              <a:rPr lang="en-US" sz="2000">
                <a:solidFill>
                  <a:schemeClr val="dk1"/>
                </a:solidFill>
              </a:rPr>
              <a:t> → constrói o produto.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Eventos: Planning, Daily, Review, Retrospective.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40" name="Google Shape;140;g37ea4ab4201_0_4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7ea4ab4201_0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7ea4ab4201_0_51"/>
          <p:cNvSpPr txBox="1"/>
          <p:nvPr/>
        </p:nvSpPr>
        <p:spPr>
          <a:xfrm>
            <a:off x="1961625" y="1276525"/>
            <a:ext cx="787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Requisitos funcionais e não funcionais - Metodologias ágeis (Scrum, Kanban)</a:t>
            </a:r>
            <a:endParaRPr b="1" i="0" sz="24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7ea4ab4201_0_51"/>
          <p:cNvSpPr txBox="1"/>
          <p:nvPr/>
        </p:nvSpPr>
        <p:spPr>
          <a:xfrm>
            <a:off x="1151325" y="3028800"/>
            <a:ext cx="605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Kanban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g37ea4ab4201_0_51"/>
          <p:cNvSpPr txBox="1"/>
          <p:nvPr/>
        </p:nvSpPr>
        <p:spPr>
          <a:xfrm>
            <a:off x="1151325" y="3809875"/>
            <a:ext cx="96441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Método visual de gestão de tarefas.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Usa </a:t>
            </a:r>
            <a:r>
              <a:rPr b="1" lang="en-US" sz="2000">
                <a:solidFill>
                  <a:schemeClr val="dk1"/>
                </a:solidFill>
              </a:rPr>
              <a:t>quadros</a:t>
            </a:r>
            <a:r>
              <a:rPr lang="en-US" sz="2000">
                <a:solidFill>
                  <a:schemeClr val="dk1"/>
                </a:solidFill>
              </a:rPr>
              <a:t> com colunas (ex.: </a:t>
            </a:r>
            <a:r>
              <a:rPr i="1" lang="en-US" sz="2000">
                <a:solidFill>
                  <a:schemeClr val="dk1"/>
                </a:solidFill>
              </a:rPr>
              <a:t>A Fazer → Em Andamento → Concluído</a:t>
            </a:r>
            <a:r>
              <a:rPr lang="en-US" sz="2000">
                <a:solidFill>
                  <a:schemeClr val="dk1"/>
                </a:solidFill>
              </a:rPr>
              <a:t>).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Foco em </a:t>
            </a:r>
            <a:r>
              <a:rPr b="1" lang="en-US" sz="2000">
                <a:solidFill>
                  <a:schemeClr val="dk1"/>
                </a:solidFill>
              </a:rPr>
              <a:t>fluxo contínuo</a:t>
            </a:r>
            <a:r>
              <a:rPr lang="en-US" sz="2000">
                <a:solidFill>
                  <a:schemeClr val="dk1"/>
                </a:solidFill>
              </a:rPr>
              <a:t>, não em sprints.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📌 Exemplo de Kanban para uma turma: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49" name="Google Shape;149;g37ea4ab4201_0_51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0" name="Google Shape;150;g37ea4ab4201_0_51"/>
          <p:cNvGraphicFramePr/>
          <p:nvPr/>
        </p:nvGraphicFramePr>
        <p:xfrm>
          <a:off x="1151325" y="638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{61CCE57D-F04F-469C-B995-4A7EC7954A38}</a:tableStyleId>
              </a:tblPr>
              <a:tblGrid>
                <a:gridCol w="2381750"/>
                <a:gridCol w="4635925"/>
                <a:gridCol w="38278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 Fazer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Em Andamento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Concluído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Login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Cadastro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Página inicial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g37ea4ab4201_0_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7ea4ab4201_0_63"/>
          <p:cNvSpPr txBox="1"/>
          <p:nvPr/>
        </p:nvSpPr>
        <p:spPr>
          <a:xfrm>
            <a:off x="1961625" y="1276525"/>
            <a:ext cx="787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b="1" i="0" lang="en-US" sz="24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 — </a:t>
            </a: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Requisitos funcionais e não funcionais - Metodologias ágeis (Scrum, Kanban)</a:t>
            </a:r>
            <a:endParaRPr b="1" i="0" sz="24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7ea4ab4201_0_63"/>
          <p:cNvSpPr txBox="1"/>
          <p:nvPr/>
        </p:nvSpPr>
        <p:spPr>
          <a:xfrm>
            <a:off x="1151325" y="3028800"/>
            <a:ext cx="605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3000">
                <a:latin typeface="Montserrat"/>
                <a:ea typeface="Montserrat"/>
                <a:cs typeface="Montserrat"/>
                <a:sym typeface="Montserrat"/>
              </a:rPr>
              <a:t>Scrum vs Kanban</a:t>
            </a:r>
            <a:endParaRPr b="1"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g37ea4ab4201_0_63"/>
          <p:cNvSpPr txBox="1"/>
          <p:nvPr/>
        </p:nvSpPr>
        <p:spPr>
          <a:xfrm>
            <a:off x="16838900" y="8854475"/>
            <a:ext cx="699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9" name="Google Shape;159;g37ea4ab4201_0_63"/>
          <p:cNvGraphicFramePr/>
          <p:nvPr/>
        </p:nvGraphicFramePr>
        <p:xfrm>
          <a:off x="1151325" y="436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{61CCE57D-F04F-469C-B995-4A7EC7954A38}</a:tableStyleId>
              </a:tblPr>
              <a:tblGrid>
                <a:gridCol w="4804925"/>
                <a:gridCol w="42007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Scrum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Kanban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B61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Trabalha em sprints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Fluxo contínuo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Papéis bem definidos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Mais flexível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Bom para produtos novos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Bom para manutenção</a:t>
                      </a:r>
                      <a:endParaRPr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EB6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71f89f91c1_0_185"/>
          <p:cNvSpPr txBox="1"/>
          <p:nvPr/>
        </p:nvSpPr>
        <p:spPr>
          <a:xfrm>
            <a:off x="2086950" y="1184275"/>
            <a:ext cx="7392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71f89f91c1_0_185"/>
          <p:cNvSpPr txBox="1"/>
          <p:nvPr/>
        </p:nvSpPr>
        <p:spPr>
          <a:xfrm>
            <a:off x="2870800" y="4343100"/>
            <a:ext cx="11767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Alguma dúvida ?</a:t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prof.adrielly.sayonara@gmail.com</a:t>
            </a:r>
            <a:endParaRPr b="1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7" name="Google Shape;167;g371f89f91c1_0_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50" y="868600"/>
            <a:ext cx="9194099" cy="164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71f89f91c1_0_185"/>
          <p:cNvSpPr txBox="1"/>
          <p:nvPr/>
        </p:nvSpPr>
        <p:spPr>
          <a:xfrm>
            <a:off x="1961625" y="1276525"/>
            <a:ext cx="7871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2400">
                <a:solidFill>
                  <a:srgbClr val="7EB61F"/>
                </a:solidFill>
                <a:latin typeface="Montserrat"/>
                <a:ea typeface="Montserrat"/>
                <a:cs typeface="Montserrat"/>
                <a:sym typeface="Montserrat"/>
              </a:rPr>
              <a:t>Aula 17 — Requisitos funcionais e não funcionais - Metodologias ágeis (Scrum, Kanban)</a:t>
            </a:r>
            <a:endParaRPr b="1" sz="2400">
              <a:solidFill>
                <a:srgbClr val="7EB61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sz="2700">
              <a:solidFill>
                <a:srgbClr val="7EB6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Isaias Dias</dc:creator>
</cp:coreProperties>
</file>