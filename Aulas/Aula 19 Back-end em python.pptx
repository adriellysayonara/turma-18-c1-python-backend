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6858000" cy="9144000"/>
  <p:embeddedFontLst>
    <p:embeddedFont>
      <p:font typeface="Montserrat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jNKp7cpk8afLmWn+QrlGEWvEwH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287c6a1d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287c6a1d9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287c6a1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287c6a1d9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287c6a1d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7287c6a1d9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287c6a1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7287c6a1d9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287c6a1d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7287c6a1d9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287c6a1d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7287c6a1d9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287c6a1d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7287c6a1d9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287c6a1d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7287c6a1d9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287c6a1d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7287c6a1d9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287c6a1d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287c6a1d9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78859ed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878859ed4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287c6a1d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7287c6a1d9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287c6a1d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7287c6a1d9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287c6a1d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7287c6a1d9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287c6a1d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7287c6a1d9_0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287c6a1d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7287c6a1d9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287c6a1d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7287c6a1d9_0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287c6a1d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7287c6a1d9_0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287c6a1d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7287c6a1d9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533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96441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Reforçar os principais conceitos de Programação Orientada a Objetos (POO) em Python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Introduzir o tratamento de erros com try/except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conceitos em pequenos scripts e sistemas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Preparar base para trabalhar com APIs e sistemas robustos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7287c6a1d9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7287c6a1d9_0_3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7287c6a1d9_0_30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Adicionando métodos à classe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7287c6a1d9_0_30"/>
          <p:cNvSpPr txBox="1"/>
          <p:nvPr/>
        </p:nvSpPr>
        <p:spPr>
          <a:xfrm>
            <a:off x="1601325" y="6257675"/>
            <a:ext cx="9194100" cy="2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Criamos objetos baseados na classe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objeto tem seus próprios dados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7287c6a1d9_0_3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g37287c6a1d9_0_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0650" y="4188350"/>
            <a:ext cx="9194100" cy="126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7287c6a1d9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7287c6a1d9_0_3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7287c6a1d9_0_3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Principais conceitos da POO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7287c6a1d9_0_3"/>
          <p:cNvSpPr txBox="1"/>
          <p:nvPr/>
        </p:nvSpPr>
        <p:spPr>
          <a:xfrm>
            <a:off x="1151325" y="3809875"/>
            <a:ext cx="9644100" cy="2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 e objeto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Encapsulamento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Herança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Polimorfismo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7287c6a1d9_0_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7287c6a1d9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7287c6a1d9_0_11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7287c6a1d9_0_11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simples de classe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7287c6a1d9_0_11"/>
          <p:cNvSpPr txBox="1"/>
          <p:nvPr/>
        </p:nvSpPr>
        <p:spPr>
          <a:xfrm>
            <a:off x="1601325" y="6257675"/>
            <a:ext cx="9194100" cy="2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_init_ é o construtor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self representa o objeto atual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7287c6a1d9_0_1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37287c6a1d9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9700" y="4020950"/>
            <a:ext cx="8516950" cy="18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7287c6a1d9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7287c6a1d9_0_2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7287c6a1d9_0_20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Adicionando métodos à classe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g37287c6a1d9_0_2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7287c6a1d9_0_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6950" y="3876875"/>
            <a:ext cx="10037425" cy="28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7287c6a1d9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287c6a1d9_0_4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7287c6a1d9_0_40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Instanciando objetos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g37287c6a1d9_0_40"/>
          <p:cNvSpPr txBox="1"/>
          <p:nvPr/>
        </p:nvSpPr>
        <p:spPr>
          <a:xfrm>
            <a:off x="1601325" y="6257675"/>
            <a:ext cx="9194100" cy="2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Criamos objetos baseados na classe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objetos tem seus próprios dados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7287c6a1d9_0_4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7287c6a1d9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4825" y="4191147"/>
            <a:ext cx="11566398" cy="15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7287c6a1d9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7287c6a1d9_0_5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g37287c6a1d9_0_50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Herança em Python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g37287c6a1d9_0_50"/>
          <p:cNvSpPr txBox="1"/>
          <p:nvPr/>
        </p:nvSpPr>
        <p:spPr>
          <a:xfrm>
            <a:off x="1601325" y="6257675"/>
            <a:ext cx="9194100" cy="2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super() chama o construtor da classe pai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Reutilização de código entre classes relacionadas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7287c6a1d9_0_5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7287c6a1d9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1071" y="4142912"/>
            <a:ext cx="8847203" cy="16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7287c6a1d9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7287c6a1d9_0_6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37287c6a1d9_0_60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Herança em Python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7287c6a1d9_0_60"/>
          <p:cNvSpPr txBox="1"/>
          <p:nvPr/>
        </p:nvSpPr>
        <p:spPr>
          <a:xfrm>
            <a:off x="1601325" y="6980375"/>
            <a:ext cx="9194100" cy="2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classe pode redefinir comportamentos conforme sua lógica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7287c6a1d9_0_6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7287c6a1d9_0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0487" y="3876875"/>
            <a:ext cx="8626914" cy="267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7287c6a1d9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7287c6a1d9_0_7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g37287c6a1d9_0_70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g37287c6a1d9_0_70"/>
          <p:cNvSpPr txBox="1"/>
          <p:nvPr/>
        </p:nvSpPr>
        <p:spPr>
          <a:xfrm>
            <a:off x="1601325" y="3876875"/>
            <a:ext cx="91941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Erros acontecem! O tratamento evita falhas no programa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digitar texto, o programa quebra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7287c6a1d9_0_7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37287c6a1d9_0_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2550" y="5152275"/>
            <a:ext cx="6768300" cy="685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7287c6a1d9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7287c6a1d9_0_9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g37287c6a1d9_0_90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Estrutura básica do try/except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g37287c6a1d9_0_9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7287c6a1d9_0_90"/>
          <p:cNvSpPr txBox="1"/>
          <p:nvPr/>
        </p:nvSpPr>
        <p:spPr>
          <a:xfrm>
            <a:off x="1717475" y="4071075"/>
            <a:ext cx="8508000" cy="3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onde o erro pode ocorrer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onde tratamos o erro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executa se não houver erro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executa sempre (opcional)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7287c6a1d9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7287c6a1d9_0_8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37287c6a1d9_0_80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try/except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37287c6a1d9_0_8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g37287c6a1d9_0_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2900" y="4188350"/>
            <a:ext cx="11555750" cy="35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3878859ed4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878859ed47_0_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878859ed47_0_0"/>
          <p:cNvSpPr txBox="1"/>
          <p:nvPr/>
        </p:nvSpPr>
        <p:spPr>
          <a:xfrm>
            <a:off x="763950" y="482025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try/except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g3878859ed47_0_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878859ed47_0_0"/>
          <p:cNvPicPr preferRelativeResize="0"/>
          <p:nvPr/>
        </p:nvPicPr>
        <p:blipFill rotWithShape="1">
          <a:blip r:embed="rId5">
            <a:alphaModFix/>
          </a:blip>
          <a:srcRect b="0" l="0" r="7433" t="0"/>
          <a:stretch/>
        </p:blipFill>
        <p:spPr>
          <a:xfrm>
            <a:off x="8131325" y="2305500"/>
            <a:ext cx="5944225" cy="642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37287c6a1d9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7287c6a1d9_0_101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37287c6a1d9_0_101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com else e finally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g37287c6a1d9_0_10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7287c6a1d9_0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2650" y="3876875"/>
            <a:ext cx="8800775" cy="356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7287c6a1d9_0_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7287c6a1d9_0_11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g37287c6a1d9_0_110"/>
          <p:cNvSpPr txBox="1"/>
          <p:nvPr/>
        </p:nvSpPr>
        <p:spPr>
          <a:xfrm>
            <a:off x="1151325" y="3028800"/>
            <a:ext cx="103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1 - Tratamento de Erros de Entrada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g37287c6a1d9_0_11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7287c6a1d9_0_110"/>
          <p:cNvSpPr txBox="1"/>
          <p:nvPr/>
        </p:nvSpPr>
        <p:spPr>
          <a:xfrm>
            <a:off x="1757250" y="4071075"/>
            <a:ext cx="83886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 um programa que: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Solicita dois números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 a divisão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Trata divisão por zero e entradas inválidas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7287c6a1d9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7287c6a1d9_0_12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g37287c6a1d9_0_120"/>
          <p:cNvSpPr txBox="1"/>
          <p:nvPr/>
        </p:nvSpPr>
        <p:spPr>
          <a:xfrm>
            <a:off x="1151325" y="3028800"/>
            <a:ext cx="103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2 - Classe com tratamento interno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37287c6a1d9_0_12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7287c6a1d9_0_120"/>
          <p:cNvSpPr txBox="1"/>
          <p:nvPr/>
        </p:nvSpPr>
        <p:spPr>
          <a:xfrm>
            <a:off x="1757250" y="4071075"/>
            <a:ext cx="83886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uma classe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Pessoa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para definir idade via input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Tratamento de erros com try/except dentro do método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7287c6a1d9_0_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7287c6a1d9_0_129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g37287c6a1d9_0_129"/>
          <p:cNvSpPr txBox="1"/>
          <p:nvPr/>
        </p:nvSpPr>
        <p:spPr>
          <a:xfrm>
            <a:off x="1151325" y="3028800"/>
            <a:ext cx="103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3 - Cadastro de produtos com validação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g37287c6a1d9_0_12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7287c6a1d9_0_129"/>
          <p:cNvSpPr txBox="1"/>
          <p:nvPr/>
        </p:nvSpPr>
        <p:spPr>
          <a:xfrm>
            <a:off x="1757250" y="4071075"/>
            <a:ext cx="83886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uma classe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cadastrar()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pede nome e preço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 o preço com try/except (float e valor positivo)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7287c6a1d9_0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7287c6a1d9_0_138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g37287c6a1d9_0_138"/>
          <p:cNvSpPr txBox="1"/>
          <p:nvPr/>
        </p:nvSpPr>
        <p:spPr>
          <a:xfrm>
            <a:off x="1151325" y="3028800"/>
            <a:ext cx="103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Agora é sua vez!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g37287c6a1d9_0_13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7287c6a1d9_0_138"/>
          <p:cNvSpPr txBox="1"/>
          <p:nvPr/>
        </p:nvSpPr>
        <p:spPr>
          <a:xfrm>
            <a:off x="1757250" y="4071075"/>
            <a:ext cx="83886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Apresentem suas soluções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Quais melhorias podemos fazer?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7287c6a1d9_0_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7287c6a1d9_0_147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g37287c6a1d9_0_147"/>
          <p:cNvSpPr txBox="1"/>
          <p:nvPr/>
        </p:nvSpPr>
        <p:spPr>
          <a:xfrm>
            <a:off x="1151325" y="3028800"/>
            <a:ext cx="103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Boas práticas com try/except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g37287c6a1d9_0_14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7287c6a1d9_0_147"/>
          <p:cNvSpPr txBox="1"/>
          <p:nvPr/>
        </p:nvSpPr>
        <p:spPr>
          <a:xfrm>
            <a:off x="1757250" y="4071075"/>
            <a:ext cx="83886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Nunca usar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genérico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Especifique o tipo de exceção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Evite capturar exceções e não fazer nada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Mantenha o código limpo e previsível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g37287c6a1d9_0_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7287c6a1d9_0_156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g37287c6a1d9_0_156"/>
          <p:cNvSpPr txBox="1"/>
          <p:nvPr/>
        </p:nvSpPr>
        <p:spPr>
          <a:xfrm>
            <a:off x="1151325" y="3028800"/>
            <a:ext cx="103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g37287c6a1d9_0_15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7287c6a1d9_0_156"/>
          <p:cNvSpPr txBox="1"/>
          <p:nvPr/>
        </p:nvSpPr>
        <p:spPr>
          <a:xfrm>
            <a:off x="1757250" y="4071075"/>
            <a:ext cx="88656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Revisamos os pilares da POO em Python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Aprendemos a tratar erros com try/except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Usamos POO + exceções em exercícios práticos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Próxima aula: Testes de unidade com métodos OO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g37287c6a1d9_0_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7287c6a1d9_0_173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19 - Revisão de POO + Tratamento de Exceções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g37287c6a1d9_0_173"/>
          <p:cNvSpPr txBox="1"/>
          <p:nvPr/>
        </p:nvSpPr>
        <p:spPr>
          <a:xfrm>
            <a:off x="1151325" y="3028800"/>
            <a:ext cx="103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Materiais e Referências Online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g37287c6a1d9_0_17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7287c6a1d9_0_173"/>
          <p:cNvSpPr txBox="1"/>
          <p:nvPr/>
        </p:nvSpPr>
        <p:spPr>
          <a:xfrm>
            <a:off x="1757250" y="4071075"/>
            <a:ext cx="107739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Curso POO Python – Curso em Vídeo: 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https://www.youtube.com/@CursoemVideo</a:t>
            </a:r>
            <a:endParaRPr b="0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Documentação oficial do Python: 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https://docs.python.org/pt-br/3/tutorial/errors.html</a:t>
            </a:r>
            <a:endParaRPr b="0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Livro: Use a Cabeça! Programação Orientada a Objetos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PythonBrasil + comunidades: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https://python.org.br/comunidade</a:t>
            </a:r>
            <a:endParaRPr b="0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71f89f91c1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8" name="Google Shape;278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71f89f91c1_0_185"/>
          <p:cNvSpPr txBox="1"/>
          <p:nvPr/>
        </p:nvSpPr>
        <p:spPr>
          <a:xfrm>
            <a:off x="2086950" y="1276525"/>
            <a:ext cx="77217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09 – Branches, Merge e Conflitos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com Git + GitHub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