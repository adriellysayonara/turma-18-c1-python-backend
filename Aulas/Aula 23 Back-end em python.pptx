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10287000" cx="18288000"/>
  <p:notesSz cx="6858000" cy="9144000"/>
  <p:embeddedFontLst>
    <p:embeddedFont>
      <p:font typeface="Montserrat"/>
      <p:regular r:id="rId40"/>
      <p:bold r:id="rId41"/>
      <p:italic r:id="rId42"/>
      <p:boldItalic r:id="rId43"/>
    </p:embeddedFont>
    <p:embeddedFont>
      <p:font typeface="Roboto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j7klyWnYL6u3S68uH7BOHsfKeK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C861B4-AAF0-4BE7-9231-295936522F96}">
  <a:tblStyle styleId="{36C861B4-AAF0-4BE7-9231-295936522F9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4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6.xml"/><Relationship Id="rId44" Type="http://schemas.openxmlformats.org/officeDocument/2006/relationships/font" Target="fonts/RobotoMono-regular.fntdata"/><Relationship Id="rId21" Type="http://schemas.openxmlformats.org/officeDocument/2006/relationships/slide" Target="slides/slide15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8.xml"/><Relationship Id="rId46" Type="http://schemas.openxmlformats.org/officeDocument/2006/relationships/font" Target="fonts/RobotoMono-italic.fntdata"/><Relationship Id="rId23" Type="http://schemas.openxmlformats.org/officeDocument/2006/relationships/slide" Target="slides/slide17.xml"/><Relationship Id="rId45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RobotoMon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57486477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457486477d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57486477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457486477d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57486477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457486477d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57486477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457486477d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96de5aad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896de5aad6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96de5aad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896de5aad6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96de5aa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896de5aad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96de5aad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896de5aad6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96de5aa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896de5aad6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57486477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457486477d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6de5aad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896de5aad6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7750087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777500878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77500878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7775008780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77500878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7775008780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77500878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7775008780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77500878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7775008780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77500878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7775008780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77500878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7775008780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77500878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7775008780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77500878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7775008780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77500878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7775008780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77500878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7775008780_0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77500878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g37775008780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77500878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g37775008780_0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77500878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7775008780_0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77500878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7775008780_0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77500878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g37775008780_0_1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77500878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g37775008780_0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777500878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g37775008780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8775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</a:t>
            </a:r>
            <a:r>
              <a:rPr b="1" lang="en-US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drielly sayonara 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9644100" cy="47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tabelas com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 TABLE</a:t>
            </a:r>
            <a:b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 dados com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 INTO</a:t>
            </a:r>
            <a:b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Consultar dados com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b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Praticar no SQLite ou PostgreSQL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457486477d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457486477d_0_1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457486477d_0_1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que é SQL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3457486477d_0_1"/>
          <p:cNvSpPr txBox="1"/>
          <p:nvPr/>
        </p:nvSpPr>
        <p:spPr>
          <a:xfrm>
            <a:off x="1151325" y="3809875"/>
            <a:ext cx="13400700" cy="4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Structured Query Language (Linguagem de Consulta Estruturada).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 para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criar, manipular e consultar dados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bancos relacionais.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 em SGBDs como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SQLite, PostgreSQL, MySQL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457486477d_0_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457486477d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457486477d_0_10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457486477d_0_10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Categorias de Comandos  SQL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457486477d_0_1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g3457486477d_0_10"/>
          <p:cNvGraphicFramePr/>
          <p:nvPr/>
        </p:nvGraphicFramePr>
        <p:xfrm>
          <a:off x="957100" y="410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{36C861B4-AAF0-4BE7-9231-295936522F96}</a:tableStyleId>
              </a:tblPr>
              <a:tblGrid>
                <a:gridCol w="2979175"/>
                <a:gridCol w="4479825"/>
                <a:gridCol w="4682075"/>
              </a:tblGrid>
              <a:tr h="715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Categoria (Sigla)</a:t>
                      </a:r>
                      <a:endParaRPr b="1" sz="2500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Propósito Principal</a:t>
                      </a:r>
                      <a:endParaRPr b="1" sz="2500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Comandos de Exemplo</a:t>
                      </a:r>
                      <a:endParaRPr b="1" sz="2500"/>
                    </a:p>
                  </a:txBody>
                  <a:tcPr marT="19050" marB="19050" marR="91425" marL="91425" anchor="ctr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72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DDL</a:t>
                      </a:r>
                      <a:endParaRPr sz="25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Definir a estrutura do banco</a:t>
                      </a:r>
                      <a:endParaRPr sz="25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CREATE, ALTER, DROP</a:t>
                      </a:r>
                      <a:endParaRPr sz="2500"/>
                    </a:p>
                  </a:txBody>
                  <a:tcPr marT="19050" marB="19050" marR="91425" marL="9142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DQL</a:t>
                      </a:r>
                      <a:endParaRPr sz="25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Consultar os dados</a:t>
                      </a:r>
                      <a:endParaRPr sz="25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SELECT</a:t>
                      </a:r>
                      <a:endParaRPr sz="25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DML</a:t>
                      </a:r>
                      <a:endParaRPr sz="25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Manipular os dados (linhas)</a:t>
                      </a:r>
                      <a:endParaRPr sz="25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INSERT, UPDATE, DELETE</a:t>
                      </a:r>
                      <a:endParaRPr sz="2500"/>
                    </a:p>
                  </a:txBody>
                  <a:tcPr marT="19050" marB="19050" marR="91425" marL="9142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1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DCL</a:t>
                      </a:r>
                      <a:endParaRPr sz="25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Controlar permissões de acesso</a:t>
                      </a:r>
                      <a:endParaRPr sz="25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GRANT, REVOKE</a:t>
                      </a:r>
                      <a:endParaRPr sz="2500"/>
                    </a:p>
                  </a:txBody>
                  <a:tcPr marT="19050" marB="19050" marR="91425" marL="9142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TCL</a:t>
                      </a:r>
                      <a:endParaRPr sz="25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Gerenciar transações</a:t>
                      </a:r>
                      <a:endParaRPr sz="25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COMMIT, ROLLBACK</a:t>
                      </a:r>
                      <a:endParaRPr sz="2500"/>
                    </a:p>
                  </a:txBody>
                  <a:tcPr marT="19050" marB="19050" marR="91425" marL="91425" anchor="b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457486477d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457486477d_0_1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g3457486477d_0_1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Ambiente de Prática 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3457486477d_0_19"/>
          <p:cNvSpPr txBox="1"/>
          <p:nvPr/>
        </p:nvSpPr>
        <p:spPr>
          <a:xfrm>
            <a:off x="1151325" y="3809875"/>
            <a:ext cx="13400700" cy="51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usar: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leve, simples, roda em arquivo.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robusto, usado em produção.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SQLite com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sqlite3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terminal ou no Python.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457486477d_0_1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457486477d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457486477d_0_28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3457486477d_0_28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CREATE TABLE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457486477d_0_28"/>
          <p:cNvSpPr txBox="1"/>
          <p:nvPr/>
        </p:nvSpPr>
        <p:spPr>
          <a:xfrm>
            <a:off x="1151325" y="3809875"/>
            <a:ext cx="13400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tabelas no banco de dados.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457486477d_0_2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457486477d_0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1725" y="4813550"/>
            <a:ext cx="6126475" cy="323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3896de5aad6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896de5aad6_0_14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g3896de5aad6_0_14"/>
          <p:cNvSpPr txBox="1"/>
          <p:nvPr/>
        </p:nvSpPr>
        <p:spPr>
          <a:xfrm>
            <a:off x="1086100" y="2679738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TIPOS DE DADOS EM SQLite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g3896de5aad6_0_14"/>
          <p:cNvSpPr txBox="1"/>
          <p:nvPr/>
        </p:nvSpPr>
        <p:spPr>
          <a:xfrm>
            <a:off x="1086100" y="3460813"/>
            <a:ext cx="13400700" cy="3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Tipos de Texto (Strings)</a:t>
            </a:r>
            <a:endParaRPr b="1"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Usados para armazenar qualquer tipo de caractere, de uma única letra a um livro inteiro.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AutoNum type="arabicPeriod"/>
            </a:pP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CHAR(n)</a:t>
            </a:r>
            <a:r>
              <a:rPr lang="en-US" sz="2500">
                <a:solidFill>
                  <a:schemeClr val="dk1"/>
                </a:solidFill>
              </a:rPr>
              <a:t>: Armazena um texto de </a:t>
            </a:r>
            <a:r>
              <a:rPr b="1" lang="en-US" sz="2500">
                <a:solidFill>
                  <a:schemeClr val="dk1"/>
                </a:solidFill>
              </a:rPr>
              <a:t>tamanho fixo</a:t>
            </a:r>
            <a:r>
              <a:rPr lang="en-US" sz="2500">
                <a:solidFill>
                  <a:schemeClr val="dk1"/>
                </a:solidFill>
              </a:rPr>
              <a:t>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VARCHAR(n)</a:t>
            </a:r>
            <a:r>
              <a:rPr lang="en-US" sz="2500">
                <a:solidFill>
                  <a:schemeClr val="dk1"/>
                </a:solidFill>
              </a:rPr>
              <a:t>: Armazena um texto de </a:t>
            </a:r>
            <a:r>
              <a:rPr b="1" lang="en-US" sz="2500">
                <a:solidFill>
                  <a:schemeClr val="dk1"/>
                </a:solidFill>
              </a:rPr>
              <a:t>tamanho variável</a:t>
            </a:r>
            <a:r>
              <a:rPr lang="en-US" sz="2500">
                <a:solidFill>
                  <a:schemeClr val="dk1"/>
                </a:solidFill>
              </a:rPr>
              <a:t> até um limite máximo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endParaRPr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-US" sz="2500">
                <a:solidFill>
                  <a:schemeClr val="dk1"/>
                </a:solidFill>
              </a:rPr>
              <a:t>: Usado para armazenar textos longos, sem um limite de tamanho predefinido</a:t>
            </a:r>
            <a:endParaRPr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0" name="Google Shape;140;g3896de5aad6_0_1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3896de5aad6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14050" y="6987450"/>
            <a:ext cx="5737742" cy="2371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896de5aad6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896de5aad6_0_26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3896de5aad6_0_26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TIPOS DE DADOS EM SQLite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g3896de5aad6_0_26"/>
          <p:cNvSpPr txBox="1"/>
          <p:nvPr/>
        </p:nvSpPr>
        <p:spPr>
          <a:xfrm>
            <a:off x="1151325" y="3809875"/>
            <a:ext cx="13400700" cy="4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Tipos Numéricos</a:t>
            </a:r>
            <a:endParaRPr b="1"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Usados para armazenar números. Eles se dividem em dois grupos: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Números Inteiros: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INTEGER</a:t>
            </a:r>
            <a:r>
              <a:rPr lang="en-US" sz="2500">
                <a:solidFill>
                  <a:schemeClr val="dk1"/>
                </a:solidFill>
              </a:rPr>
              <a:t> ou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2500">
                <a:solidFill>
                  <a:schemeClr val="dk1"/>
                </a:solidFill>
              </a:rPr>
              <a:t>: Para números inteiros, sem casas decimais. Ideal para IDs, contagens, idade, etc.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>
                <a:solidFill>
                  <a:schemeClr val="dk1"/>
                </a:solidFill>
              </a:rPr>
              <a:t>Existem variações como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TINYINT</a:t>
            </a:r>
            <a:r>
              <a:rPr lang="en-US" sz="2500">
                <a:solidFill>
                  <a:schemeClr val="dk1"/>
                </a:solidFill>
              </a:rPr>
              <a:t>,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SMALLINT</a:t>
            </a:r>
            <a:r>
              <a:rPr lang="en-US" sz="2500">
                <a:solidFill>
                  <a:schemeClr val="dk1"/>
                </a:solidFill>
              </a:rPr>
              <a:t>,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BIGINT</a:t>
            </a:r>
            <a:r>
              <a:rPr lang="en-US" sz="2500">
                <a:solidFill>
                  <a:schemeClr val="dk1"/>
                </a:solidFill>
              </a:rPr>
              <a:t> para otimizar o espaço (números pequenos ou muito grandes).</a:t>
            </a:r>
            <a:endParaRPr b="1"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g3896de5aad6_0_2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3896de5aad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896de5aad6_0_0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g3896de5aad6_0_0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TIPOS DE DADOS EM SQLite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g3896de5aad6_0_0"/>
          <p:cNvSpPr txBox="1"/>
          <p:nvPr/>
        </p:nvSpPr>
        <p:spPr>
          <a:xfrm>
            <a:off x="1151325" y="3809875"/>
            <a:ext cx="13400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Números com Ponto Flutuante (Decimais)</a:t>
            </a:r>
            <a:endParaRPr b="1" sz="2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AutoNum type="arabicPeriod"/>
            </a:pP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DECIMAL(p, s)</a:t>
            </a:r>
            <a:r>
              <a:rPr lang="en-US" sz="2500">
                <a:solidFill>
                  <a:schemeClr val="dk1"/>
                </a:solidFill>
              </a:rPr>
              <a:t> ou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NUMERIC(p, s)</a:t>
            </a:r>
            <a:r>
              <a:rPr lang="en-US" sz="2500">
                <a:solidFill>
                  <a:schemeClr val="dk1"/>
                </a:solidFill>
              </a:rPr>
              <a:t>: Para números com </a:t>
            </a:r>
            <a:r>
              <a:rPr b="1" lang="en-US" sz="2500">
                <a:solidFill>
                  <a:schemeClr val="dk1"/>
                </a:solidFill>
              </a:rPr>
              <a:t>precisão exata</a:t>
            </a:r>
            <a:r>
              <a:rPr lang="en-US" sz="2500">
                <a:solidFill>
                  <a:schemeClr val="dk1"/>
                </a:solidFill>
              </a:rPr>
              <a:t>.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n-US" sz="2500">
                <a:solidFill>
                  <a:schemeClr val="dk1"/>
                </a:solidFill>
              </a:rPr>
              <a:t> é o total de dígitos e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500">
                <a:solidFill>
                  <a:schemeClr val="dk1"/>
                </a:solidFill>
              </a:rPr>
              <a:t> é o número de dígitos após a vírgula.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FLOAT</a:t>
            </a:r>
            <a:r>
              <a:rPr lang="en-US" sz="2500">
                <a:solidFill>
                  <a:schemeClr val="dk1"/>
                </a:solidFill>
              </a:rPr>
              <a:t> e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REAL</a:t>
            </a:r>
            <a:r>
              <a:rPr lang="en-US" sz="2500">
                <a:solidFill>
                  <a:schemeClr val="dk1"/>
                </a:solidFill>
              </a:rPr>
              <a:t>: Para números com </a:t>
            </a:r>
            <a:r>
              <a:rPr b="1" lang="en-US" sz="2500">
                <a:solidFill>
                  <a:schemeClr val="dk1"/>
                </a:solidFill>
              </a:rPr>
              <a:t>precisão aproximada</a:t>
            </a:r>
            <a:r>
              <a:rPr lang="en-US" sz="2500">
                <a:solidFill>
                  <a:schemeClr val="dk1"/>
                </a:solidFill>
              </a:rPr>
              <a:t>. 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59" name="Google Shape;159;g3896de5aad6_0_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896de5aad6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7150" y="6087825"/>
            <a:ext cx="6361903" cy="2647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896de5aad6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896de5aad6_0_38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g3896de5aad6_0_38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TIPOS DE DADOS EM SQLite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g3896de5aad6_0_38"/>
          <p:cNvSpPr txBox="1"/>
          <p:nvPr/>
        </p:nvSpPr>
        <p:spPr>
          <a:xfrm>
            <a:off x="1151325" y="3809875"/>
            <a:ext cx="13400700" cy="3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Tipos de Data e Hora</a:t>
            </a:r>
            <a:endParaRPr b="1" sz="2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Usados para armazenar informações temporais.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AutoNum type="arabicPeriod"/>
            </a:pP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lang="en-US" sz="2500">
                <a:solidFill>
                  <a:schemeClr val="dk1"/>
                </a:solidFill>
              </a:rPr>
              <a:t>:</a:t>
            </a:r>
            <a:r>
              <a:rPr lang="en-US" sz="2500">
                <a:solidFill>
                  <a:schemeClr val="dk1"/>
                </a:solidFill>
              </a:rPr>
              <a:t> </a:t>
            </a:r>
            <a:r>
              <a:rPr lang="en-US" sz="2500">
                <a:solidFill>
                  <a:schemeClr val="dk1"/>
                </a:solidFill>
              </a:rPr>
              <a:t>Armazena apenas a data (ano, mês, dia). Ex: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'2025-10-07'</a:t>
            </a:r>
            <a:r>
              <a:rPr lang="en-US" sz="2500">
                <a:solidFill>
                  <a:schemeClr val="dk1"/>
                </a:solidFill>
              </a:rPr>
              <a:t>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TIME</a:t>
            </a:r>
            <a:r>
              <a:rPr lang="en-US" sz="2500">
                <a:solidFill>
                  <a:schemeClr val="dk1"/>
                </a:solidFill>
              </a:rPr>
              <a:t>: Armazena apenas a hora (hora, minuto, segundo). Ex: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'08:50:14'</a:t>
            </a:r>
            <a:r>
              <a:rPr lang="en-US" sz="2500">
                <a:solidFill>
                  <a:schemeClr val="dk1"/>
                </a:solidFill>
              </a:rPr>
              <a:t>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en-US" sz="2500">
                <a:solidFill>
                  <a:schemeClr val="dk1"/>
                </a:solidFill>
              </a:rPr>
              <a:t> ou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TIMESTAMP</a:t>
            </a:r>
            <a:r>
              <a:rPr lang="en-US" sz="2500">
                <a:solidFill>
                  <a:schemeClr val="dk1"/>
                </a:solidFill>
              </a:rPr>
              <a:t>: Armazena a data e a hora juntas. Ex: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'2025-10-07 08:50:14'</a:t>
            </a:r>
            <a:r>
              <a:rPr lang="en-US" sz="2500">
                <a:solidFill>
                  <a:schemeClr val="dk1"/>
                </a:solidFill>
              </a:rPr>
              <a:t>. A diferença entre eles varia entre os sistemas, mas a função é a mesma.</a:t>
            </a:r>
            <a:endParaRPr sz="2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69" name="Google Shape;169;g3896de5aad6_0_3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896de5aad6_0_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83325" y="7233600"/>
            <a:ext cx="6196625" cy="2344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896de5aad6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896de5aad6_0_50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g3896de5aad6_0_50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TIPOS DE DADOS EM SQLite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g3896de5aad6_0_50"/>
          <p:cNvSpPr txBox="1"/>
          <p:nvPr/>
        </p:nvSpPr>
        <p:spPr>
          <a:xfrm>
            <a:off x="1151325" y="3809875"/>
            <a:ext cx="13400700" cy="3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Tipos Booleanos (Lógicos)</a:t>
            </a:r>
            <a:endParaRPr b="1" sz="2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Usados para armazenar </a:t>
            </a:r>
            <a:r>
              <a:rPr lang="en-US" sz="2500">
                <a:solidFill>
                  <a:schemeClr val="dk1"/>
                </a:solidFill>
              </a:rPr>
              <a:t>valores de verdadeiro ou falso.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n-US" sz="2500">
                <a:solidFill>
                  <a:schemeClr val="dk1"/>
                </a:solidFill>
              </a:rPr>
              <a:t> ou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BOOL</a:t>
            </a:r>
            <a:r>
              <a:rPr lang="en-US" sz="2500">
                <a:solidFill>
                  <a:schemeClr val="dk1"/>
                </a:solidFill>
              </a:rPr>
              <a:t>: Representa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US" sz="2500">
                <a:solidFill>
                  <a:schemeClr val="dk1"/>
                </a:solidFill>
              </a:rPr>
              <a:t> ou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US" sz="2500">
                <a:solidFill>
                  <a:schemeClr val="dk1"/>
                </a:solidFill>
              </a:rPr>
              <a:t>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b="1" lang="en-US" sz="2500">
                <a:solidFill>
                  <a:schemeClr val="dk1"/>
                </a:solidFill>
              </a:rPr>
              <a:t>Observação sobre o SQLite:</a:t>
            </a:r>
            <a:r>
              <a:rPr lang="en-US" sz="2500">
                <a:solidFill>
                  <a:schemeClr val="dk1"/>
                </a:solidFill>
              </a:rPr>
              <a:t> O SQLite não tem um tipo booleano nativo. A prática comum é usar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INTEGER</a:t>
            </a:r>
            <a:r>
              <a:rPr lang="en-US" sz="2500">
                <a:solidFill>
                  <a:schemeClr val="dk1"/>
                </a:solidFill>
              </a:rPr>
              <a:t>, onde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2500">
                <a:solidFill>
                  <a:schemeClr val="dk1"/>
                </a:solidFill>
              </a:rPr>
              <a:t> representa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US" sz="2500">
                <a:solidFill>
                  <a:schemeClr val="dk1"/>
                </a:solidFill>
              </a:rPr>
              <a:t> e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2500">
                <a:solidFill>
                  <a:schemeClr val="dk1"/>
                </a:solidFill>
              </a:rPr>
              <a:t> representa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US" sz="2500">
                <a:solidFill>
                  <a:schemeClr val="dk1"/>
                </a:solidFill>
              </a:rPr>
              <a:t>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79" name="Google Shape;179;g3896de5aad6_0_5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3896de5aad6_0_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1813" y="6815950"/>
            <a:ext cx="10984375" cy="1777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457486477d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457486477d_0_38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3457486477d_0_38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Restrições em CREATE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g3457486477d_0_38"/>
          <p:cNvSpPr txBox="1"/>
          <p:nvPr/>
        </p:nvSpPr>
        <p:spPr>
          <a:xfrm>
            <a:off x="1151325" y="3809875"/>
            <a:ext cx="134007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identifica único registro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NULL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campo obrigatório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UNIQUE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não pode repetir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referencia outra tabela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CHECK </a:t>
            </a:r>
            <a:r>
              <a:rPr lang="en-US" sz="2500">
                <a:solidFill>
                  <a:schemeClr val="dk1"/>
                </a:solidFill>
              </a:rPr>
              <a:t>→ Garante que os valores em uma coluna satisfaçam uma condição específica que você define.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DEFAULT </a:t>
            </a:r>
            <a:r>
              <a:rPr lang="en-US" sz="2500">
                <a:solidFill>
                  <a:schemeClr val="dk1"/>
                </a:solidFill>
              </a:rPr>
              <a:t>→ Define um valor padrão para uma coluna caso nenhum valor seja fornecido durante um INSERT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457486477d_0_3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3896de5aad6_0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896de5aad6_0_68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g3896de5aad6_0_68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Restrições em CREATE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g3896de5aad6_0_6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896de5aad6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6950" y="4188350"/>
            <a:ext cx="12506374" cy="29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777500878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7775008780_0_0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g37775008780_0_0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com FK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37775008780_0_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777500878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5650" y="3958325"/>
            <a:ext cx="7484500" cy="415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7775008780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7775008780_0_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g37775008780_0_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INSERT INTO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g37775008780_0_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7775008780_0_9"/>
          <p:cNvSpPr txBox="1"/>
          <p:nvPr/>
        </p:nvSpPr>
        <p:spPr>
          <a:xfrm>
            <a:off x="1402075" y="4066900"/>
            <a:ext cx="1336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adicionar novas linhas (ou registros) de dados a uma tabela que já existe.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g37775008780_0_9"/>
          <p:cNvPicPr preferRelativeResize="0"/>
          <p:nvPr/>
        </p:nvPicPr>
        <p:blipFill rotWithShape="1">
          <a:blip r:embed="rId5">
            <a:alphaModFix/>
          </a:blip>
          <a:srcRect b="0" l="0" r="0" t="21500"/>
          <a:stretch/>
        </p:blipFill>
        <p:spPr>
          <a:xfrm>
            <a:off x="4855575" y="5372900"/>
            <a:ext cx="7263900" cy="261120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37775008780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7775008780_0_1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g37775008780_0_1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INSE</a:t>
            </a: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 Múltiplo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37775008780_0_1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7775008780_0_19"/>
          <p:cNvSpPr txBox="1"/>
          <p:nvPr/>
        </p:nvSpPr>
        <p:spPr>
          <a:xfrm>
            <a:off x="1402075" y="4066900"/>
            <a:ext cx="736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inserir múltiplos registros na tabela.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g37775008780_0_19"/>
          <p:cNvPicPr preferRelativeResize="0"/>
          <p:nvPr/>
        </p:nvPicPr>
        <p:blipFill rotWithShape="1">
          <a:blip r:embed="rId5">
            <a:alphaModFix/>
          </a:blip>
          <a:srcRect b="0" l="0" r="0" t="26959"/>
          <a:stretch/>
        </p:blipFill>
        <p:spPr>
          <a:xfrm>
            <a:off x="4376025" y="5372903"/>
            <a:ext cx="9194100" cy="26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g37775008780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7775008780_0_2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g37775008780_0_2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SELECT Básico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g37775008780_0_2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7775008780_0_29"/>
          <p:cNvSpPr txBox="1"/>
          <p:nvPr/>
        </p:nvSpPr>
        <p:spPr>
          <a:xfrm>
            <a:off x="1402075" y="4066900"/>
            <a:ext cx="1049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selecionar todas as colunas de uma tabela, usamos o asterisco (*), que é um coringa para "tudo".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g37775008780_0_29"/>
          <p:cNvPicPr preferRelativeResize="0"/>
          <p:nvPr/>
        </p:nvPicPr>
        <p:blipFill rotWithShape="1">
          <a:blip r:embed="rId5">
            <a:alphaModFix/>
          </a:blip>
          <a:srcRect b="0" l="0" r="58704" t="0"/>
          <a:stretch/>
        </p:blipFill>
        <p:spPr>
          <a:xfrm>
            <a:off x="1242693" y="5728250"/>
            <a:ext cx="6525825" cy="10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g37775008780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7775008780_0_3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g37775008780_0_3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SELECT com Colunas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g37775008780_0_3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7775008780_0_39"/>
          <p:cNvSpPr txBox="1"/>
          <p:nvPr/>
        </p:nvSpPr>
        <p:spPr>
          <a:xfrm>
            <a:off x="1402075" y="4066900"/>
            <a:ext cx="544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g37775008780_0_39"/>
          <p:cNvPicPr preferRelativeResize="0"/>
          <p:nvPr/>
        </p:nvPicPr>
        <p:blipFill rotWithShape="1">
          <a:blip r:embed="rId5">
            <a:alphaModFix/>
          </a:blip>
          <a:srcRect b="0" l="0" r="0" t="31623"/>
          <a:stretch/>
        </p:blipFill>
        <p:spPr>
          <a:xfrm>
            <a:off x="3331200" y="5372900"/>
            <a:ext cx="10815475" cy="206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7775008780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7775008780_0_4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g37775008780_0_4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SELECT com WHERE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g37775008780_0_4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7775008780_0_49"/>
          <p:cNvSpPr txBox="1"/>
          <p:nvPr/>
        </p:nvSpPr>
        <p:spPr>
          <a:xfrm>
            <a:off x="1402075" y="4066900"/>
            <a:ext cx="544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g37775008780_0_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3325" y="4188350"/>
            <a:ext cx="11031311" cy="3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g37775008780_0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7775008780_0_5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g37775008780_0_5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SELECT com ORDER BY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g37775008780_0_5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7775008780_0_59"/>
          <p:cNvSpPr txBox="1"/>
          <p:nvPr/>
        </p:nvSpPr>
        <p:spPr>
          <a:xfrm>
            <a:off x="1402075" y="4066900"/>
            <a:ext cx="544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g37775008780_0_59"/>
          <p:cNvPicPr preferRelativeResize="0"/>
          <p:nvPr/>
        </p:nvPicPr>
        <p:blipFill rotWithShape="1">
          <a:blip r:embed="rId5">
            <a:alphaModFix/>
          </a:blip>
          <a:srcRect b="0" l="0" r="0" t="28124"/>
          <a:stretch/>
        </p:blipFill>
        <p:spPr>
          <a:xfrm>
            <a:off x="3951075" y="5503400"/>
            <a:ext cx="10559850" cy="236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7775008780_0_59"/>
          <p:cNvSpPr txBox="1"/>
          <p:nvPr/>
        </p:nvSpPr>
        <p:spPr>
          <a:xfrm>
            <a:off x="1121850" y="3849475"/>
            <a:ext cx="9194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Você adiciona o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 BY</a:t>
            </a:r>
            <a:r>
              <a:rPr lang="en-US" sz="2500">
                <a:solidFill>
                  <a:schemeClr val="dk1"/>
                </a:solidFill>
              </a:rPr>
              <a:t> no final da sua consulta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US" sz="2500">
                <a:solidFill>
                  <a:schemeClr val="dk1"/>
                </a:solidFill>
              </a:rPr>
              <a:t>, seguido pelo nome da coluna pela qual você quer ordenar.</a:t>
            </a:r>
            <a:endParaRPr sz="2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g37775008780_0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7775008780_0_6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g37775008780_0_6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SELECT com LIMIT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g37775008780_0_6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7775008780_0_69"/>
          <p:cNvSpPr txBox="1"/>
          <p:nvPr/>
        </p:nvSpPr>
        <p:spPr>
          <a:xfrm>
            <a:off x="1402075" y="4066900"/>
            <a:ext cx="1045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A cláusula </a:t>
            </a:r>
            <a:r>
              <a:rPr b="1"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LIMIT</a:t>
            </a:r>
            <a:r>
              <a:rPr lang="en-US" sz="2500">
                <a:solidFill>
                  <a:schemeClr val="dk1"/>
                </a:solidFill>
              </a:rPr>
              <a:t> é usada para restringir o número de linhas que uma consulta </a:t>
            </a:r>
            <a:r>
              <a:rPr lang="en-US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US" sz="2500">
                <a:solidFill>
                  <a:schemeClr val="dk1"/>
                </a:solidFill>
              </a:rPr>
              <a:t> retorna.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g37775008780_0_69"/>
          <p:cNvPicPr preferRelativeResize="0"/>
          <p:nvPr/>
        </p:nvPicPr>
        <p:blipFill rotWithShape="1">
          <a:blip r:embed="rId5">
            <a:alphaModFix/>
          </a:blip>
          <a:srcRect b="0" l="0" r="0" t="32659"/>
          <a:stretch/>
        </p:blipFill>
        <p:spPr>
          <a:xfrm>
            <a:off x="4241175" y="5372897"/>
            <a:ext cx="9805650" cy="24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7775008780_0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7775008780_0_7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g37775008780_0_7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SELECT com JOIN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g37775008780_0_7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7775008780_0_79"/>
          <p:cNvSpPr txBox="1"/>
          <p:nvPr/>
        </p:nvSpPr>
        <p:spPr>
          <a:xfrm>
            <a:off x="1402075" y="4066900"/>
            <a:ext cx="544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g37775008780_0_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69775" y="4785375"/>
            <a:ext cx="11016375" cy="31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37775008780_0_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7775008780_0_8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g37775008780_0_89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Operadores em SELECT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g37775008780_0_8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7775008780_0_89"/>
          <p:cNvSpPr txBox="1"/>
          <p:nvPr/>
        </p:nvSpPr>
        <p:spPr>
          <a:xfrm>
            <a:off x="1402075" y="4066900"/>
            <a:ext cx="544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7775008780_0_89"/>
          <p:cNvSpPr txBox="1"/>
          <p:nvPr/>
        </p:nvSpPr>
        <p:spPr>
          <a:xfrm>
            <a:off x="1793975" y="4110450"/>
            <a:ext cx="11234100" cy="4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maior que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menor que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igual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&lt;&gt;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diferente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LIKE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padrões (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'%texto%'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37775008780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7775008780_0_120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g37775008780_0_120"/>
          <p:cNvSpPr txBox="1"/>
          <p:nvPr/>
        </p:nvSpPr>
        <p:spPr>
          <a:xfrm>
            <a:off x="1151325" y="3028800"/>
            <a:ext cx="81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Funções Agregadas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g37775008780_0_12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7775008780_0_120"/>
          <p:cNvSpPr txBox="1"/>
          <p:nvPr/>
        </p:nvSpPr>
        <p:spPr>
          <a:xfrm>
            <a:off x="1402075" y="4066900"/>
            <a:ext cx="544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g37775008780_0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4480550"/>
            <a:ext cx="8556175" cy="30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g37775008780_0_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7775008780_0_110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g37775008780_0_110"/>
          <p:cNvSpPr txBox="1"/>
          <p:nvPr/>
        </p:nvSpPr>
        <p:spPr>
          <a:xfrm>
            <a:off x="1151325" y="3028800"/>
            <a:ext cx="5442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CREATE + INSERT + SELECT (Exemplo completo)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g37775008780_0_11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7775008780_0_110"/>
          <p:cNvSpPr txBox="1"/>
          <p:nvPr/>
        </p:nvSpPr>
        <p:spPr>
          <a:xfrm>
            <a:off x="1402075" y="4066900"/>
            <a:ext cx="544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g37775008780_0_110"/>
          <p:cNvPicPr preferRelativeResize="0"/>
          <p:nvPr/>
        </p:nvPicPr>
        <p:blipFill rotWithShape="1">
          <a:blip r:embed="rId5">
            <a:alphaModFix/>
          </a:blip>
          <a:srcRect b="0" l="0" r="0" t="10289"/>
          <a:stretch/>
        </p:blipFill>
        <p:spPr>
          <a:xfrm>
            <a:off x="6117775" y="3118725"/>
            <a:ext cx="6692575" cy="52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g37775008780_0_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7775008780_0_12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g37775008780_0_129"/>
          <p:cNvSpPr txBox="1"/>
          <p:nvPr/>
        </p:nvSpPr>
        <p:spPr>
          <a:xfrm>
            <a:off x="1151325" y="3028800"/>
            <a:ext cx="852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Prática 1 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g37775008780_0_12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7775008780_0_129"/>
          <p:cNvSpPr txBox="1"/>
          <p:nvPr/>
        </p:nvSpPr>
        <p:spPr>
          <a:xfrm>
            <a:off x="1402075" y="4066900"/>
            <a:ext cx="1014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a tabela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Funcionario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os campos: id (PK), nome, cargo, sal</a:t>
            </a:r>
            <a:r>
              <a:rPr lang="en-US" sz="3200">
                <a:solidFill>
                  <a:schemeClr val="dk1"/>
                </a:solidFill>
              </a:rPr>
              <a:t>á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rio.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Insira pelo menos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funcionários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Consulte todos os dados usando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*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7775008780_0_1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7775008780_0_13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g37775008780_0_139"/>
          <p:cNvSpPr txBox="1"/>
          <p:nvPr/>
        </p:nvSpPr>
        <p:spPr>
          <a:xfrm>
            <a:off x="1151325" y="3028800"/>
            <a:ext cx="852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Prática 2 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g37775008780_0_13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7775008780_0_139"/>
          <p:cNvSpPr txBox="1"/>
          <p:nvPr/>
        </p:nvSpPr>
        <p:spPr>
          <a:xfrm>
            <a:off x="1402075" y="4066900"/>
            <a:ext cx="1014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a tabela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Venda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com: id_venda (PK), id_produto (FK), quantidade.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Insira algumas vendas.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Faça um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mostrar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produto e quantidade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vendidos.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g37775008780_0_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7775008780_0_156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g37775008780_0_156"/>
          <p:cNvSpPr txBox="1"/>
          <p:nvPr/>
        </p:nvSpPr>
        <p:spPr>
          <a:xfrm>
            <a:off x="1151325" y="3028800"/>
            <a:ext cx="852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Prática 3 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g37775008780_0_15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7775008780_0_156"/>
          <p:cNvSpPr txBox="1"/>
          <p:nvPr/>
        </p:nvSpPr>
        <p:spPr>
          <a:xfrm>
            <a:off x="1402075" y="4066900"/>
            <a:ext cx="1014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a tabela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com: id_cliente (PK), nome, email.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Insira pelo menos 3 clientes.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Faça uma consulta para listar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nomes dos clientes ordenados alfabeticamente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g37775008780_0_1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7775008780_0_165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g37775008780_0_165"/>
          <p:cNvSpPr txBox="1"/>
          <p:nvPr/>
        </p:nvSpPr>
        <p:spPr>
          <a:xfrm>
            <a:off x="1151325" y="3028800"/>
            <a:ext cx="852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 no SQLite via Python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g37775008780_0_16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g37775008780_0_1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4632950"/>
            <a:ext cx="9601999" cy="37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7775008780_0_165"/>
          <p:cNvSpPr txBox="1"/>
          <p:nvPr/>
        </p:nvSpPr>
        <p:spPr>
          <a:xfrm>
            <a:off x="1445625" y="3892725"/>
            <a:ext cx="4005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Python: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37775008780_0_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7775008780_0_175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g37775008780_0_175"/>
          <p:cNvSpPr txBox="1"/>
          <p:nvPr/>
        </p:nvSpPr>
        <p:spPr>
          <a:xfrm>
            <a:off x="1151325" y="3028800"/>
            <a:ext cx="852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Diferença SQLite x PostgreSQL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g37775008780_0_17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7775008780_0_175"/>
          <p:cNvSpPr txBox="1"/>
          <p:nvPr/>
        </p:nvSpPr>
        <p:spPr>
          <a:xfrm>
            <a:off x="1445625" y="3892725"/>
            <a:ext cx="10842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simples, arquivo único, ideal para testes.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mais completo, suporta usuários, permissões, transações avançadas.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g37775008780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7775008780_0_185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23 - SQL: CREATE, INSERT, SELECT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g37775008780_0_185"/>
          <p:cNvSpPr txBox="1"/>
          <p:nvPr/>
        </p:nvSpPr>
        <p:spPr>
          <a:xfrm>
            <a:off x="1151325" y="3028800"/>
            <a:ext cx="852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Resumo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g37775008780_0_18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7775008780_0_185"/>
          <p:cNvSpPr txBox="1"/>
          <p:nvPr/>
        </p:nvSpPr>
        <p:spPr>
          <a:xfrm>
            <a:off x="1445625" y="3892725"/>
            <a:ext cx="10842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cria tabelas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insere registros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consulta dados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em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(simples) ou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(robusto)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g371f89f91c1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clara.gomes@ufpe.br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0" name="Google Shape;380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71f89f91c1_0_185"/>
          <p:cNvSpPr txBox="1"/>
          <p:nvPr/>
        </p:nvSpPr>
        <p:spPr>
          <a:xfrm>
            <a:off x="2086950" y="1276525"/>
            <a:ext cx="7721700" cy="21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