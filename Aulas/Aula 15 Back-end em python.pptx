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g5lQ2OcH0iEUn51EkZiZIEyHGW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cb2df22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cb2df221e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cb2df221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7cb2df221e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cb2df22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7cb2df221e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cb2df221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7cb2df221e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cb2df221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cb2df221e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cb2df221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7cb2df221e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cb2df221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7cb2df221e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cb2df221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7cb2df221e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cb2df221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7cb2df221e_0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cb2df221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7cb2df221e_0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cb2df221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7cb2df221e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075" y="7942375"/>
            <a:ext cx="748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71f89f91c1_0_95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151325" y="3809875"/>
            <a:ext cx="9644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</a:rPr>
              <a:t>Criar uma </a:t>
            </a:r>
            <a:r>
              <a:rPr b="1" lang="en-US" sz="2000">
                <a:solidFill>
                  <a:schemeClr val="dk1"/>
                </a:solidFill>
              </a:rPr>
              <a:t>estrutura completa em POO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</a:rPr>
              <a:t>Entender a importância de </a:t>
            </a:r>
            <a:r>
              <a:rPr b="1" lang="en-US" sz="2000">
                <a:solidFill>
                  <a:schemeClr val="dk1"/>
                </a:solidFill>
              </a:rPr>
              <a:t>testes automatizados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</a:rPr>
              <a:t>Escrever testes unitários com o módulo unittest.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</a:rPr>
              <a:t>Integrar testes em um </a:t>
            </a:r>
            <a:r>
              <a:rPr b="1" lang="en-US" sz="2000">
                <a:solidFill>
                  <a:schemeClr val="dk1"/>
                </a:solidFill>
              </a:rPr>
              <a:t>mini-projeto OO </a:t>
            </a:r>
            <a:r>
              <a:rPr lang="en-US" sz="2000">
                <a:solidFill>
                  <a:schemeClr val="dk1"/>
                </a:solidFill>
              </a:rPr>
              <a:t>(ex.: sistema bancário ou gestão de produtos).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7cb2df221e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7cb2df221e_0_3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7cb2df221e_0_3"/>
          <p:cNvSpPr txBox="1"/>
          <p:nvPr/>
        </p:nvSpPr>
        <p:spPr>
          <a:xfrm>
            <a:off x="1151325" y="3028800"/>
            <a:ext cx="51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O que é teste unitário?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37cb2df221e_0_3"/>
          <p:cNvSpPr txBox="1"/>
          <p:nvPr/>
        </p:nvSpPr>
        <p:spPr>
          <a:xfrm>
            <a:off x="1151325" y="3809875"/>
            <a:ext cx="9644100" cy="3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 </a:t>
            </a:r>
            <a:r>
              <a:rPr b="1" lang="en-US" sz="2000">
                <a:solidFill>
                  <a:schemeClr val="dk1"/>
                </a:solidFill>
              </a:rPr>
              <a:t>teste automatizado</a:t>
            </a:r>
            <a:r>
              <a:rPr lang="en-US" sz="2000">
                <a:solidFill>
                  <a:schemeClr val="dk1"/>
                </a:solidFill>
              </a:rPr>
              <a:t> que verifica se </a:t>
            </a:r>
            <a:r>
              <a:rPr b="1" lang="en-US" sz="2000">
                <a:solidFill>
                  <a:schemeClr val="dk1"/>
                </a:solidFill>
              </a:rPr>
              <a:t>uma parte específica</a:t>
            </a:r>
            <a:r>
              <a:rPr lang="en-US" sz="2000">
                <a:solidFill>
                  <a:schemeClr val="dk1"/>
                </a:solidFill>
              </a:rPr>
              <a:t> do código (função ou método) funciona corretamente.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Detecta erros cedo → menos bugs em produção.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🔹</a:t>
            </a:r>
            <a:r>
              <a:rPr b="1" lang="en-US" sz="3000">
                <a:solidFill>
                  <a:schemeClr val="dk1"/>
                </a:solidFill>
              </a:rPr>
              <a:t> Por que usar?</a:t>
            </a:r>
            <a:endParaRPr b="1" sz="3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Garante que alterações futuras não quebrem o código.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É </a:t>
            </a:r>
            <a:r>
              <a:rPr b="1" lang="en-US" sz="2000">
                <a:solidFill>
                  <a:schemeClr val="dk1"/>
                </a:solidFill>
              </a:rPr>
              <a:t>prática profissional</a:t>
            </a:r>
            <a:r>
              <a:rPr lang="en-US" sz="2000">
                <a:solidFill>
                  <a:schemeClr val="dk1"/>
                </a:solidFill>
              </a:rPr>
              <a:t>: empresas usam CI/CD com testes automáticos antes de subir código.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7cb2df221e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7cb2df221e_0_13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7cb2df221e_0_13"/>
          <p:cNvSpPr txBox="1"/>
          <p:nvPr/>
        </p:nvSpPr>
        <p:spPr>
          <a:xfrm>
            <a:off x="1151325" y="3028800"/>
            <a:ext cx="515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O que é teste unitário?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g37cb2df221e_0_13"/>
          <p:cNvSpPr txBox="1"/>
          <p:nvPr/>
        </p:nvSpPr>
        <p:spPr>
          <a:xfrm>
            <a:off x="1151325" y="3809875"/>
            <a:ext cx="9644100" cy="3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 </a:t>
            </a:r>
            <a:r>
              <a:rPr b="1" lang="en-US" sz="2000">
                <a:solidFill>
                  <a:schemeClr val="dk1"/>
                </a:solidFill>
              </a:rPr>
              <a:t>teste automatizado</a:t>
            </a:r>
            <a:r>
              <a:rPr lang="en-US" sz="2000">
                <a:solidFill>
                  <a:schemeClr val="dk1"/>
                </a:solidFill>
              </a:rPr>
              <a:t> que verifica se </a:t>
            </a:r>
            <a:r>
              <a:rPr b="1" lang="en-US" sz="2000">
                <a:solidFill>
                  <a:schemeClr val="dk1"/>
                </a:solidFill>
              </a:rPr>
              <a:t>uma parte específica</a:t>
            </a:r>
            <a:r>
              <a:rPr lang="en-US" sz="2000">
                <a:solidFill>
                  <a:schemeClr val="dk1"/>
                </a:solidFill>
              </a:rPr>
              <a:t> do código (função ou método) funciona corretamente.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Detecta erros cedo → menos bugs em produção.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🔹</a:t>
            </a:r>
            <a:r>
              <a:rPr b="1" lang="en-US" sz="3000">
                <a:solidFill>
                  <a:schemeClr val="dk1"/>
                </a:solidFill>
              </a:rPr>
              <a:t> Por que usar?</a:t>
            </a:r>
            <a:endParaRPr b="1" sz="3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Garante que alterações futuras não quebrem o código.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É </a:t>
            </a:r>
            <a:r>
              <a:rPr b="1" lang="en-US" sz="2000">
                <a:solidFill>
                  <a:schemeClr val="dk1"/>
                </a:solidFill>
              </a:rPr>
              <a:t>prática profissional</a:t>
            </a:r>
            <a:r>
              <a:rPr lang="en-US" sz="2000">
                <a:solidFill>
                  <a:schemeClr val="dk1"/>
                </a:solidFill>
              </a:rPr>
              <a:t>: empresas usam CI/CD com testes automáticos antes de subir código.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37cb2df221e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7cb2df221e_0_21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7cb2df221e_0_21"/>
          <p:cNvSpPr txBox="1"/>
          <p:nvPr/>
        </p:nvSpPr>
        <p:spPr>
          <a:xfrm>
            <a:off x="1151325" y="3028800"/>
            <a:ext cx="650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Estrutura de Testes em Python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g37cb2df221e_0_21"/>
          <p:cNvSpPr txBox="1"/>
          <p:nvPr/>
        </p:nvSpPr>
        <p:spPr>
          <a:xfrm>
            <a:off x="1151325" y="3809875"/>
            <a:ext cx="96441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Python tem o módulo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unittest</a:t>
            </a:r>
            <a:r>
              <a:rPr lang="en-US" sz="2000">
                <a:solidFill>
                  <a:schemeClr val="dk1"/>
                </a:solidFill>
              </a:rPr>
              <a:t> na biblioteca padrão.</a:t>
            </a:r>
            <a:br>
              <a:rPr lang="en-US" sz="2000">
                <a:solidFill>
                  <a:schemeClr val="dk1"/>
                </a:solidFill>
              </a:rPr>
            </a:br>
            <a:r>
              <a:rPr b="1" lang="en-US" sz="2000">
                <a:solidFill>
                  <a:schemeClr val="dk1"/>
                </a:solidFill>
              </a:rPr>
              <a:t>Estrutura básica: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19" name="Google Shape;119;g37cb2df221e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4000" y="4940175"/>
            <a:ext cx="5496006" cy="35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7cb2df221e_0_21"/>
          <p:cNvSpPr txBox="1"/>
          <p:nvPr/>
        </p:nvSpPr>
        <p:spPr>
          <a:xfrm>
            <a:off x="8806750" y="4545425"/>
            <a:ext cx="7871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Principais métodos: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assertEqual(a, b)</a:t>
            </a:r>
            <a:r>
              <a:rPr lang="en-US" sz="2000">
                <a:solidFill>
                  <a:schemeClr val="dk1"/>
                </a:solidFill>
              </a:rPr>
              <a:t> → verifica se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 == b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assertTrue(x)</a:t>
            </a:r>
            <a:r>
              <a:rPr lang="en-US" sz="2000">
                <a:solidFill>
                  <a:schemeClr val="dk1"/>
                </a:solidFill>
              </a:rPr>
              <a:t> → verifica se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000">
                <a:solidFill>
                  <a:schemeClr val="dk1"/>
                </a:solidFill>
              </a:rPr>
              <a:t> é verdadeiro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assertFalse(x)</a:t>
            </a:r>
            <a:r>
              <a:rPr lang="en-US" sz="2000">
                <a:solidFill>
                  <a:schemeClr val="dk1"/>
                </a:solidFill>
              </a:rPr>
              <a:t> → verifica se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</a:t>
            </a:r>
            <a:r>
              <a:rPr lang="en-US" sz="2000">
                <a:solidFill>
                  <a:schemeClr val="dk1"/>
                </a:solidFill>
              </a:rPr>
              <a:t> é falso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assertRaises(Exception, func, args...)</a:t>
            </a:r>
            <a:r>
              <a:rPr lang="en-US" sz="2000">
                <a:solidFill>
                  <a:schemeClr val="dk1"/>
                </a:solidFill>
              </a:rPr>
              <a:t> → verifica se uma exceção foi lançada</a:t>
            </a:r>
            <a:br>
              <a:rPr lang="en-US" sz="20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7cb2df221e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7cb2df221e_0_34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7cb2df221e_0_34"/>
          <p:cNvSpPr txBox="1"/>
          <p:nvPr/>
        </p:nvSpPr>
        <p:spPr>
          <a:xfrm>
            <a:off x="1151325" y="3028800"/>
            <a:ext cx="1021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Projeto Orientado a Objetos (exemplo: Banco)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37cb2df221e_0_34"/>
          <p:cNvSpPr txBox="1"/>
          <p:nvPr/>
        </p:nvSpPr>
        <p:spPr>
          <a:xfrm>
            <a:off x="1151325" y="3809875"/>
            <a:ext cx="96441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Es</a:t>
            </a:r>
            <a:r>
              <a:rPr b="1" lang="en-US" sz="2000">
                <a:solidFill>
                  <a:schemeClr val="dk1"/>
                </a:solidFill>
              </a:rPr>
              <a:t>trutura básica: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29" name="Google Shape;129;g37cb2df221e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8750" y="4476650"/>
            <a:ext cx="4183700" cy="268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7cb2df221e_0_34"/>
          <p:cNvSpPr txBox="1"/>
          <p:nvPr/>
        </p:nvSpPr>
        <p:spPr>
          <a:xfrm>
            <a:off x="7000350" y="3881400"/>
            <a:ext cx="29577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conta.py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31" name="Google Shape;131;g37cb2df221e_0_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69675" y="4342075"/>
            <a:ext cx="5185400" cy="41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37cb2df221e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7cb2df221e_0_48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7cb2df221e_0_48"/>
          <p:cNvSpPr txBox="1"/>
          <p:nvPr/>
        </p:nvSpPr>
        <p:spPr>
          <a:xfrm>
            <a:off x="1151325" y="3028800"/>
            <a:ext cx="6040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Projeto Orientado a Objetos (exemplo: Banco)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g37cb2df221e_0_48"/>
          <p:cNvSpPr txBox="1"/>
          <p:nvPr/>
        </p:nvSpPr>
        <p:spPr>
          <a:xfrm>
            <a:off x="1151325" y="4298663"/>
            <a:ext cx="248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test_conta.py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40" name="Google Shape;140;g37cb2df221e_0_48"/>
          <p:cNvPicPr preferRelativeResize="0"/>
          <p:nvPr/>
        </p:nvPicPr>
        <p:blipFill rotWithShape="1">
          <a:blip r:embed="rId5">
            <a:alphaModFix/>
          </a:blip>
          <a:srcRect b="55333" l="0" r="0" t="0"/>
          <a:stretch/>
        </p:blipFill>
        <p:spPr>
          <a:xfrm>
            <a:off x="1151325" y="4952950"/>
            <a:ext cx="5362575" cy="30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7cb2df221e_0_48"/>
          <p:cNvPicPr preferRelativeResize="0"/>
          <p:nvPr/>
        </p:nvPicPr>
        <p:blipFill rotWithShape="1">
          <a:blip r:embed="rId5">
            <a:alphaModFix/>
          </a:blip>
          <a:srcRect b="0" l="0" r="0" t="44845"/>
          <a:stretch/>
        </p:blipFill>
        <p:spPr>
          <a:xfrm>
            <a:off x="8091825" y="4485800"/>
            <a:ext cx="5362575" cy="372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g37cb2df221e_0_48"/>
          <p:cNvCxnSpPr>
            <a:stCxn id="140" idx="3"/>
          </p:cNvCxnSpPr>
          <p:nvPr/>
        </p:nvCxnSpPr>
        <p:spPr>
          <a:xfrm flipH="1" rot="10800000">
            <a:off x="6513900" y="6444387"/>
            <a:ext cx="962100" cy="1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7cb2df221e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7cb2df221e_0_62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7cb2df221e_0_62"/>
          <p:cNvSpPr txBox="1"/>
          <p:nvPr/>
        </p:nvSpPr>
        <p:spPr>
          <a:xfrm>
            <a:off x="1151325" y="3028800"/>
            <a:ext cx="6040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Projeto Orientado a Objetos (exemplo: Banco)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g37cb2df221e_0_62"/>
          <p:cNvSpPr txBox="1"/>
          <p:nvPr/>
        </p:nvSpPr>
        <p:spPr>
          <a:xfrm>
            <a:off x="1151325" y="4298663"/>
            <a:ext cx="24819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Execução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No terminal: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51" name="Google Shape;151;g37cb2df221e_0_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1325" y="5299163"/>
            <a:ext cx="492442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7cb2df221e_0_62"/>
          <p:cNvSpPr txBox="1"/>
          <p:nvPr/>
        </p:nvSpPr>
        <p:spPr>
          <a:xfrm>
            <a:off x="1151325" y="59509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Saída esperada:</a:t>
            </a:r>
            <a:endParaRPr sz="2000"/>
          </a:p>
        </p:txBody>
      </p:sp>
      <p:pic>
        <p:nvPicPr>
          <p:cNvPr id="153" name="Google Shape;153;g37cb2df221e_0_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1325" y="6571350"/>
            <a:ext cx="6276975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7cb2df221e_0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7cb2df221e_0_79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7cb2df221e_0_79"/>
          <p:cNvSpPr txBox="1"/>
          <p:nvPr/>
        </p:nvSpPr>
        <p:spPr>
          <a:xfrm>
            <a:off x="1151325" y="3028800"/>
            <a:ext cx="604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Boas Práticas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37cb2df221e_0_79"/>
          <p:cNvSpPr txBox="1"/>
          <p:nvPr/>
        </p:nvSpPr>
        <p:spPr>
          <a:xfrm>
            <a:off x="1656300" y="3812775"/>
            <a:ext cx="58314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Nomeie os arquivos de teste como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test_nome.py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Use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setUp()</a:t>
            </a:r>
            <a:r>
              <a:rPr lang="en-US" sz="2000">
                <a:solidFill>
                  <a:schemeClr val="dk1"/>
                </a:solidFill>
              </a:rPr>
              <a:t> para preparar dados antes de cada teste.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Cada teste deve ser </a:t>
            </a:r>
            <a:r>
              <a:rPr b="1" lang="en-US" sz="2000">
                <a:solidFill>
                  <a:schemeClr val="dk1"/>
                </a:solidFill>
              </a:rPr>
              <a:t>independente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Escreva testes pequenos e objetivos (uma regra por teste).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Sempre rode os testes antes de enviar o projeto.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7cb2df221e_0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7cb2df221e_0_117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7cb2df221e_0_117"/>
          <p:cNvSpPr txBox="1"/>
          <p:nvPr/>
        </p:nvSpPr>
        <p:spPr>
          <a:xfrm>
            <a:off x="1151325" y="3028800"/>
            <a:ext cx="604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Aplicações no Mercado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g37cb2df221e_0_117"/>
          <p:cNvSpPr txBox="1"/>
          <p:nvPr/>
        </p:nvSpPr>
        <p:spPr>
          <a:xfrm>
            <a:off x="1656300" y="3812775"/>
            <a:ext cx="83019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Bancos</a:t>
            </a:r>
            <a:r>
              <a:rPr lang="en-US" sz="2000">
                <a:solidFill>
                  <a:schemeClr val="dk1"/>
                </a:solidFill>
              </a:rPr>
              <a:t> → testam operações financeiras críticas.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E-commerce</a:t>
            </a:r>
            <a:r>
              <a:rPr lang="en-US" sz="2000">
                <a:solidFill>
                  <a:schemeClr val="dk1"/>
                </a:solidFill>
              </a:rPr>
              <a:t> → testam cálculos de estoque e carrinho.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St</a:t>
            </a:r>
            <a:r>
              <a:rPr b="1" lang="en-US" sz="2000">
                <a:solidFill>
                  <a:schemeClr val="dk1"/>
                </a:solidFill>
              </a:rPr>
              <a:t>a</a:t>
            </a:r>
            <a:r>
              <a:rPr b="1" lang="en-US" sz="2000">
                <a:solidFill>
                  <a:schemeClr val="dk1"/>
                </a:solidFill>
              </a:rPr>
              <a:t>rtups</a:t>
            </a:r>
            <a:r>
              <a:rPr lang="en-US" sz="2000">
                <a:solidFill>
                  <a:schemeClr val="dk1"/>
                </a:solidFill>
              </a:rPr>
              <a:t> → CI/CD roda testes automaticamente a cada commit.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Projetos open-source</a:t>
            </a:r>
            <a:r>
              <a:rPr lang="en-US" sz="2000">
                <a:solidFill>
                  <a:schemeClr val="dk1"/>
                </a:solidFill>
              </a:rPr>
              <a:t> → só aceitam código com testes passando.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7cb2df221e_0_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7cb2df221e_0_99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7cb2df221e_0_99"/>
          <p:cNvSpPr txBox="1"/>
          <p:nvPr/>
        </p:nvSpPr>
        <p:spPr>
          <a:xfrm>
            <a:off x="1151325" y="3028800"/>
            <a:ext cx="604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Prática Guiada em Sala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g37cb2df221e_0_99"/>
          <p:cNvSpPr txBox="1"/>
          <p:nvPr/>
        </p:nvSpPr>
        <p:spPr>
          <a:xfrm>
            <a:off x="1656300" y="3812775"/>
            <a:ext cx="58314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Passos: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Criar uma </a:t>
            </a:r>
            <a:r>
              <a:rPr b="1" lang="en-US" sz="2000">
                <a:solidFill>
                  <a:schemeClr val="dk1"/>
                </a:solidFill>
              </a:rPr>
              <a:t>classe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</a:t>
            </a:r>
            <a:r>
              <a:rPr lang="en-US" sz="2000">
                <a:solidFill>
                  <a:schemeClr val="dk1"/>
                </a:solidFill>
              </a:rPr>
              <a:t> com nome, preço e quantidade.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Implementar métodos: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repor(qtd)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vender(qtd)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valor_total()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Criar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test_produto.py</a:t>
            </a:r>
            <a:r>
              <a:rPr lang="en-US" sz="2000">
                <a:solidFill>
                  <a:schemeClr val="dk1"/>
                </a:solidFill>
              </a:rPr>
              <a:t> com </a:t>
            </a:r>
            <a:r>
              <a:rPr b="1" lang="en-US" sz="2000">
                <a:solidFill>
                  <a:schemeClr val="dk1"/>
                </a:solidFill>
              </a:rPr>
              <a:t>pelo menos 4 testes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Reposição válida.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Venda válida.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Venda maior que estoque → erro.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Valor total correto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37cb2df221e_0_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7cb2df221e_0_125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cb2df221e_0_125"/>
          <p:cNvSpPr txBox="1"/>
          <p:nvPr/>
        </p:nvSpPr>
        <p:spPr>
          <a:xfrm>
            <a:off x="1151325" y="3028800"/>
            <a:ext cx="604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Prática Guiada em Sala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g37cb2df221e_0_125"/>
          <p:cNvSpPr txBox="1"/>
          <p:nvPr/>
        </p:nvSpPr>
        <p:spPr>
          <a:xfrm>
            <a:off x="1656300" y="3812775"/>
            <a:ext cx="58314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Passos: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Criar uma </a:t>
            </a:r>
            <a:r>
              <a:rPr b="1" lang="en-US" sz="2000">
                <a:solidFill>
                  <a:schemeClr val="dk1"/>
                </a:solidFill>
              </a:rPr>
              <a:t>classe </a:t>
            </a:r>
            <a:r>
              <a:rPr b="1"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</a:t>
            </a:r>
            <a:r>
              <a:rPr lang="en-US" sz="2000">
                <a:solidFill>
                  <a:schemeClr val="dk1"/>
                </a:solidFill>
              </a:rPr>
              <a:t> com nome, preço e quantidade.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Implementar métodos: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repor(qtd)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vender(qtd)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valor_total()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Criar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test_produto.py</a:t>
            </a:r>
            <a:r>
              <a:rPr lang="en-US" sz="2000">
                <a:solidFill>
                  <a:schemeClr val="dk1"/>
                </a:solidFill>
              </a:rPr>
              <a:t> com </a:t>
            </a:r>
            <a:r>
              <a:rPr b="1" lang="en-US" sz="2000">
                <a:solidFill>
                  <a:schemeClr val="dk1"/>
                </a:solidFill>
              </a:rPr>
              <a:t>pelo menos 4 testes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Reposição válida.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Venda válida.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Venda maior que estoque → erro.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Valor total correto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37cb2df221e_0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7cb2df221e_0_92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7cb2df221e_0_92"/>
          <p:cNvSpPr txBox="1"/>
          <p:nvPr/>
        </p:nvSpPr>
        <p:spPr>
          <a:xfrm>
            <a:off x="1151325" y="3028800"/>
            <a:ext cx="604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Prática Guiada em Sala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g37cb2df221e_0_92"/>
          <p:cNvSpPr txBox="1"/>
          <p:nvPr/>
        </p:nvSpPr>
        <p:spPr>
          <a:xfrm>
            <a:off x="1656300" y="3812775"/>
            <a:ext cx="178560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Expanda o projeto bancário: crie </a:t>
            </a:r>
            <a:r>
              <a:rPr b="1" lang="en-US" sz="2000">
                <a:solidFill>
                  <a:schemeClr val="dk1"/>
                </a:solidFill>
              </a:rPr>
              <a:t>ContaCorrente</a:t>
            </a:r>
            <a:r>
              <a:rPr lang="en-US" sz="2000">
                <a:solidFill>
                  <a:schemeClr val="dk1"/>
                </a:solidFill>
              </a:rPr>
              <a:t> e </a:t>
            </a:r>
            <a:r>
              <a:rPr b="1" lang="en-US" sz="2000">
                <a:solidFill>
                  <a:schemeClr val="dk1"/>
                </a:solidFill>
              </a:rPr>
              <a:t>ContaPoupanca</a:t>
            </a:r>
            <a:r>
              <a:rPr lang="en-US" sz="2000">
                <a:solidFill>
                  <a:schemeClr val="dk1"/>
                </a:solidFill>
              </a:rPr>
              <a:t> (herança).</a:t>
            </a: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eriod"/>
            </a:pPr>
            <a:r>
              <a:rPr lang="en-US" sz="2000">
                <a:solidFill>
                  <a:schemeClr val="dk1"/>
                </a:solidFill>
              </a:rPr>
              <a:t>Teste se os métodos exclusivos funcionam corretamente.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Crie uma classe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CarrinhoDeCompras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eriod"/>
            </a:pPr>
            <a:r>
              <a:rPr lang="en-US" sz="2000">
                <a:solidFill>
                  <a:schemeClr val="dk1"/>
                </a:solidFill>
              </a:rPr>
              <a:t>Métodos: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adicionar_produto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remover_produto</a:t>
            </a:r>
            <a:r>
              <a:rPr lang="en-US" sz="2000">
                <a:solidFill>
                  <a:schemeClr val="dk1"/>
                </a:solidFill>
              </a:rPr>
              <a:t>,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total()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eriod"/>
            </a:pPr>
            <a:r>
              <a:rPr lang="en-US" sz="2000">
                <a:solidFill>
                  <a:schemeClr val="dk1"/>
                </a:solidFill>
              </a:rPr>
              <a:t>Testes:</a:t>
            </a:r>
            <a:endParaRPr sz="2000">
              <a:solidFill>
                <a:schemeClr val="dk1"/>
              </a:solidFill>
            </a:endParaRPr>
          </a:p>
          <a:p>
            <a:pPr indent="-355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Adicionar produto aumenta o total.</a:t>
            </a:r>
            <a:endParaRPr sz="2000">
              <a:solidFill>
                <a:schemeClr val="dk1"/>
              </a:solidFill>
            </a:endParaRPr>
          </a:p>
          <a:p>
            <a:pPr indent="-355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Remover produto funciona corretamente.</a:t>
            </a:r>
            <a:endParaRPr sz="2000">
              <a:solidFill>
                <a:schemeClr val="dk1"/>
              </a:solidFill>
            </a:endParaRPr>
          </a:p>
          <a:p>
            <a:pPr indent="-355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US" sz="2000">
                <a:solidFill>
                  <a:schemeClr val="dk1"/>
                </a:solidFill>
              </a:rPr>
              <a:t>Remover produto inexistente deve gerar exceção.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(Desafio) Adicione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</a:t>
            </a:r>
            <a:r>
              <a:rPr lang="en-US" sz="2000">
                <a:solidFill>
                  <a:schemeClr val="dk1"/>
                </a:solidFill>
              </a:rPr>
              <a:t> com método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comprar(produto, qtd)</a:t>
            </a:r>
            <a:r>
              <a:rPr lang="en-US" sz="2000">
                <a:solidFill>
                  <a:schemeClr val="dk1"/>
                </a:solidFill>
              </a:rPr>
              <a:t> que interage com estoq</a:t>
            </a:r>
            <a:endParaRPr sz="2000">
              <a:solidFill>
                <a:schemeClr val="dk1"/>
              </a:solidFill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romanLcPeriod"/>
            </a:pPr>
            <a:r>
              <a:rPr lang="en-US" sz="2000">
                <a:solidFill>
                  <a:schemeClr val="dk1"/>
                </a:solidFill>
              </a:rPr>
              <a:t>Crie testes para garantir que estoque e saldo do cliente sejam atualizados corretamente.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71f89f91c1_0_185"/>
          <p:cNvSpPr txBox="1"/>
          <p:nvPr/>
        </p:nvSpPr>
        <p:spPr>
          <a:xfrm>
            <a:off x="2086950" y="1184275"/>
            <a:ext cx="739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1" name="Google Shape;201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71f89f91c1_0_185"/>
          <p:cNvSpPr txBox="1"/>
          <p:nvPr/>
        </p:nvSpPr>
        <p:spPr>
          <a:xfrm>
            <a:off x="1961625" y="1276525"/>
            <a:ext cx="7871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7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15 — Projeto Orientado a Objetos + Testes Unitários com unittest</a:t>
            </a:r>
            <a:endParaRPr b="1" i="0" sz="2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