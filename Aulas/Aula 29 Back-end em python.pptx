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guT5DkZtxHzJ94N4kAcq5C2jbs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644E06-FF45-4AA7-B27D-0A60B4FB4237}">
  <a:tblStyle styleId="{89644E06-FF45-4AA7-B27D-0A60B4FB423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7784b096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7784b096e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c7310751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8c73107518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c7310751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8c73107518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c7310751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8c73107518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c7310751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8c73107518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c7310751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8c73107518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b6beaf74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9b6beaf745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b6beaf74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9b6beaf745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b6beaf74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9b6beaf745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b6beaf74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9b6beaf745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b6beaf74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9b6beaf745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b6beaf74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9b6beaf745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b6beaf74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9b6beaf745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6627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30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10989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Entender o </a:t>
            </a:r>
            <a:r>
              <a:rPr b="1" lang="en-US" sz="2000">
                <a:solidFill>
                  <a:schemeClr val="dk1"/>
                </a:solidFill>
              </a:rPr>
              <a:t>processo de projetar um banco de dados</a:t>
            </a:r>
            <a:r>
              <a:rPr lang="en-US" sz="2000">
                <a:solidFill>
                  <a:schemeClr val="dk1"/>
                </a:solidFill>
              </a:rPr>
              <a:t> para uma aplicação real.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Aprender a </a:t>
            </a:r>
            <a:r>
              <a:rPr b="1" lang="en-US" sz="2000">
                <a:solidFill>
                  <a:schemeClr val="dk1"/>
                </a:solidFill>
              </a:rPr>
              <a:t>modelar entidades, relacionamentos e chaves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Criar o </a:t>
            </a:r>
            <a:r>
              <a:rPr b="1" lang="en-US" sz="2000">
                <a:solidFill>
                  <a:schemeClr val="dk1"/>
                </a:solidFill>
              </a:rPr>
              <a:t>modelo físico</a:t>
            </a:r>
            <a:r>
              <a:rPr lang="en-US" sz="2000">
                <a:solidFill>
                  <a:schemeClr val="dk1"/>
                </a:solidFill>
              </a:rPr>
              <a:t> (SQL) a partir do </a:t>
            </a:r>
            <a:r>
              <a:rPr b="1" lang="en-US" sz="2000">
                <a:solidFill>
                  <a:schemeClr val="dk1"/>
                </a:solidFill>
              </a:rPr>
              <a:t>modelo conceitual (DER)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Praticar a </a:t>
            </a:r>
            <a:r>
              <a:rPr b="1" lang="en-US" sz="2000">
                <a:solidFill>
                  <a:schemeClr val="dk1"/>
                </a:solidFill>
              </a:rPr>
              <a:t>integração com uma aplicação web</a:t>
            </a:r>
            <a:r>
              <a:rPr lang="en-US" sz="2000">
                <a:solidFill>
                  <a:schemeClr val="dk1"/>
                </a:solidFill>
              </a:rPr>
              <a:t> (exemplo: sistema de cadastro).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Preparar o banco para </a:t>
            </a:r>
            <a:r>
              <a:rPr b="1" lang="en-US" sz="2000">
                <a:solidFill>
                  <a:schemeClr val="dk1"/>
                </a:solidFill>
              </a:rPr>
              <a:t>futuras conexões com Python e Django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7784b096e_0_1"/>
          <p:cNvSpPr txBox="1"/>
          <p:nvPr/>
        </p:nvSpPr>
        <p:spPr>
          <a:xfrm>
            <a:off x="1151325" y="3028800"/>
            <a:ext cx="864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O papel do banco em uma aplicação web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g377784b096e_0_1"/>
          <p:cNvSpPr txBox="1"/>
          <p:nvPr/>
        </p:nvSpPr>
        <p:spPr>
          <a:xfrm>
            <a:off x="1151325" y="3809875"/>
            <a:ext cx="964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Toda aplicação web tem 3 grandes camadas: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77784b096e_0_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" name="Google Shape;102;g377784b096e_0_1"/>
          <p:cNvGraphicFramePr/>
          <p:nvPr/>
        </p:nvGraphicFramePr>
        <p:xfrm>
          <a:off x="1602750" y="472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{89644E06-FF45-4AA7-B27D-0A60B4FB4237}</a:tableStyleId>
              </a:tblPr>
              <a:tblGrid>
                <a:gridCol w="1816050"/>
                <a:gridCol w="3041775"/>
                <a:gridCol w="37098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Camada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Função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Exemplo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Frontend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Interface do usuário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HTML, CSS, JavaScript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Backend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Lógica da aplicação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Python (Flask/Django), Node.js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Banco de Dados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Armazenar informações persistentes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MySQL, PostgreSQL, SQLite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g377784b096e_0_1"/>
          <p:cNvSpPr txBox="1"/>
          <p:nvPr/>
        </p:nvSpPr>
        <p:spPr>
          <a:xfrm>
            <a:off x="4860150" y="7371350"/>
            <a:ext cx="856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FF0000"/>
                </a:solidFill>
              </a:rPr>
              <a:t>O banco de dados é como o “arquivo permanente” da aplicação.</a:t>
            </a:r>
            <a:endParaRPr b="1"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</a:rPr>
              <a:t>Quando o usuário fecha o navegador, os dados continuam guardados lá.</a:t>
            </a:r>
            <a:endParaRPr b="1" sz="1600">
              <a:solidFill>
                <a:srgbClr val="FF0000"/>
              </a:solidFill>
            </a:endParaRPr>
          </a:p>
        </p:txBody>
      </p:sp>
      <p:pic>
        <p:nvPicPr>
          <p:cNvPr id="104" name="Google Shape;104;g377784b096e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77784b096e_0_1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c73107518_0_13"/>
          <p:cNvSpPr txBox="1"/>
          <p:nvPr/>
        </p:nvSpPr>
        <p:spPr>
          <a:xfrm>
            <a:off x="1151325" y="3028800"/>
            <a:ext cx="864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Etapas do Projeto de Banco de Dados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8c73107518_0_13"/>
          <p:cNvSpPr txBox="1"/>
          <p:nvPr/>
        </p:nvSpPr>
        <p:spPr>
          <a:xfrm>
            <a:off x="1151325" y="3809875"/>
            <a:ext cx="9644100" cy="2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Análise do problema</a:t>
            </a:r>
            <a:r>
              <a:rPr lang="en-US" sz="2000">
                <a:solidFill>
                  <a:schemeClr val="dk1"/>
                </a:solidFill>
              </a:rPr>
              <a:t> — entender o que o sistema precisa armazenar.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Identificação de entidades</a:t>
            </a:r>
            <a:r>
              <a:rPr lang="en-US" sz="2000">
                <a:solidFill>
                  <a:schemeClr val="dk1"/>
                </a:solidFill>
              </a:rPr>
              <a:t> — definir o que será representado.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Relacionamentos</a:t>
            </a:r>
            <a:r>
              <a:rPr lang="en-US" sz="2000">
                <a:solidFill>
                  <a:schemeClr val="dk1"/>
                </a:solidFill>
              </a:rPr>
              <a:t> — como as entidades se conectam.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Modelo conceitual</a:t>
            </a:r>
            <a:r>
              <a:rPr lang="en-US" sz="2000">
                <a:solidFill>
                  <a:schemeClr val="dk1"/>
                </a:solidFill>
              </a:rPr>
              <a:t> — criar o </a:t>
            </a:r>
            <a:r>
              <a:rPr b="1" lang="en-US" sz="2000">
                <a:solidFill>
                  <a:schemeClr val="dk1"/>
                </a:solidFill>
              </a:rPr>
              <a:t>DER (Diagrama Entidade-Relacionamento)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Modelo lógico</a:t>
            </a:r>
            <a:r>
              <a:rPr lang="en-US" sz="2000">
                <a:solidFill>
                  <a:schemeClr val="dk1"/>
                </a:solidFill>
              </a:rPr>
              <a:t> — definir tipos de dados, chaves e restrições.</a:t>
            </a: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Modelo físico</a:t>
            </a:r>
            <a:r>
              <a:rPr lang="en-US" sz="2000">
                <a:solidFill>
                  <a:schemeClr val="dk1"/>
                </a:solidFill>
              </a:rPr>
              <a:t> — gerar os comandos SQL para criar o banco.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12" name="Google Shape;112;g38c73107518_0_1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38c73107518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8c73107518_0_1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c73107518_0_26"/>
          <p:cNvSpPr txBox="1"/>
          <p:nvPr/>
        </p:nvSpPr>
        <p:spPr>
          <a:xfrm>
            <a:off x="1151325" y="3028800"/>
            <a:ext cx="1033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Exemplo de Caso: Sistema de Vendas Online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38c73107518_0_26"/>
          <p:cNvSpPr txBox="1"/>
          <p:nvPr/>
        </p:nvSpPr>
        <p:spPr>
          <a:xfrm>
            <a:off x="1151325" y="4035300"/>
            <a:ext cx="96441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Requisitos resumidos: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Cadastrar clientes e produtos.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Registrar pedidos e os itens comprados.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Cada pedido pertence a um cliente e pode conter vários produtos.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21" name="Google Shape;121;g38c73107518_0_2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g38c73107518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8c73107518_0_26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c73107518_0_36"/>
          <p:cNvSpPr txBox="1"/>
          <p:nvPr/>
        </p:nvSpPr>
        <p:spPr>
          <a:xfrm>
            <a:off x="2109425" y="3716575"/>
            <a:ext cx="465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2500">
                <a:latin typeface="Montserrat"/>
                <a:ea typeface="Montserrat"/>
                <a:cs typeface="Montserrat"/>
                <a:sym typeface="Montserrat"/>
              </a:rPr>
              <a:t>Identificando as Entidades</a:t>
            </a:r>
            <a:endParaRPr b="1"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38c73107518_0_3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g38c73107518_0_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8c73107518_0_36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32" name="Google Shape;132;g38c73107518_0_36"/>
          <p:cNvGraphicFramePr/>
          <p:nvPr/>
        </p:nvGraphicFramePr>
        <p:xfrm>
          <a:off x="1016775" y="476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{89644E06-FF45-4AA7-B27D-0A60B4FB4237}</a:tableStyleId>
              </a:tblPr>
              <a:tblGrid>
                <a:gridCol w="1757825"/>
                <a:gridCol w="5077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Entidade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Atributos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Cliente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id_cliente, nome, email, telefone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Produto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id_produto, nome, preco, estoque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Pedido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id_pedido, id_cliente, data_pedido, total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ItemPedido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id_item, id_pedido, id_produto, quantidade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g38c73107518_0_36"/>
          <p:cNvSpPr txBox="1"/>
          <p:nvPr/>
        </p:nvSpPr>
        <p:spPr>
          <a:xfrm>
            <a:off x="10765525" y="3716575"/>
            <a:ext cx="3259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Relacionamentos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4" name="Google Shape;134;g38c73107518_0_36"/>
          <p:cNvCxnSpPr/>
          <p:nvPr/>
        </p:nvCxnSpPr>
        <p:spPr>
          <a:xfrm>
            <a:off x="8418000" y="2855850"/>
            <a:ext cx="74700" cy="4994100"/>
          </a:xfrm>
          <a:prstGeom prst="straightConnector1">
            <a:avLst/>
          </a:prstGeom>
          <a:noFill/>
          <a:ln cap="flat" cmpd="sng" w="28575">
            <a:solidFill>
              <a:srgbClr val="7EB61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5" name="Google Shape;135;g38c73107518_0_36"/>
          <p:cNvGraphicFramePr/>
          <p:nvPr/>
        </p:nvGraphicFramePr>
        <p:xfrm>
          <a:off x="8899325" y="4860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{89644E06-FF45-4AA7-B27D-0A60B4FB4237}</a:tableStyleId>
              </a:tblPr>
              <a:tblGrid>
                <a:gridCol w="2891225"/>
                <a:gridCol w="819800"/>
                <a:gridCol w="44528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Relação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Tipo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Descrição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Cliente → Pedido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1:N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Um cliente pode ter vários pedidos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Pedido → ItemPedido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1:N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Um pedido contém vários itens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Produto → ItemPedido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1:N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Um produto pode aparecer em vários pedidos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c73107518_0_53"/>
          <p:cNvSpPr txBox="1"/>
          <p:nvPr/>
        </p:nvSpPr>
        <p:spPr>
          <a:xfrm>
            <a:off x="1016775" y="3686675"/>
            <a:ext cx="6966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2500">
                <a:latin typeface="Montserrat"/>
                <a:ea typeface="Montserrat"/>
                <a:cs typeface="Montserrat"/>
                <a:sym typeface="Montserrat"/>
              </a:rPr>
              <a:t>Modelo Entidade-Relacionamento (DER)</a:t>
            </a:r>
            <a:endParaRPr b="1"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g38c73107518_0_5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8c73107518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8c73107518_0_5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g38c73107518_0_53"/>
          <p:cNvSpPr/>
          <p:nvPr/>
        </p:nvSpPr>
        <p:spPr>
          <a:xfrm>
            <a:off x="1016775" y="4949125"/>
            <a:ext cx="8926500" cy="1256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Cliente (</a:t>
            </a:r>
            <a:r>
              <a:rPr lang="en-US" sz="2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) ——&lt; Pedido (</a:t>
            </a:r>
            <a:r>
              <a:rPr lang="en-US" sz="2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) ——&lt; ItemPedido &gt;—— (N) Produto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c73107518_0_68"/>
          <p:cNvSpPr txBox="1"/>
          <p:nvPr/>
        </p:nvSpPr>
        <p:spPr>
          <a:xfrm>
            <a:off x="971900" y="3012900"/>
            <a:ext cx="6966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2500">
                <a:latin typeface="Montserrat"/>
                <a:ea typeface="Montserrat"/>
                <a:cs typeface="Montserrat"/>
                <a:sym typeface="Montserrat"/>
              </a:rPr>
              <a:t>Criando o modelo físico (SQL)</a:t>
            </a:r>
            <a:endParaRPr b="1"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g38c73107518_0_6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g38c73107518_0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8c73107518_0_68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3" name="Google Shape;153;g38c73107518_0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3600" y="3833108"/>
            <a:ext cx="4876800" cy="4151217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g38c73107518_0_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6200" y="3503775"/>
            <a:ext cx="5583977" cy="4656950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b6beaf745_0_73"/>
          <p:cNvSpPr txBox="1"/>
          <p:nvPr/>
        </p:nvSpPr>
        <p:spPr>
          <a:xfrm>
            <a:off x="971900" y="3012900"/>
            <a:ext cx="9868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2500">
                <a:latin typeface="Montserrat"/>
                <a:ea typeface="Montserrat"/>
                <a:cs typeface="Montserrat"/>
                <a:sym typeface="Montserrat"/>
              </a:rPr>
              <a:t>Conceito de Frameworks e o que é o Django</a:t>
            </a:r>
            <a:endParaRPr b="1"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39b6beaf745_0_7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g39b6beaf745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9b6beaf745_0_7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g39b6beaf745_0_73"/>
          <p:cNvSpPr txBox="1"/>
          <p:nvPr/>
        </p:nvSpPr>
        <p:spPr>
          <a:xfrm>
            <a:off x="1061600" y="4079450"/>
            <a:ext cx="13441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que é um framework (comparar com “caixas de ferramentas”).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Por que usar Django (agilidade, segurança, ORM, estrutura MVC).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Visão geral da arquitetura Django (projeto → app → model → view → template → banco).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b6beaf745_0_20"/>
          <p:cNvSpPr txBox="1"/>
          <p:nvPr/>
        </p:nvSpPr>
        <p:spPr>
          <a:xfrm>
            <a:off x="971900" y="3012900"/>
            <a:ext cx="1060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2500">
                <a:latin typeface="Montserrat"/>
                <a:ea typeface="Montserrat"/>
                <a:cs typeface="Montserrat"/>
                <a:sym typeface="Montserrat"/>
              </a:rPr>
              <a:t>Criação de Projeto Django e Estrutura de Pastas</a:t>
            </a:r>
            <a:endParaRPr b="1"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g39b6beaf745_0_2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9b6beaf745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9b6beaf745_0_20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g39b6beaf745_0_20"/>
          <p:cNvSpPr txBox="1"/>
          <p:nvPr/>
        </p:nvSpPr>
        <p:spPr>
          <a:xfrm>
            <a:off x="1065750" y="5013925"/>
            <a:ext cx="11976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Função de cada arquivo (settings.py, urls.py, views.py, etc.)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papel do manage.py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73" name="Google Shape;173;g39b6beaf745_0_20"/>
          <p:cNvSpPr txBox="1"/>
          <p:nvPr/>
        </p:nvSpPr>
        <p:spPr>
          <a:xfrm>
            <a:off x="1065750" y="3775463"/>
            <a:ext cx="7012500" cy="87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django-admin startproject</a:t>
            </a:r>
            <a:r>
              <a:rPr b="1" lang="en-US" sz="2100">
                <a:solidFill>
                  <a:schemeClr val="dk1"/>
                </a:solidFill>
              </a:rPr>
              <a:t> meuprojeto .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>
                <a:solidFill>
                  <a:schemeClr val="dk1"/>
                </a:solidFill>
              </a:rPr>
              <a:t>python manage.py startapp</a:t>
            </a:r>
            <a:r>
              <a:rPr b="1" lang="en-US" sz="2100">
                <a:solidFill>
                  <a:schemeClr val="dk1"/>
                </a:solidFill>
              </a:rPr>
              <a:t> </a:t>
            </a:r>
            <a:r>
              <a:rPr b="1" lang="en-US" sz="2100">
                <a:solidFill>
                  <a:schemeClr val="dk1"/>
                </a:solidFill>
              </a:rPr>
              <a:t>loja</a:t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b6beaf745_0_52"/>
          <p:cNvSpPr txBox="1"/>
          <p:nvPr/>
        </p:nvSpPr>
        <p:spPr>
          <a:xfrm>
            <a:off x="971900" y="3012900"/>
            <a:ext cx="1060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2500">
                <a:latin typeface="Montserrat"/>
                <a:ea typeface="Montserrat"/>
                <a:cs typeface="Montserrat"/>
                <a:sym typeface="Montserrat"/>
              </a:rPr>
              <a:t>Configuração do Banco de Dados (SQLite3 por padrão)</a:t>
            </a:r>
            <a:endParaRPr b="1"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g39b6beaf745_0_5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g39b6beaf745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9b6beaf745_0_52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g39b6beaf745_0_52"/>
          <p:cNvSpPr txBox="1"/>
          <p:nvPr/>
        </p:nvSpPr>
        <p:spPr>
          <a:xfrm>
            <a:off x="971900" y="3701900"/>
            <a:ext cx="11976600" cy="25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 Django já </a:t>
            </a:r>
            <a:r>
              <a:rPr b="1" lang="en-US" sz="2000">
                <a:solidFill>
                  <a:schemeClr val="dk1"/>
                </a:solidFill>
              </a:rPr>
              <a:t>vem pronto</a:t>
            </a:r>
            <a:r>
              <a:rPr lang="en-US" sz="2000">
                <a:solidFill>
                  <a:schemeClr val="dk1"/>
                </a:solidFill>
              </a:rPr>
              <a:t> para armazenar dados.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Seção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DATABASES</a:t>
            </a:r>
            <a:r>
              <a:rPr lang="en-US" sz="2000">
                <a:solidFill>
                  <a:schemeClr val="dk1"/>
                </a:solidFill>
              </a:rPr>
              <a:t> no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settings.py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arquivo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db.sqlite3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b6beaf745_0_64"/>
          <p:cNvSpPr txBox="1"/>
          <p:nvPr/>
        </p:nvSpPr>
        <p:spPr>
          <a:xfrm>
            <a:off x="971900" y="3012900"/>
            <a:ext cx="1060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2500">
                <a:latin typeface="Montserrat"/>
                <a:ea typeface="Montserrat"/>
                <a:cs typeface="Montserrat"/>
                <a:sym typeface="Montserrat"/>
              </a:rPr>
              <a:t>Criação de Models (Tabelas)</a:t>
            </a:r>
            <a:endParaRPr b="1"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g39b6beaf745_0_64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39b6beaf745_0_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9b6beaf745_0_64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g39b6beaf745_0_64"/>
          <p:cNvSpPr txBox="1"/>
          <p:nvPr/>
        </p:nvSpPr>
        <p:spPr>
          <a:xfrm>
            <a:off x="971900" y="3701900"/>
            <a:ext cx="119766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 </a:t>
            </a:r>
            <a:r>
              <a:rPr b="1" lang="en-US" sz="2000">
                <a:solidFill>
                  <a:schemeClr val="dk1"/>
                </a:solidFill>
              </a:rPr>
              <a:t>models.py</a:t>
            </a:r>
            <a:r>
              <a:rPr lang="en-US" sz="2000">
                <a:solidFill>
                  <a:schemeClr val="dk1"/>
                </a:solidFill>
              </a:rPr>
              <a:t> define a estrutura das tabelas.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Classes que herdam de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models.Model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Campos: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CharField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IntegerField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DateField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DecimalField</a:t>
            </a:r>
            <a:r>
              <a:rPr lang="en-US" sz="2000">
                <a:solidFill>
                  <a:schemeClr val="dk1"/>
                </a:solidFill>
              </a:rPr>
              <a:t>, etc.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Relações: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ForeignKey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ManyToManyField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b6beaf745_0_84"/>
          <p:cNvSpPr txBox="1"/>
          <p:nvPr/>
        </p:nvSpPr>
        <p:spPr>
          <a:xfrm>
            <a:off x="971900" y="3012900"/>
            <a:ext cx="1060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2500">
                <a:latin typeface="Montserrat"/>
                <a:ea typeface="Montserrat"/>
                <a:cs typeface="Montserrat"/>
                <a:sym typeface="Montserrat"/>
              </a:rPr>
              <a:t>O ORM do Django (Object-Relational Mapping)</a:t>
            </a:r>
            <a:endParaRPr b="1"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g39b6beaf745_0_84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9b6beaf745_0_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9b6beaf745_0_84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g39b6beaf745_0_84"/>
          <p:cNvSpPr txBox="1"/>
          <p:nvPr/>
        </p:nvSpPr>
        <p:spPr>
          <a:xfrm>
            <a:off x="971900" y="3701900"/>
            <a:ext cx="119766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conectar a teoria com o banco real sem usar SQL diretamente.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Como o ORM traduz Python em SQL.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Comandos básicos com o shell: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b6beaf745_0_93"/>
          <p:cNvSpPr txBox="1"/>
          <p:nvPr/>
        </p:nvSpPr>
        <p:spPr>
          <a:xfrm>
            <a:off x="971900" y="3012900"/>
            <a:ext cx="1060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2500">
                <a:latin typeface="Montserrat"/>
                <a:ea typeface="Montserrat"/>
                <a:cs typeface="Montserrat"/>
                <a:sym typeface="Montserrat"/>
              </a:rPr>
              <a:t>Integrando Views com o Banco</a:t>
            </a:r>
            <a:endParaRPr b="1"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g39b6beaf745_0_9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39b6beaf745_0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9b6beaf745_0_9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g39b6beaf745_0_93"/>
          <p:cNvSpPr txBox="1"/>
          <p:nvPr/>
        </p:nvSpPr>
        <p:spPr>
          <a:xfrm>
            <a:off x="971900" y="3701900"/>
            <a:ext cx="119766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Como “buscar dados do banco e exibir na tela?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Consultas ORM dentro da view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Retornar dados via HttpResponse ou render (HTML)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b6beaf745_0_103"/>
          <p:cNvSpPr txBox="1"/>
          <p:nvPr/>
        </p:nvSpPr>
        <p:spPr>
          <a:xfrm>
            <a:off x="971900" y="3012900"/>
            <a:ext cx="1060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2500">
                <a:latin typeface="Montserrat"/>
                <a:ea typeface="Montserrat"/>
                <a:cs typeface="Montserrat"/>
                <a:sym typeface="Montserrat"/>
              </a:rPr>
              <a:t>Exibição em Templates</a:t>
            </a:r>
            <a:endParaRPr b="1"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g39b6beaf745_0_10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g39b6beaf745_0_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9b6beaf745_0_10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g39b6beaf745_0_103"/>
          <p:cNvSpPr txBox="1"/>
          <p:nvPr/>
        </p:nvSpPr>
        <p:spPr>
          <a:xfrm>
            <a:off x="971900" y="3701900"/>
            <a:ext cx="119766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mostra a ligação entre backend e frontend.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Sintaxe do Django Template Language ({{ variáveis }}, {% loops %})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Listagem dinâmica de dados.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19" name="Google Shape;219;g39b6beaf745_0_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6175" y="5666825"/>
            <a:ext cx="7923375" cy="2621600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5" name="Google Shape;225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71f89f91c1_0_18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29 — Projeto de Banco de Dados para Aplicação Web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