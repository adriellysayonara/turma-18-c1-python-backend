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10287000" cx="18288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  <p:embeddedFont>
      <p:font typeface="Roboto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9" roundtripDataSignature="AMtx7mid3wOPU/bfMkGuL2ZwemwQpgho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509EB1-8488-4717-ABB9-5223487AB962}">
  <a:tblStyle styleId="{DE509EB1-8488-4717-ABB9-5223487AB96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1f89f91c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g371f89f91c1_0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7784b096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77784b096e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7784b096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77784b096e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c6f90463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8c6f904639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c6f90463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38c6f904639_0_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c6f90463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g38c6f904639_0_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c6f90463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8c6f904639_0_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c6f904639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g38c6f904639_0_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c6f904639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g38c6f904639_0_1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8c6f904639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g38c6f904639_0_1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8c6f904639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g38c6f904639_0_1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71f89f91c1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g371f89f91c1_0_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39250" y="254175"/>
            <a:ext cx="17837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Back-end em python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49075" y="7942375"/>
            <a:ext cx="6627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Profª. Ma. A</a:t>
            </a:r>
            <a:r>
              <a:rPr b="1" lang="en-US" sz="3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drielly Sayonara</a:t>
            </a:r>
            <a:endParaRPr b="1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g371f89f91c1_0_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71f89f91c1_0_95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8 - Revisão SQL: JOIN, agrupamentos, funções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g371f89f91c1_0_95"/>
          <p:cNvSpPr txBox="1"/>
          <p:nvPr/>
        </p:nvSpPr>
        <p:spPr>
          <a:xfrm>
            <a:off x="1151325" y="3028800"/>
            <a:ext cx="382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Objetivos da Aula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g371f89f91c1_0_95"/>
          <p:cNvSpPr txBox="1"/>
          <p:nvPr/>
        </p:nvSpPr>
        <p:spPr>
          <a:xfrm>
            <a:off x="1151325" y="3809875"/>
            <a:ext cx="109896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lang="en-US" sz="2800">
                <a:solidFill>
                  <a:schemeClr val="dk1"/>
                </a:solidFill>
              </a:rPr>
              <a:t>Relembrar os conceitos fundamentais de SQL.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lang="en-US" sz="2800">
                <a:solidFill>
                  <a:schemeClr val="dk1"/>
                </a:solidFill>
              </a:rPr>
              <a:t>Aprender a relacionar tabelas com diferentes tipos de JOIN.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lang="en-US" sz="2800">
                <a:solidFill>
                  <a:schemeClr val="dk1"/>
                </a:solidFill>
              </a:rPr>
              <a:t>Utilizar funções de agregação (SUM, AVG, COUNT, etc.).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lang="en-US" sz="2800">
                <a:solidFill>
                  <a:schemeClr val="dk1"/>
                </a:solidFill>
              </a:rPr>
              <a:t>Compreender e aplicar agrupamentos (GROUP BY e HAVING).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lang="en-US" sz="2800">
                <a:solidFill>
                  <a:schemeClr val="dk1"/>
                </a:solidFill>
              </a:rPr>
              <a:t>Realizar consultas práticas em um banco de dados simulado.</a:t>
            </a:r>
            <a:endParaRPr sz="2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71f89f91c1_0_95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7784b096e_0_1"/>
          <p:cNvSpPr txBox="1"/>
          <p:nvPr/>
        </p:nvSpPr>
        <p:spPr>
          <a:xfrm>
            <a:off x="1151325" y="3028800"/>
            <a:ext cx="7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Revisão rápida: o que é SQL?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g377784b096e_0_1"/>
          <p:cNvSpPr txBox="1"/>
          <p:nvPr/>
        </p:nvSpPr>
        <p:spPr>
          <a:xfrm>
            <a:off x="1151325" y="3809875"/>
            <a:ext cx="9644100" cy="42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SQL (Structured Query Language) → linguagem para </a:t>
            </a:r>
            <a:r>
              <a:rPr b="1" lang="en-US" sz="2000">
                <a:solidFill>
                  <a:schemeClr val="dk1"/>
                </a:solidFill>
              </a:rPr>
              <a:t>criar, consultar e manipular</a:t>
            </a:r>
            <a:r>
              <a:rPr lang="en-US" sz="2000">
                <a:solidFill>
                  <a:schemeClr val="dk1"/>
                </a:solidFill>
              </a:rPr>
              <a:t> bancos de dados relacionais.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Comandos principais: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-US" sz="2000">
                <a:solidFill>
                  <a:schemeClr val="dk1"/>
                </a:solidFill>
              </a:rPr>
              <a:t> → consulta dados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INSERT</a:t>
            </a:r>
            <a:r>
              <a:rPr lang="en-US" sz="2000">
                <a:solidFill>
                  <a:schemeClr val="dk1"/>
                </a:solidFill>
              </a:rPr>
              <a:t> → insere dados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UPDATE</a:t>
            </a:r>
            <a:r>
              <a:rPr lang="en-US" sz="2000">
                <a:solidFill>
                  <a:schemeClr val="dk1"/>
                </a:solidFill>
              </a:rPr>
              <a:t> → atualiza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DELETE</a:t>
            </a:r>
            <a:r>
              <a:rPr lang="en-US" sz="2000">
                <a:solidFill>
                  <a:schemeClr val="dk1"/>
                </a:solidFill>
              </a:rPr>
              <a:t> → remove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CREATE TABLE</a:t>
            </a:r>
            <a:r>
              <a:rPr lang="en-US" sz="2000">
                <a:solidFill>
                  <a:schemeClr val="dk1"/>
                </a:solidFill>
              </a:rPr>
              <a:t> → cria tabela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01" name="Google Shape;101;g377784b096e_0_1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" name="Google Shape;102;g377784b096e_0_1"/>
          <p:cNvGrpSpPr/>
          <p:nvPr/>
        </p:nvGrpSpPr>
        <p:grpSpPr>
          <a:xfrm>
            <a:off x="763950" y="868600"/>
            <a:ext cx="9194099" cy="1647150"/>
            <a:chOff x="763950" y="868600"/>
            <a:chExt cx="9194099" cy="1647150"/>
          </a:xfrm>
        </p:grpSpPr>
        <p:pic>
          <p:nvPicPr>
            <p:cNvPr id="103" name="Google Shape;103;g377784b096e_0_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3950" y="868600"/>
              <a:ext cx="9194099" cy="1647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" name="Google Shape;104;g377784b096e_0_1"/>
            <p:cNvSpPr txBox="1"/>
            <p:nvPr/>
          </p:nvSpPr>
          <p:spPr>
            <a:xfrm>
              <a:off x="1958700" y="1144825"/>
              <a:ext cx="7521000" cy="109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2750">
                  <a:solidFill>
                    <a:srgbClr val="7EB6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Aula 28 - Revisão SQL: JOIN, agrupamentos, funções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7784b096e_0_10"/>
          <p:cNvSpPr txBox="1"/>
          <p:nvPr/>
        </p:nvSpPr>
        <p:spPr>
          <a:xfrm>
            <a:off x="1151325" y="3028800"/>
            <a:ext cx="7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Estrutura de tabelas (exemplo)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g377784b096e_0_10"/>
          <p:cNvSpPr txBox="1"/>
          <p:nvPr/>
        </p:nvSpPr>
        <p:spPr>
          <a:xfrm>
            <a:off x="1151325" y="3809875"/>
            <a:ext cx="96441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Vamos usar um banco de exemplo para a aula: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77784b096e_0_1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g377784b096e_0_10"/>
          <p:cNvGrpSpPr/>
          <p:nvPr/>
        </p:nvGrpSpPr>
        <p:grpSpPr>
          <a:xfrm>
            <a:off x="763950" y="868600"/>
            <a:ext cx="9194099" cy="1647150"/>
            <a:chOff x="763950" y="868600"/>
            <a:chExt cx="9194099" cy="1647150"/>
          </a:xfrm>
        </p:grpSpPr>
        <p:pic>
          <p:nvPicPr>
            <p:cNvPr id="113" name="Google Shape;113;g377784b096e_0_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3950" y="868600"/>
              <a:ext cx="9194099" cy="1647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g377784b096e_0_10"/>
            <p:cNvSpPr txBox="1"/>
            <p:nvPr/>
          </p:nvSpPr>
          <p:spPr>
            <a:xfrm>
              <a:off x="1958700" y="1144825"/>
              <a:ext cx="7521000" cy="109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2750">
                  <a:solidFill>
                    <a:srgbClr val="7EB6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Aula 28 - Revisão SQL: JOIN, agrupamentos, funções</a:t>
              </a:r>
              <a:endParaRPr/>
            </a:p>
          </p:txBody>
        </p:sp>
      </p:grpSp>
      <p:graphicFrame>
        <p:nvGraphicFramePr>
          <p:cNvPr id="115" name="Google Shape;115;g377784b096e_0_10"/>
          <p:cNvGraphicFramePr/>
          <p:nvPr/>
        </p:nvGraphicFramePr>
        <p:xfrm>
          <a:off x="763950" y="4368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{DE509EB1-8488-4717-ABB9-5223487AB962}</a:tableStyleId>
              </a:tblPr>
              <a:tblGrid>
                <a:gridCol w="1434275"/>
                <a:gridCol w="1512800"/>
                <a:gridCol w="24416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id_cliente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nome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cidade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Ana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São Paulo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João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Rio de Janeiro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3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Carla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Belo Horizonte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6" name="Google Shape;116;g377784b096e_0_10"/>
          <p:cNvGraphicFramePr/>
          <p:nvPr/>
        </p:nvGraphicFramePr>
        <p:xfrm>
          <a:off x="763950" y="654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{DE509EB1-8488-4717-ABB9-5223487AB962}</a:tableStyleId>
              </a:tblPr>
              <a:tblGrid>
                <a:gridCol w="1564600"/>
                <a:gridCol w="1669000"/>
                <a:gridCol w="1350900"/>
                <a:gridCol w="20751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id_pedido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id_cliente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valor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data_pedido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200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2024-10-10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150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2024-10-11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3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300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2024-10-12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c6f904639_0_28"/>
          <p:cNvSpPr txBox="1"/>
          <p:nvPr/>
        </p:nvSpPr>
        <p:spPr>
          <a:xfrm>
            <a:off x="1151325" y="3028800"/>
            <a:ext cx="7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JOIN — Unindo Tabelas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2" name="Google Shape;122;g38c6f904639_0_28"/>
          <p:cNvGrpSpPr/>
          <p:nvPr/>
        </p:nvGrpSpPr>
        <p:grpSpPr>
          <a:xfrm>
            <a:off x="763950" y="868600"/>
            <a:ext cx="9194099" cy="1647150"/>
            <a:chOff x="763950" y="868600"/>
            <a:chExt cx="9194099" cy="1647150"/>
          </a:xfrm>
        </p:grpSpPr>
        <p:pic>
          <p:nvPicPr>
            <p:cNvPr id="123" name="Google Shape;123;g38c6f904639_0_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3950" y="868600"/>
              <a:ext cx="9194099" cy="1647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" name="Google Shape;124;g38c6f904639_0_28"/>
            <p:cNvSpPr txBox="1"/>
            <p:nvPr/>
          </p:nvSpPr>
          <p:spPr>
            <a:xfrm>
              <a:off x="1958700" y="1144825"/>
              <a:ext cx="7521000" cy="109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2750">
                  <a:solidFill>
                    <a:srgbClr val="7EB6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Aula 28 - Revisão SQL: JOIN, agrupamentos, funções</a:t>
              </a:r>
              <a:endParaRPr/>
            </a:p>
          </p:txBody>
        </p:sp>
      </p:grpSp>
      <p:sp>
        <p:nvSpPr>
          <p:cNvPr id="125" name="Google Shape;125;g38c6f904639_0_28"/>
          <p:cNvSpPr txBox="1"/>
          <p:nvPr/>
        </p:nvSpPr>
        <p:spPr>
          <a:xfrm>
            <a:off x="1151325" y="3675300"/>
            <a:ext cx="11767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Quando o banco está normalizado, os dados estão divididos em várias tabelas.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Para consultar informações completas, usamos </a:t>
            </a:r>
            <a:r>
              <a:rPr b="1" lang="en-US" sz="2000">
                <a:solidFill>
                  <a:schemeClr val="dk1"/>
                </a:solidFill>
              </a:rPr>
              <a:t>JOIN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/>
          </a:p>
        </p:txBody>
      </p:sp>
      <p:sp>
        <p:nvSpPr>
          <p:cNvPr id="126" name="Google Shape;126;g38c6f904639_0_28"/>
          <p:cNvSpPr txBox="1"/>
          <p:nvPr/>
        </p:nvSpPr>
        <p:spPr>
          <a:xfrm>
            <a:off x="1151325" y="4709900"/>
            <a:ext cx="9030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INNER JOIN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Retorna </a:t>
            </a:r>
            <a:r>
              <a:rPr b="1" lang="en-US" sz="2000"/>
              <a:t>apenas registros correspondentes</a:t>
            </a:r>
            <a:r>
              <a:rPr lang="en-US" sz="2000"/>
              <a:t> entre as tabelas.</a:t>
            </a:r>
            <a:endParaRPr sz="2000"/>
          </a:p>
        </p:txBody>
      </p:sp>
      <p:pic>
        <p:nvPicPr>
          <p:cNvPr id="127" name="Google Shape;127;g38c6f904639_0_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5250" y="6096313"/>
            <a:ext cx="8938425" cy="1430700"/>
          </a:xfrm>
          <a:prstGeom prst="rect">
            <a:avLst/>
          </a:prstGeom>
          <a:noFill/>
          <a:ln cap="flat" cmpd="sng" w="19050">
            <a:solidFill>
              <a:srgbClr val="7EB61F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128" name="Google Shape;128;g38c6f904639_0_28"/>
          <p:cNvGraphicFramePr/>
          <p:nvPr/>
        </p:nvGraphicFramePr>
        <p:xfrm>
          <a:off x="11351475" y="581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{DE509EB1-8488-4717-ABB9-5223487AB962}</a:tableStyleId>
              </a:tblPr>
              <a:tblGrid>
                <a:gridCol w="1939100"/>
                <a:gridCol w="18894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nome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valor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Ana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200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João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150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Ana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300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29" name="Google Shape;129;g38c6f904639_0_28"/>
          <p:cNvCxnSpPr/>
          <p:nvPr/>
        </p:nvCxnSpPr>
        <p:spPr>
          <a:xfrm flipH="1" rot="10800000">
            <a:off x="9958500" y="6758400"/>
            <a:ext cx="792000" cy="6600"/>
          </a:xfrm>
          <a:prstGeom prst="straightConnector1">
            <a:avLst/>
          </a:prstGeom>
          <a:noFill/>
          <a:ln cap="flat" cmpd="sng" w="38100">
            <a:solidFill>
              <a:srgbClr val="7EB61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c6f904639_0_43"/>
          <p:cNvSpPr txBox="1"/>
          <p:nvPr/>
        </p:nvSpPr>
        <p:spPr>
          <a:xfrm>
            <a:off x="1151325" y="3028800"/>
            <a:ext cx="7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JOIN — Unindo Tabelas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35" name="Google Shape;135;g38c6f904639_0_43"/>
          <p:cNvGrpSpPr/>
          <p:nvPr/>
        </p:nvGrpSpPr>
        <p:grpSpPr>
          <a:xfrm>
            <a:off x="763950" y="868600"/>
            <a:ext cx="9194099" cy="1647150"/>
            <a:chOff x="763950" y="868600"/>
            <a:chExt cx="9194099" cy="1647150"/>
          </a:xfrm>
        </p:grpSpPr>
        <p:pic>
          <p:nvPicPr>
            <p:cNvPr id="136" name="Google Shape;136;g38c6f904639_0_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3950" y="868600"/>
              <a:ext cx="9194099" cy="1647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" name="Google Shape;137;g38c6f904639_0_43"/>
            <p:cNvSpPr txBox="1"/>
            <p:nvPr/>
          </p:nvSpPr>
          <p:spPr>
            <a:xfrm>
              <a:off x="1958700" y="1144825"/>
              <a:ext cx="7521000" cy="109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2750">
                  <a:solidFill>
                    <a:srgbClr val="7EB6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Aula 28 - Revisão SQL: JOIN, agrupamentos, funções</a:t>
              </a:r>
              <a:endParaRPr/>
            </a:p>
          </p:txBody>
        </p:sp>
      </p:grpSp>
      <p:sp>
        <p:nvSpPr>
          <p:cNvPr id="138" name="Google Shape;138;g38c6f904639_0_43"/>
          <p:cNvSpPr txBox="1"/>
          <p:nvPr/>
        </p:nvSpPr>
        <p:spPr>
          <a:xfrm>
            <a:off x="1151325" y="3675300"/>
            <a:ext cx="11767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Quando o banco está normalizado, os dados estão divididos em várias tabelas.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Para consultar informações completas, usamos </a:t>
            </a:r>
            <a:r>
              <a:rPr b="1" lang="en-US" sz="2000">
                <a:solidFill>
                  <a:schemeClr val="dk1"/>
                </a:solidFill>
              </a:rPr>
              <a:t>JOIN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/>
          </a:p>
        </p:txBody>
      </p:sp>
      <p:sp>
        <p:nvSpPr>
          <p:cNvPr id="139" name="Google Shape;139;g38c6f904639_0_43"/>
          <p:cNvSpPr txBox="1"/>
          <p:nvPr/>
        </p:nvSpPr>
        <p:spPr>
          <a:xfrm>
            <a:off x="1151325" y="4709900"/>
            <a:ext cx="11931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LEFT JOIN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Retorna </a:t>
            </a:r>
            <a:r>
              <a:rPr b="1" lang="en-US" sz="2000">
                <a:solidFill>
                  <a:schemeClr val="dk1"/>
                </a:solidFill>
              </a:rPr>
              <a:t>todos os registros da tabela à esquerda</a:t>
            </a:r>
            <a:r>
              <a:rPr lang="en-US" sz="2000">
                <a:solidFill>
                  <a:schemeClr val="dk1"/>
                </a:solidFill>
              </a:rPr>
              <a:t>, mesmo que não tenham correspondência.</a:t>
            </a:r>
            <a:endParaRPr sz="2900"/>
          </a:p>
        </p:txBody>
      </p:sp>
      <p:graphicFrame>
        <p:nvGraphicFramePr>
          <p:cNvPr id="140" name="Google Shape;140;g38c6f904639_0_43"/>
          <p:cNvGraphicFramePr/>
          <p:nvPr/>
        </p:nvGraphicFramePr>
        <p:xfrm>
          <a:off x="11351475" y="581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{DE509EB1-8488-4717-ABB9-5223487AB962}</a:tableStyleId>
              </a:tblPr>
              <a:tblGrid>
                <a:gridCol w="1939100"/>
                <a:gridCol w="18894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nome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valor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Ana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200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João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150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Ana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300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Carla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NULL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41" name="Google Shape;141;g38c6f904639_0_43"/>
          <p:cNvCxnSpPr/>
          <p:nvPr/>
        </p:nvCxnSpPr>
        <p:spPr>
          <a:xfrm flipH="1" rot="10800000">
            <a:off x="9958500" y="6758400"/>
            <a:ext cx="792000" cy="6600"/>
          </a:xfrm>
          <a:prstGeom prst="straightConnector1">
            <a:avLst/>
          </a:prstGeom>
          <a:noFill/>
          <a:ln cap="flat" cmpd="sng" w="38100">
            <a:solidFill>
              <a:srgbClr val="7EB61F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2" name="Google Shape;142;g38c6f904639_0_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950" y="5997075"/>
            <a:ext cx="8781700" cy="1529225"/>
          </a:xfrm>
          <a:prstGeom prst="rect">
            <a:avLst/>
          </a:prstGeom>
          <a:noFill/>
          <a:ln cap="flat" cmpd="sng" w="19050">
            <a:solidFill>
              <a:srgbClr val="7EB61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c6f904639_0_60"/>
          <p:cNvSpPr txBox="1"/>
          <p:nvPr/>
        </p:nvSpPr>
        <p:spPr>
          <a:xfrm>
            <a:off x="1151325" y="3028800"/>
            <a:ext cx="7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JOIN — Unindo Tabelas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48" name="Google Shape;148;g38c6f904639_0_60"/>
          <p:cNvGrpSpPr/>
          <p:nvPr/>
        </p:nvGrpSpPr>
        <p:grpSpPr>
          <a:xfrm>
            <a:off x="763950" y="868600"/>
            <a:ext cx="9194099" cy="1647150"/>
            <a:chOff x="763950" y="868600"/>
            <a:chExt cx="9194099" cy="1647150"/>
          </a:xfrm>
        </p:grpSpPr>
        <p:pic>
          <p:nvPicPr>
            <p:cNvPr id="149" name="Google Shape;149;g38c6f904639_0_6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3950" y="868600"/>
              <a:ext cx="9194099" cy="1647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g38c6f904639_0_60"/>
            <p:cNvSpPr txBox="1"/>
            <p:nvPr/>
          </p:nvSpPr>
          <p:spPr>
            <a:xfrm>
              <a:off x="1958700" y="1144825"/>
              <a:ext cx="7521000" cy="109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2750">
                  <a:solidFill>
                    <a:srgbClr val="7EB6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Aula 28 - Revisão SQL: JOIN, agrupamentos, funções</a:t>
              </a:r>
              <a:endParaRPr/>
            </a:p>
          </p:txBody>
        </p:sp>
      </p:grpSp>
      <p:sp>
        <p:nvSpPr>
          <p:cNvPr id="151" name="Google Shape;151;g38c6f904639_0_60"/>
          <p:cNvSpPr txBox="1"/>
          <p:nvPr/>
        </p:nvSpPr>
        <p:spPr>
          <a:xfrm>
            <a:off x="1151325" y="3675300"/>
            <a:ext cx="11767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Quando o banco está normalizado, os dados estão divididos em várias tabelas.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Para consultar informações completas, usamos </a:t>
            </a:r>
            <a:r>
              <a:rPr b="1" lang="en-US" sz="2000">
                <a:solidFill>
                  <a:schemeClr val="dk1"/>
                </a:solidFill>
              </a:rPr>
              <a:t>JOIN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/>
          </a:p>
        </p:txBody>
      </p:sp>
      <p:sp>
        <p:nvSpPr>
          <p:cNvPr id="152" name="Google Shape;152;g38c6f904639_0_60"/>
          <p:cNvSpPr txBox="1"/>
          <p:nvPr/>
        </p:nvSpPr>
        <p:spPr>
          <a:xfrm>
            <a:off x="1151325" y="4709900"/>
            <a:ext cx="11931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RIGHT JOIN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Retorna </a:t>
            </a:r>
            <a:r>
              <a:rPr b="1" lang="en-US" sz="2000">
                <a:solidFill>
                  <a:schemeClr val="dk1"/>
                </a:solidFill>
              </a:rPr>
              <a:t>todos os registros da tabela à direita</a:t>
            </a:r>
            <a:r>
              <a:rPr lang="en-US" sz="2000">
                <a:solidFill>
                  <a:schemeClr val="dk1"/>
                </a:solidFill>
              </a:rPr>
              <a:t>, com ou sem correspondência.</a:t>
            </a:r>
            <a:endParaRPr sz="2900"/>
          </a:p>
        </p:txBody>
      </p:sp>
      <p:graphicFrame>
        <p:nvGraphicFramePr>
          <p:cNvPr id="153" name="Google Shape;153;g38c6f904639_0_60"/>
          <p:cNvGraphicFramePr/>
          <p:nvPr/>
        </p:nvGraphicFramePr>
        <p:xfrm>
          <a:off x="11351475" y="581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{DE509EB1-8488-4717-ABB9-5223487AB962}</a:tableStyleId>
              </a:tblPr>
              <a:tblGrid>
                <a:gridCol w="1805750"/>
                <a:gridCol w="17594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nome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valor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Ana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200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João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150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Ana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300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NULL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750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54" name="Google Shape;154;g38c6f904639_0_60"/>
          <p:cNvCxnSpPr/>
          <p:nvPr/>
        </p:nvCxnSpPr>
        <p:spPr>
          <a:xfrm flipH="1" rot="10800000">
            <a:off x="9958500" y="6758400"/>
            <a:ext cx="792000" cy="6600"/>
          </a:xfrm>
          <a:prstGeom prst="straightConnector1">
            <a:avLst/>
          </a:prstGeom>
          <a:noFill/>
          <a:ln cap="flat" cmpd="sng" w="38100">
            <a:solidFill>
              <a:srgbClr val="7EB61F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55" name="Google Shape;155;g38c6f904639_0_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1325" y="6071850"/>
            <a:ext cx="8048250" cy="1379700"/>
          </a:xfrm>
          <a:prstGeom prst="rect">
            <a:avLst/>
          </a:prstGeom>
          <a:noFill/>
          <a:ln cap="flat" cmpd="sng" w="19050">
            <a:solidFill>
              <a:srgbClr val="7EB61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6" name="Google Shape;156;g38c6f904639_0_60"/>
          <p:cNvSpPr txBox="1"/>
          <p:nvPr/>
        </p:nvSpPr>
        <p:spPr>
          <a:xfrm>
            <a:off x="1017450" y="7867325"/>
            <a:ext cx="868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0000"/>
                </a:solidFill>
              </a:rPr>
              <a:t>(Nem todos os bancos suportam RIGHT JOIN, mas é importante conhecer.)</a:t>
            </a:r>
            <a:endParaRPr b="1" sz="1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c6f904639_0_76"/>
          <p:cNvSpPr txBox="1"/>
          <p:nvPr/>
        </p:nvSpPr>
        <p:spPr>
          <a:xfrm>
            <a:off x="1151325" y="3028800"/>
            <a:ext cx="7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Funções de Agregação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62" name="Google Shape;162;g38c6f904639_0_76"/>
          <p:cNvGrpSpPr/>
          <p:nvPr/>
        </p:nvGrpSpPr>
        <p:grpSpPr>
          <a:xfrm>
            <a:off x="763950" y="868600"/>
            <a:ext cx="9194099" cy="1647150"/>
            <a:chOff x="763950" y="868600"/>
            <a:chExt cx="9194099" cy="1647150"/>
          </a:xfrm>
        </p:grpSpPr>
        <p:pic>
          <p:nvPicPr>
            <p:cNvPr id="163" name="Google Shape;163;g38c6f904639_0_7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3950" y="868600"/>
              <a:ext cx="9194099" cy="1647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" name="Google Shape;164;g38c6f904639_0_76"/>
            <p:cNvSpPr txBox="1"/>
            <p:nvPr/>
          </p:nvSpPr>
          <p:spPr>
            <a:xfrm>
              <a:off x="1958700" y="1144825"/>
              <a:ext cx="7521000" cy="109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2750">
                  <a:solidFill>
                    <a:srgbClr val="7EB6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Aula 28 - Revisão SQL: JOIN, agrupamentos, funções</a:t>
              </a:r>
              <a:endParaRPr/>
            </a:p>
          </p:txBody>
        </p:sp>
      </p:grpSp>
      <p:sp>
        <p:nvSpPr>
          <p:cNvPr id="165" name="Google Shape;165;g38c6f904639_0_76"/>
          <p:cNvSpPr txBox="1"/>
          <p:nvPr/>
        </p:nvSpPr>
        <p:spPr>
          <a:xfrm>
            <a:off x="1151325" y="3675300"/>
            <a:ext cx="1176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Usadas para </a:t>
            </a:r>
            <a:r>
              <a:rPr b="1" lang="en-US" sz="2000">
                <a:solidFill>
                  <a:schemeClr val="dk1"/>
                </a:solidFill>
              </a:rPr>
              <a:t>resumir ou calcular</a:t>
            </a:r>
            <a:r>
              <a:rPr lang="en-US" sz="2000">
                <a:solidFill>
                  <a:schemeClr val="dk1"/>
                </a:solidFill>
              </a:rPr>
              <a:t> valores em conjuntos de dados.</a:t>
            </a:r>
            <a:endParaRPr sz="2000"/>
          </a:p>
        </p:txBody>
      </p:sp>
      <p:graphicFrame>
        <p:nvGraphicFramePr>
          <p:cNvPr id="166" name="Google Shape;166;g38c6f904639_0_76"/>
          <p:cNvGraphicFramePr/>
          <p:nvPr/>
        </p:nvGraphicFramePr>
        <p:xfrm>
          <a:off x="1363525" y="4608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{DE509EB1-8488-4717-ABB9-5223487AB962}</a:tableStyleId>
              </a:tblPr>
              <a:tblGrid>
                <a:gridCol w="2024500"/>
                <a:gridCol w="3781600"/>
                <a:gridCol w="2788450"/>
              </a:tblGrid>
              <a:tr h="385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Função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Descrição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Exemplo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</a:tr>
              <a:tr h="47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COUNT()</a:t>
                      </a:r>
                      <a:endParaRPr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Conta registros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COUNT(*)</a:t>
                      </a:r>
                      <a:endParaRPr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SUM()</a:t>
                      </a:r>
                      <a:endParaRPr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Soma valores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SUM(valor)</a:t>
                      </a:r>
                      <a:endParaRPr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AVG()</a:t>
                      </a:r>
                      <a:endParaRPr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Média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AVG(valor)</a:t>
                      </a:r>
                      <a:endParaRPr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MAX()</a:t>
                      </a:r>
                      <a:endParaRPr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Maior valor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MAX(valor)</a:t>
                      </a:r>
                      <a:endParaRPr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MIN()</a:t>
                      </a:r>
                      <a:endParaRPr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Menor valor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MIN(valor)</a:t>
                      </a:r>
                      <a:endParaRPr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67" name="Google Shape;167;g38c6f904639_0_76"/>
          <p:cNvPicPr preferRelativeResize="0"/>
          <p:nvPr/>
        </p:nvPicPr>
        <p:blipFill rotWithShape="1">
          <a:blip r:embed="rId5">
            <a:alphaModFix/>
          </a:blip>
          <a:srcRect b="0" l="0" r="25517" t="0"/>
          <a:stretch/>
        </p:blipFill>
        <p:spPr>
          <a:xfrm>
            <a:off x="10170300" y="5604563"/>
            <a:ext cx="7323600" cy="980650"/>
          </a:xfrm>
          <a:prstGeom prst="rect">
            <a:avLst/>
          </a:prstGeom>
          <a:noFill/>
          <a:ln cap="flat" cmpd="sng" w="19050">
            <a:solidFill>
              <a:srgbClr val="7EB61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8c6f904639_0_92"/>
          <p:cNvSpPr txBox="1"/>
          <p:nvPr/>
        </p:nvSpPr>
        <p:spPr>
          <a:xfrm>
            <a:off x="1151325" y="3028800"/>
            <a:ext cx="7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Agrupamentos — GROUP BY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73" name="Google Shape;173;g38c6f904639_0_92"/>
          <p:cNvGrpSpPr/>
          <p:nvPr/>
        </p:nvGrpSpPr>
        <p:grpSpPr>
          <a:xfrm>
            <a:off x="763950" y="868600"/>
            <a:ext cx="9194099" cy="1647150"/>
            <a:chOff x="763950" y="868600"/>
            <a:chExt cx="9194099" cy="1647150"/>
          </a:xfrm>
        </p:grpSpPr>
        <p:pic>
          <p:nvPicPr>
            <p:cNvPr id="174" name="Google Shape;174;g38c6f904639_0_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3950" y="868600"/>
              <a:ext cx="9194099" cy="1647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" name="Google Shape;175;g38c6f904639_0_92"/>
            <p:cNvSpPr txBox="1"/>
            <p:nvPr/>
          </p:nvSpPr>
          <p:spPr>
            <a:xfrm>
              <a:off x="1958700" y="1144825"/>
              <a:ext cx="7521000" cy="109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2750">
                  <a:solidFill>
                    <a:srgbClr val="7EB6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Aula 28 - Revisão SQL: JOIN, agrupamentos, funções</a:t>
              </a:r>
              <a:endParaRPr/>
            </a:p>
          </p:txBody>
        </p:sp>
      </p:grpSp>
      <p:sp>
        <p:nvSpPr>
          <p:cNvPr id="176" name="Google Shape;176;g38c6f904639_0_92"/>
          <p:cNvSpPr txBox="1"/>
          <p:nvPr/>
        </p:nvSpPr>
        <p:spPr>
          <a:xfrm>
            <a:off x="1151325" y="3675300"/>
            <a:ext cx="11767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Usado para </a:t>
            </a:r>
            <a:r>
              <a:rPr b="1" lang="en-US" sz="2000">
                <a:solidFill>
                  <a:schemeClr val="dk1"/>
                </a:solidFill>
              </a:rPr>
              <a:t>agrupar resultados</a:t>
            </a:r>
            <a:r>
              <a:rPr lang="en-US" sz="2000">
                <a:solidFill>
                  <a:schemeClr val="dk1"/>
                </a:solidFill>
              </a:rPr>
              <a:t> de acordo com uma ou mais colunas.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Geralmente vem junto com funções de agregação.</a:t>
            </a:r>
            <a:endParaRPr sz="2900">
              <a:solidFill>
                <a:schemeClr val="dk1"/>
              </a:solidFill>
            </a:endParaRPr>
          </a:p>
        </p:txBody>
      </p:sp>
      <p:pic>
        <p:nvPicPr>
          <p:cNvPr id="177" name="Google Shape;177;g38c6f904639_0_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9450" y="5151400"/>
            <a:ext cx="6755425" cy="1747075"/>
          </a:xfrm>
          <a:prstGeom prst="rect">
            <a:avLst/>
          </a:prstGeom>
          <a:noFill/>
          <a:ln cap="flat" cmpd="sng" w="19050">
            <a:solidFill>
              <a:srgbClr val="7EB61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8c6f904639_0_105"/>
          <p:cNvSpPr txBox="1"/>
          <p:nvPr/>
        </p:nvSpPr>
        <p:spPr>
          <a:xfrm>
            <a:off x="1151325" y="3028800"/>
            <a:ext cx="7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Filtrando grupos — HAVING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83" name="Google Shape;183;g38c6f904639_0_105"/>
          <p:cNvGrpSpPr/>
          <p:nvPr/>
        </p:nvGrpSpPr>
        <p:grpSpPr>
          <a:xfrm>
            <a:off x="763950" y="868600"/>
            <a:ext cx="9194099" cy="1647150"/>
            <a:chOff x="763950" y="868600"/>
            <a:chExt cx="9194099" cy="1647150"/>
          </a:xfrm>
        </p:grpSpPr>
        <p:pic>
          <p:nvPicPr>
            <p:cNvPr id="184" name="Google Shape;184;g38c6f904639_0_10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3950" y="868600"/>
              <a:ext cx="9194099" cy="1647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g38c6f904639_0_105"/>
            <p:cNvSpPr txBox="1"/>
            <p:nvPr/>
          </p:nvSpPr>
          <p:spPr>
            <a:xfrm>
              <a:off x="1958700" y="1144825"/>
              <a:ext cx="7521000" cy="109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2750">
                  <a:solidFill>
                    <a:srgbClr val="7EB6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Aula 28 - Revisão SQL: JOIN, agrupamentos, funções</a:t>
              </a:r>
              <a:endParaRPr/>
            </a:p>
          </p:txBody>
        </p:sp>
      </p:grpSp>
      <p:sp>
        <p:nvSpPr>
          <p:cNvPr id="186" name="Google Shape;186;g38c6f904639_0_105"/>
          <p:cNvSpPr txBox="1"/>
          <p:nvPr/>
        </p:nvSpPr>
        <p:spPr>
          <a:xfrm>
            <a:off x="1151325" y="3854725"/>
            <a:ext cx="11767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n-US" sz="2000">
                <a:solidFill>
                  <a:schemeClr val="dk1"/>
                </a:solidFill>
              </a:rPr>
              <a:t> → filtra </a:t>
            </a:r>
            <a:r>
              <a:rPr b="1" lang="en-US" sz="2000">
                <a:solidFill>
                  <a:schemeClr val="dk1"/>
                </a:solidFill>
              </a:rPr>
              <a:t>antes</a:t>
            </a:r>
            <a:r>
              <a:rPr lang="en-US" sz="2000">
                <a:solidFill>
                  <a:schemeClr val="dk1"/>
                </a:solidFill>
              </a:rPr>
              <a:t> da agregação.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HAVING</a:t>
            </a:r>
            <a:r>
              <a:rPr lang="en-US" sz="2000">
                <a:solidFill>
                  <a:schemeClr val="dk1"/>
                </a:solidFill>
              </a:rPr>
              <a:t> → filtra </a:t>
            </a:r>
            <a:r>
              <a:rPr b="1" lang="en-US" sz="2000">
                <a:solidFill>
                  <a:schemeClr val="dk1"/>
                </a:solidFill>
              </a:rPr>
              <a:t>depois</a:t>
            </a:r>
            <a:r>
              <a:rPr lang="en-US" sz="2000">
                <a:solidFill>
                  <a:schemeClr val="dk1"/>
                </a:solidFill>
              </a:rPr>
              <a:t> da agregação.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87" name="Google Shape;187;g38c6f904639_0_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1325" y="5016850"/>
            <a:ext cx="6153750" cy="1846125"/>
          </a:xfrm>
          <a:prstGeom prst="rect">
            <a:avLst/>
          </a:prstGeom>
          <a:noFill/>
          <a:ln cap="flat" cmpd="sng" w="19050">
            <a:solidFill>
              <a:srgbClr val="7EB61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8c6f904639_0_116"/>
          <p:cNvSpPr txBox="1"/>
          <p:nvPr/>
        </p:nvSpPr>
        <p:spPr>
          <a:xfrm>
            <a:off x="1151325" y="3028800"/>
            <a:ext cx="7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Prática guiada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93" name="Google Shape;193;g38c6f904639_0_116"/>
          <p:cNvGrpSpPr/>
          <p:nvPr/>
        </p:nvGrpSpPr>
        <p:grpSpPr>
          <a:xfrm>
            <a:off x="763950" y="868600"/>
            <a:ext cx="9194099" cy="1647150"/>
            <a:chOff x="763950" y="868600"/>
            <a:chExt cx="9194099" cy="1647150"/>
          </a:xfrm>
        </p:grpSpPr>
        <p:pic>
          <p:nvPicPr>
            <p:cNvPr id="194" name="Google Shape;194;g38c6f904639_0_1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3950" y="868600"/>
              <a:ext cx="9194099" cy="1647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g38c6f904639_0_116"/>
            <p:cNvSpPr txBox="1"/>
            <p:nvPr/>
          </p:nvSpPr>
          <p:spPr>
            <a:xfrm>
              <a:off x="1958700" y="1144825"/>
              <a:ext cx="7521000" cy="109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2750">
                  <a:solidFill>
                    <a:srgbClr val="7EB6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Aula 28 - Revisão SQL: JOIN, agrupamentos, funções</a:t>
              </a:r>
              <a:endParaRPr/>
            </a:p>
          </p:txBody>
        </p:sp>
      </p:grpSp>
      <p:sp>
        <p:nvSpPr>
          <p:cNvPr id="196" name="Google Shape;196;g38c6f904639_0_116"/>
          <p:cNvSpPr txBox="1"/>
          <p:nvPr/>
        </p:nvSpPr>
        <p:spPr>
          <a:xfrm>
            <a:off x="1151325" y="3854725"/>
            <a:ext cx="11767200" cy="49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US" sz="1800">
                <a:solidFill>
                  <a:schemeClr val="dk1"/>
                </a:solidFill>
              </a:rPr>
              <a:t>Crie duas tabelas: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clientes (id_cliente, nome, cidade)</a:t>
            </a: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pedidos (id_pedido, id_cliente, valor, data_pedido)</a:t>
            </a:r>
            <a:b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US" sz="1800">
                <a:solidFill>
                  <a:schemeClr val="dk1"/>
                </a:solidFill>
              </a:rPr>
              <a:t>Insira alguns dados simples.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US" sz="1800">
                <a:solidFill>
                  <a:schemeClr val="dk1"/>
                </a:solidFill>
              </a:rPr>
              <a:t>Execute as consultas: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Mostrar nome do cliente e valor dos pedidos (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INNER JOIN</a:t>
            </a:r>
            <a:r>
              <a:rPr lang="en-US" sz="1800">
                <a:solidFill>
                  <a:schemeClr val="dk1"/>
                </a:solidFill>
              </a:rPr>
              <a:t>).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Mostrar clientes que ainda </a:t>
            </a:r>
            <a:r>
              <a:rPr b="1" lang="en-US" sz="1800">
                <a:solidFill>
                  <a:schemeClr val="dk1"/>
                </a:solidFill>
              </a:rPr>
              <a:t>não fizeram pedidos</a:t>
            </a:r>
            <a:r>
              <a:rPr lang="en-US" sz="1800">
                <a:solidFill>
                  <a:schemeClr val="dk1"/>
                </a:solidFill>
              </a:rPr>
              <a:t> (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LEFT JOIN</a:t>
            </a:r>
            <a:r>
              <a:rPr lang="en-US" sz="1800">
                <a:solidFill>
                  <a:schemeClr val="dk1"/>
                </a:solidFill>
              </a:rPr>
              <a:t>).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Calcular o total de pedidos e o valor médio (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en-US" sz="1800">
                <a:solidFill>
                  <a:schemeClr val="dk1"/>
                </a:solidFill>
              </a:rPr>
              <a:t>,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AVG</a:t>
            </a:r>
            <a:r>
              <a:rPr lang="en-US" sz="1800">
                <a:solidFill>
                  <a:schemeClr val="dk1"/>
                </a:solidFill>
              </a:rPr>
              <a:t>).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Mostrar total de gastos por cliente (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GROUP BY</a:t>
            </a:r>
            <a:r>
              <a:rPr lang="en-US" sz="1800">
                <a:solidFill>
                  <a:schemeClr val="dk1"/>
                </a:solidFill>
              </a:rPr>
              <a:t>).</a:t>
            </a:r>
            <a:endParaRPr sz="18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800">
                <a:solidFill>
                  <a:schemeClr val="dk1"/>
                </a:solidFill>
              </a:rPr>
              <a:t>Mostrar apenas clientes que gastaram acima de 300 (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HAVING</a:t>
            </a:r>
            <a:r>
              <a:rPr lang="en-US" sz="1800">
                <a:solidFill>
                  <a:schemeClr val="dk1"/>
                </a:solidFill>
              </a:rPr>
              <a:t>).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8c6f904639_0_126"/>
          <p:cNvSpPr txBox="1"/>
          <p:nvPr/>
        </p:nvSpPr>
        <p:spPr>
          <a:xfrm>
            <a:off x="1151325" y="3028800"/>
            <a:ext cx="7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Exercícios propostos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02" name="Google Shape;202;g38c6f904639_0_126"/>
          <p:cNvGrpSpPr/>
          <p:nvPr/>
        </p:nvGrpSpPr>
        <p:grpSpPr>
          <a:xfrm>
            <a:off x="763950" y="868600"/>
            <a:ext cx="9194099" cy="1647150"/>
            <a:chOff x="763950" y="868600"/>
            <a:chExt cx="9194099" cy="1647150"/>
          </a:xfrm>
        </p:grpSpPr>
        <p:pic>
          <p:nvPicPr>
            <p:cNvPr id="203" name="Google Shape;203;g38c6f904639_0_1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3950" y="868600"/>
              <a:ext cx="9194099" cy="1647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" name="Google Shape;204;g38c6f904639_0_126"/>
            <p:cNvSpPr txBox="1"/>
            <p:nvPr/>
          </p:nvSpPr>
          <p:spPr>
            <a:xfrm>
              <a:off x="1958700" y="1144825"/>
              <a:ext cx="7521000" cy="109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2750">
                  <a:solidFill>
                    <a:srgbClr val="7EB6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Aula 28 - Revisão SQL: JOIN, agrupamentos, funções</a:t>
              </a:r>
              <a:endParaRPr/>
            </a:p>
          </p:txBody>
        </p:sp>
      </p:grpSp>
      <p:sp>
        <p:nvSpPr>
          <p:cNvPr id="205" name="Google Shape;205;g38c6f904639_0_126"/>
          <p:cNvSpPr txBox="1"/>
          <p:nvPr/>
        </p:nvSpPr>
        <p:spPr>
          <a:xfrm>
            <a:off x="1151325" y="3854725"/>
            <a:ext cx="11767200" cy="2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Liste o nome e cidade dos clientes que fizeram pedidos acima de R$ 200.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Calcule o valor total de pedidos por cidade.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Mostre o nome dos clientes que </a:t>
            </a:r>
            <a:r>
              <a:rPr b="1" lang="en-US" sz="2000">
                <a:solidFill>
                  <a:schemeClr val="dk1"/>
                </a:solidFill>
              </a:rPr>
              <a:t>não possuem pedidos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Exiba o maior e menor valor de pedido.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Mostre a </a:t>
            </a:r>
            <a:r>
              <a:rPr b="1" lang="en-US" sz="2000">
                <a:solidFill>
                  <a:schemeClr val="dk1"/>
                </a:solidFill>
              </a:rPr>
              <a:t>média de pedidos</a:t>
            </a:r>
            <a:r>
              <a:rPr lang="en-US" sz="2000">
                <a:solidFill>
                  <a:schemeClr val="dk1"/>
                </a:solidFill>
              </a:rPr>
              <a:t> por cliente.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71f89f91c1_0_185"/>
          <p:cNvSpPr txBox="1"/>
          <p:nvPr/>
        </p:nvSpPr>
        <p:spPr>
          <a:xfrm>
            <a:off x="2870800" y="4343100"/>
            <a:ext cx="117672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Alguma dúvida ?</a:t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prof.adrielly.sayonara@gmail.com</a:t>
            </a:r>
            <a:endParaRPr b="1"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11" name="Google Shape;211;g371f89f91c1_0_185"/>
          <p:cNvGrpSpPr/>
          <p:nvPr/>
        </p:nvGrpSpPr>
        <p:grpSpPr>
          <a:xfrm>
            <a:off x="763950" y="868600"/>
            <a:ext cx="9194099" cy="1647150"/>
            <a:chOff x="763950" y="868600"/>
            <a:chExt cx="9194099" cy="1647150"/>
          </a:xfrm>
        </p:grpSpPr>
        <p:pic>
          <p:nvPicPr>
            <p:cNvPr id="212" name="Google Shape;212;g371f89f91c1_0_18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3950" y="868600"/>
              <a:ext cx="9194099" cy="1647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3" name="Google Shape;213;g371f89f91c1_0_185"/>
            <p:cNvSpPr txBox="1"/>
            <p:nvPr/>
          </p:nvSpPr>
          <p:spPr>
            <a:xfrm>
              <a:off x="1958700" y="1144825"/>
              <a:ext cx="7521000" cy="109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2750">
                  <a:solidFill>
                    <a:srgbClr val="7EB6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Aula 28 - Revisão SQL: JOIN, agrupamentos, funções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Isaias Dias</dc:creator>
</cp:coreProperties>
</file>