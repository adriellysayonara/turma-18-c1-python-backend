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hYUbJwvo641i2v0+VsZdTj918X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6a47479e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6a47479ee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622bb3c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2622bb3cb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6a47479e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76a47479ee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7925998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87925998d7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6a47479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6a47479e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7587e82d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77587e82df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7587e82df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77587e82df_2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7587e82df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77587e82df_2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7587e82df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77587e82df_2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7587e82df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7587e82df_2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7587e82df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77587e82df_2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7587e82df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77587e82df_2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7587e82df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77587e82df_2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7587e82df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77587e82df_2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7587e82df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77587e82df_2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7587e82df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77587e82df_2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7587e82df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77587e82df_2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7587e82df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77587e82df_2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7587e82df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77587e82df_2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7587e82df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77587e82df_2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7587e82df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77587e82df_2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77587e82df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77587e82df_2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7587e82df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77587e82df_2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7587e82df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77587e82df_2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9759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</a:t>
            </a:r>
            <a:r>
              <a:rPr b="1" lang="en-US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551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Entidade-Relacionamento (ER)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96441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o que é um banco de dados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sobre Entidades, Relacionamentos e Cardinalidade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diagramas ER simples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6a47479ee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6a47479ee_0_2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76a47479ee_0_20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Motivação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76a47479ee_0_20"/>
          <p:cNvSpPr txBox="1"/>
          <p:nvPr/>
        </p:nvSpPr>
        <p:spPr>
          <a:xfrm>
            <a:off x="1151325" y="3809875"/>
            <a:ext cx="96441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os sistemas armazenam e organizam informação?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6a47479ee_0_2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76a47479ee_0_20"/>
          <p:cNvSpPr txBox="1"/>
          <p:nvPr/>
        </p:nvSpPr>
        <p:spPr>
          <a:xfrm>
            <a:off x="1881050" y="5204714"/>
            <a:ext cx="16494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Netflix: filmes, usuários, recomendações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Instagram: postagens, curtidas, comentários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Mercado livre / Shopee: produtos, vendedores, compras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72622bb3cb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72622bb3cb_0_3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72622bb3cb_0_3"/>
          <p:cNvSpPr txBox="1"/>
          <p:nvPr/>
        </p:nvSpPr>
        <p:spPr>
          <a:xfrm>
            <a:off x="1151325" y="3028800"/>
            <a:ext cx="67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é um Banco de Dados?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72622bb3cb_0_3"/>
          <p:cNvSpPr txBox="1"/>
          <p:nvPr/>
        </p:nvSpPr>
        <p:spPr>
          <a:xfrm>
            <a:off x="1151325" y="3809875"/>
            <a:ext cx="9644100" cy="3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Definição: Coleção organizada de dados que pode ser acessada, gerenciada e atualizada.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Importância: Organização, consistência, persistência.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Lista de contatos → agenda no celular.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72622bb3cb_0_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76a47479e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76a47479ee_0_3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76a47479ee_0_3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SGBD (Sistema Gerenciador de Banco de Dados)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76a47479ee_0_3"/>
          <p:cNvSpPr txBox="1"/>
          <p:nvPr/>
        </p:nvSpPr>
        <p:spPr>
          <a:xfrm>
            <a:off x="1151325" y="3809875"/>
            <a:ext cx="9644100" cy="3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que permite criar, manter e manipular bancos de dados.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 MySQL, PostgreSQL, SQLite, MongoDB.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Responsável por segurança, integridade e acesso concorrente.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76a47479ee_0_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87925998d7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87925998d7_0_1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87925998d7_0_1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Tipos de Bancos de Dados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87925998d7_0_1"/>
          <p:cNvSpPr txBox="1"/>
          <p:nvPr/>
        </p:nvSpPr>
        <p:spPr>
          <a:xfrm>
            <a:off x="1151325" y="3809875"/>
            <a:ext cx="107493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Bancos de Dados Relacionais (SQL):</a:t>
            </a:r>
            <a:r>
              <a:rPr lang="en-US" sz="2000">
                <a:solidFill>
                  <a:schemeClr val="dk1"/>
                </a:solidFill>
              </a:rPr>
              <a:t> São os mais tradicionais e amplamente utilizados. Organizam os dados em </a:t>
            </a:r>
            <a:r>
              <a:rPr b="1" lang="en-US" sz="2000">
                <a:solidFill>
                  <a:schemeClr val="dk1"/>
                </a:solidFill>
              </a:rPr>
              <a:t>tabelas</a:t>
            </a:r>
            <a:r>
              <a:rPr lang="en-US" sz="2000">
                <a:solidFill>
                  <a:schemeClr val="dk1"/>
                </a:solidFill>
              </a:rPr>
              <a:t> (conhecidas como relações), com linhas e colunas. As tabelas são conectadas através de chaves, permitindo a criação de relações entre os dados. A linguagem de consulta padrão é a SQL.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Bancos de Dados Não Relacionais (NoSQL):</a:t>
            </a:r>
            <a:r>
              <a:rPr lang="en-US" sz="2000">
                <a:solidFill>
                  <a:schemeClr val="dk1"/>
                </a:solidFill>
              </a:rPr>
              <a:t> Surgiram para lidar com grandes volumes de dados e a necessidade de flexibilidade. Eles não usam o modelo de tabelas fixas. Existem vários tipos, como bancos de dados de documentos (MongoDB), chave-valor (Redis) ou grafo (Neo4j).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31" name="Google Shape;131;g387925998d7_0_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76a47479ee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76a47479ee_0_12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g376a47479ee_0_12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Dados x Informações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76a47479ee_0_12"/>
          <p:cNvSpPr txBox="1"/>
          <p:nvPr/>
        </p:nvSpPr>
        <p:spPr>
          <a:xfrm>
            <a:off x="1151325" y="3809875"/>
            <a:ext cx="9644100" cy="2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Dado: valor bruto (ex: “Ana”, “25”).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Informações: dado processado (ex: “Ana tem 25 anos”)</a:t>
            </a:r>
            <a:b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76a47479ee_0_1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77587e82df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77587e82df_2_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377587e82df_2_0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O Modelo de Entidade-Relacionamento (ER)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77587e82df_2_0"/>
          <p:cNvSpPr txBox="1"/>
          <p:nvPr/>
        </p:nvSpPr>
        <p:spPr>
          <a:xfrm>
            <a:off x="1151325" y="3809875"/>
            <a:ext cx="11397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</a:t>
            </a:r>
            <a:r>
              <a:rPr b="1" lang="en-US" sz="2000">
                <a:solidFill>
                  <a:schemeClr val="dk1"/>
                </a:solidFill>
              </a:rPr>
              <a:t>Modelo ER</a:t>
            </a:r>
            <a:r>
              <a:rPr lang="en-US" sz="2000">
                <a:solidFill>
                  <a:schemeClr val="dk1"/>
                </a:solidFill>
              </a:rPr>
              <a:t> é uma técnica de modelagem de dados que nos ajuda a projetar e visualizar a estrutura de um banco de dados de forma abstrata. É o primeiro passo no processo de design. O seu objetivo é representar, de forma gráfica e simples, os objetos do mundo real e as conexões entre eles.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77587e82df_2_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77587e82df_2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77587e82df_2_8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77587e82df_2_8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é Entidade?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77587e82df_2_8"/>
          <p:cNvSpPr txBox="1"/>
          <p:nvPr/>
        </p:nvSpPr>
        <p:spPr>
          <a:xfrm>
            <a:off x="1151325" y="3809875"/>
            <a:ext cx="9644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 um objeto do mundo real que pode ser identificado.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Exemplos: Aluno, Professor, Curso.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Representação no ER: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77587e82df_2_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77587e82df_2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77587e82df_2_16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77587e82df_2_16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Atributos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g377587e82df_2_16"/>
          <p:cNvSpPr txBox="1"/>
          <p:nvPr/>
        </p:nvSpPr>
        <p:spPr>
          <a:xfrm>
            <a:off x="1151325" y="3809875"/>
            <a:ext cx="145335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atributo</a:t>
            </a:r>
            <a:r>
              <a:rPr lang="en-US" sz="2000">
                <a:solidFill>
                  <a:schemeClr val="dk1"/>
                </a:solidFill>
              </a:rPr>
              <a:t> é uma propriedade ou característica que descreve uma entidade.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Exemplos:</a:t>
            </a:r>
            <a:r>
              <a:rPr lang="en-US" sz="2000">
                <a:solidFill>
                  <a:schemeClr val="dk1"/>
                </a:solidFill>
              </a:rPr>
              <a:t> Para a entidade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Aluno</a:t>
            </a:r>
            <a:r>
              <a:rPr lang="en-US" sz="2000">
                <a:solidFill>
                  <a:schemeClr val="dk1"/>
                </a:solidFill>
              </a:rPr>
              <a:t>, os atributos podem ser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idade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matrícula</a:t>
            </a:r>
            <a:r>
              <a:rPr lang="en-US" sz="2000">
                <a:solidFill>
                  <a:schemeClr val="dk1"/>
                </a:solidFill>
              </a:rPr>
              <a:t> ou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endereço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Representação Gráfica:</a:t>
            </a:r>
            <a:r>
              <a:rPr lang="en-US" sz="2000">
                <a:solidFill>
                  <a:schemeClr val="dk1"/>
                </a:solidFill>
              </a:rPr>
              <a:t> um círculo ou oval.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Os atributos podem ser de diferentes tipos, o que adiciona profundidade ao modelo: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Atributo Simples:</a:t>
            </a:r>
            <a:r>
              <a:rPr lang="en-US" sz="2000">
                <a:solidFill>
                  <a:schemeClr val="dk1"/>
                </a:solidFill>
              </a:rPr>
              <a:t> Não pode ser dividido. Exemplo: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idade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Atributo Composto:</a:t>
            </a:r>
            <a:r>
              <a:rPr lang="en-US" sz="2000">
                <a:solidFill>
                  <a:schemeClr val="dk1"/>
                </a:solidFill>
              </a:rPr>
              <a:t> Pode ser dividido em partes menores. Exemplo: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endereço</a:t>
            </a:r>
            <a:r>
              <a:rPr lang="en-US" sz="2000">
                <a:solidFill>
                  <a:schemeClr val="dk1"/>
                </a:solidFill>
              </a:rPr>
              <a:t> (que pode ser dividido em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rua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cidade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CEP</a:t>
            </a:r>
            <a:r>
              <a:rPr lang="en-US" sz="2000">
                <a:solidFill>
                  <a:schemeClr val="dk1"/>
                </a:solidFill>
              </a:rPr>
              <a:t>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Atributo Multivalorado:</a:t>
            </a:r>
            <a:r>
              <a:rPr lang="en-US" sz="2000">
                <a:solidFill>
                  <a:schemeClr val="dk1"/>
                </a:solidFill>
              </a:rPr>
              <a:t> Pode ter vários valores. Exemplo: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telefone</a:t>
            </a:r>
            <a:r>
              <a:rPr lang="en-US" sz="2000">
                <a:solidFill>
                  <a:schemeClr val="dk1"/>
                </a:solidFill>
              </a:rPr>
              <a:t> (uma pessoa pode ter mais de um).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Chave Primária:</a:t>
            </a:r>
            <a:r>
              <a:rPr lang="en-US" sz="2000">
                <a:solidFill>
                  <a:schemeClr val="dk1"/>
                </a:solidFill>
              </a:rPr>
              <a:t> Um atributo que identifica de forma única cada instância de uma entidade. É o identificador principal. Exemplo: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matrícula</a:t>
            </a:r>
            <a:r>
              <a:rPr lang="en-US" sz="2000">
                <a:solidFill>
                  <a:schemeClr val="dk1"/>
                </a:solidFill>
              </a:rPr>
              <a:t> para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Aluno</a:t>
            </a:r>
            <a:r>
              <a:rPr lang="en-US" sz="2000">
                <a:solidFill>
                  <a:schemeClr val="dk1"/>
                </a:solidFill>
              </a:rPr>
              <a:t> ou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en-US" sz="2000">
                <a:solidFill>
                  <a:schemeClr val="dk1"/>
                </a:solidFill>
              </a:rPr>
              <a:t> para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Professor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67" name="Google Shape;167;g377587e82df_2_1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77587e82df_2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77587e82df_2_25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g377587e82df_2_25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Chaves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377587e82df_2_25"/>
          <p:cNvSpPr txBox="1"/>
          <p:nvPr/>
        </p:nvSpPr>
        <p:spPr>
          <a:xfrm>
            <a:off x="1151325" y="3809875"/>
            <a:ext cx="96441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Chave primária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atributo que identifica unicamente a entidade.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CPF, Matrícula.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7587e82df_2_2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77587e82df_2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77587e82df_2_34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77587e82df_2_34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Relacionamento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77587e82df_2_34"/>
          <p:cNvSpPr txBox="1"/>
          <p:nvPr/>
        </p:nvSpPr>
        <p:spPr>
          <a:xfrm>
            <a:off x="1151325" y="3809875"/>
            <a:ext cx="96441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relacionamento</a:t>
            </a:r>
            <a:r>
              <a:rPr lang="en-US" sz="2000">
                <a:solidFill>
                  <a:schemeClr val="dk1"/>
                </a:solidFill>
              </a:rPr>
              <a:t> é a associação ou a ligação entre duas ou mais entidades. Relacionamentos são geralmente </a:t>
            </a:r>
            <a:r>
              <a:rPr b="1" lang="en-US" sz="2000">
                <a:solidFill>
                  <a:schemeClr val="dk1"/>
                </a:solidFill>
              </a:rPr>
              <a:t>verbos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Exemplos:</a:t>
            </a:r>
            <a:r>
              <a:rPr lang="en-US" sz="2000">
                <a:solidFill>
                  <a:schemeClr val="dk1"/>
                </a:solidFill>
              </a:rPr>
              <a:t> Um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Aluno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se Matricula</a:t>
            </a:r>
            <a:r>
              <a:rPr lang="en-US" sz="2000">
                <a:solidFill>
                  <a:schemeClr val="dk1"/>
                </a:solidFill>
              </a:rPr>
              <a:t> em um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Curso</a:t>
            </a:r>
            <a:r>
              <a:rPr lang="en-US" sz="2000">
                <a:solidFill>
                  <a:schemeClr val="dk1"/>
                </a:solidFill>
              </a:rPr>
              <a:t>. Um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Professor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Leciona</a:t>
            </a:r>
            <a:r>
              <a:rPr lang="en-US" sz="2000">
                <a:solidFill>
                  <a:schemeClr val="dk1"/>
                </a:solidFill>
              </a:rPr>
              <a:t> um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Curso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Representação Gráfica:</a:t>
            </a:r>
            <a:r>
              <a:rPr lang="en-US" sz="2000">
                <a:solidFill>
                  <a:schemeClr val="dk1"/>
                </a:solidFill>
              </a:rPr>
              <a:t> um losango.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85" name="Google Shape;185;g377587e82df_2_3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77587e82df_2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77587e82df_2_42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77587e82df_2_42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Cardinalidade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77587e82df_2_42"/>
          <p:cNvSpPr txBox="1"/>
          <p:nvPr/>
        </p:nvSpPr>
        <p:spPr>
          <a:xfrm>
            <a:off x="1151325" y="3809875"/>
            <a:ext cx="12225000" cy="5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quantas ocorrências de uma entidade podem se relacionar com outra.</a:t>
            </a:r>
            <a:b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Tipos: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○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1:1 (um para um)</a:t>
            </a:r>
            <a:b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○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1:N (um para muitos)</a:t>
            </a:r>
            <a:b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○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N:M (muitos para muitos)</a:t>
            </a:r>
            <a:b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77587e82df_2_4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77587e82df_2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77587e82df_2_5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377587e82df_2_50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de Cardinalidade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g377587e82df_2_50"/>
          <p:cNvSpPr txBox="1"/>
          <p:nvPr/>
        </p:nvSpPr>
        <p:spPr>
          <a:xfrm>
            <a:off x="1151325" y="3809875"/>
            <a:ext cx="122250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1:N → Um professor pode lecionar várias disciplinas.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N:M → Alunos podem se matricular em várias disciplinas, e disciplinas têm vários alunos.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77587e82df_2_5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77587e82df_2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77587e82df_2_58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g377587e82df_2_58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Diagrama de ER Básico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g377587e82df_2_58"/>
          <p:cNvSpPr txBox="1"/>
          <p:nvPr/>
        </p:nvSpPr>
        <p:spPr>
          <a:xfrm>
            <a:off x="1151325" y="3809875"/>
            <a:ext cx="122250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com Aluno, Curso e Professor.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Mostrando entidades, atributos, relacionamentos e cardinalidade.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77587e82df_2_5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77587e82df_2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77587e82df_2_66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77587e82df_2_66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Modelo ER vs. Tabelas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g377587e82df_2_66"/>
          <p:cNvSpPr txBox="1"/>
          <p:nvPr/>
        </p:nvSpPr>
        <p:spPr>
          <a:xfrm>
            <a:off x="1151325" y="3809875"/>
            <a:ext cx="1222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 → conceitual (planejamento).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→ implementação (SQL).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77587e82df_2_6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77587e82df_2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77587e82df_2_74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g377587e82df_2_74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de Transformação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377587e82df_2_74"/>
          <p:cNvSpPr txBox="1"/>
          <p:nvPr/>
        </p:nvSpPr>
        <p:spPr>
          <a:xfrm>
            <a:off x="1151325" y="3809875"/>
            <a:ext cx="122250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Entidade Aluno → Tabela Aluno (colunas Nome, Matrícula, Idade).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Relacionamento “Cursa” → Tabela intermediária (AlunoCurso).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77587e82df_2_7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g377587e82df_2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77587e82df_2_82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g377587e82df_2_82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Importância de Modelar Bem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377587e82df_2_82"/>
          <p:cNvSpPr txBox="1"/>
          <p:nvPr/>
        </p:nvSpPr>
        <p:spPr>
          <a:xfrm>
            <a:off x="1151325" y="3809875"/>
            <a:ext cx="122250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Evita redundância.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Facilita manutenção.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Garante consistência.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77587e82df_2_8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377587e82df_2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77587e82df_2_9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g377587e82df_2_90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 no Mundo Real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g377587e82df_2_90"/>
          <p:cNvSpPr txBox="1"/>
          <p:nvPr/>
        </p:nvSpPr>
        <p:spPr>
          <a:xfrm>
            <a:off x="1151325" y="3809875"/>
            <a:ext cx="1222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sociais, e-commerce, bancos, sistemas hospitalares.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77587e82df_2_9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77587e82df_2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77587e82df_2_98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377587e82df_2_98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1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g377587e82df_2_98"/>
          <p:cNvSpPr txBox="1"/>
          <p:nvPr/>
        </p:nvSpPr>
        <p:spPr>
          <a:xfrm>
            <a:off x="1151325" y="3809875"/>
            <a:ext cx="12225000" cy="30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Monte um mini-diagrama ER para uma biblioteca: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Entidades mínimas: Livro, Autor, Empréstimo, Usuário.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Identifique atributos principais e relacionamentos.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77587e82df_2_9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377587e82df_2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77587e82df_2_106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g377587e82df_2_106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2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g377587e82df_2_106"/>
          <p:cNvSpPr txBox="1"/>
          <p:nvPr/>
        </p:nvSpPr>
        <p:spPr>
          <a:xfrm>
            <a:off x="1151325" y="3809875"/>
            <a:ext cx="12225000" cy="5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Cardinalidade: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Defina a cardinalidade correta para os seguintes cenários: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 e Pedido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Médico e Paciente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Filme e Ator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77587e82df_2_10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77587e82df_2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77587e82df_2_114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g377587e82df_2_114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Atividade Prática 3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g377587e82df_2_114"/>
          <p:cNvSpPr txBox="1"/>
          <p:nvPr/>
        </p:nvSpPr>
        <p:spPr>
          <a:xfrm>
            <a:off x="1151325" y="3809875"/>
            <a:ext cx="122250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ER para Tabelas: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partir do modelo da biblioteca, escreva como ficariam as tabelas iniciais (nomes das tabelas e colunas).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77587e82df_2_114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77587e82df_2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77587e82df_2_122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g377587e82df_2_122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 no Desenvolvimento Back-End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g377587e82df_2_122"/>
          <p:cNvSpPr txBox="1"/>
          <p:nvPr/>
        </p:nvSpPr>
        <p:spPr>
          <a:xfrm>
            <a:off x="1151325" y="3809875"/>
            <a:ext cx="122250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modelo ER ajuda a estruturar o banco antes de conectar com Python (ORM, SQLAlchemy, Django ORM).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77587e82df_2_12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377587e82df_2_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77587e82df_2_130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g377587e82df_2_130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Ferramentas para Criar ER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g377587e82df_2_130"/>
          <p:cNvSpPr txBox="1"/>
          <p:nvPr/>
        </p:nvSpPr>
        <p:spPr>
          <a:xfrm>
            <a:off x="1151325" y="3809875"/>
            <a:ext cx="1222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Lucidchart, Draw.io, MySQL Workbench, dbdiagram.io.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77587e82df_2_130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377587e82df_2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77587e82df_2_138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g377587e82df_2_138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 e Python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g377587e82df_2_138"/>
          <p:cNvSpPr txBox="1"/>
          <p:nvPr/>
        </p:nvSpPr>
        <p:spPr>
          <a:xfrm>
            <a:off x="1151325" y="3809875"/>
            <a:ext cx="122250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Integração será feita nas próximas aulas com SQLite/PostgreSQL.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ORM transforma entidades em classes.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77587e82df_2_138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77587e82df_2_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77587e82df_2_146"/>
          <p:cNvSpPr txBox="1"/>
          <p:nvPr/>
        </p:nvSpPr>
        <p:spPr>
          <a:xfrm>
            <a:off x="2086950" y="1276525"/>
            <a:ext cx="7263900" cy="1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g377587e82df_2_146"/>
          <p:cNvSpPr txBox="1"/>
          <p:nvPr/>
        </p:nvSpPr>
        <p:spPr>
          <a:xfrm>
            <a:off x="1151325" y="3028800"/>
            <a:ext cx="987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Resumo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g377587e82df_2_146"/>
          <p:cNvSpPr txBox="1"/>
          <p:nvPr/>
        </p:nvSpPr>
        <p:spPr>
          <a:xfrm>
            <a:off x="1151325" y="3809875"/>
            <a:ext cx="12225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Banco de dados: organiza dados.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ER: entidades, atributos, relacionamentos, cardinalidade.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Bom modelo = base sólida para sistemas reais.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77587e82df_2_146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71f89f91c1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clara.gomes@ufpe.br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71f89f91c1_0_185"/>
          <p:cNvSpPr txBox="1"/>
          <p:nvPr/>
        </p:nvSpPr>
        <p:spPr>
          <a:xfrm>
            <a:off x="2086950" y="1276525"/>
            <a:ext cx="77217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21 - Introdução a Banco de Dados e Modelo ER 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