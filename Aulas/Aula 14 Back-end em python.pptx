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JsvcCPYQELYvDr8HkqQLKqbrM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4da4721d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64da4721dd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4da4721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64da4721d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4da4721d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64da4721dd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4da4721d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64da4721dd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4da4721d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64da4721dd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4da4721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64da4721dd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4da4721d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64da4721dd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da4721d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64da4721dd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075" y="7942375"/>
            <a:ext cx="748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71f89f91c1_0_95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14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151325" y="3809875"/>
            <a:ext cx="9644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Entender o conceito de </a:t>
            </a:r>
            <a:r>
              <a:rPr b="1" lang="en-US" sz="2000">
                <a:solidFill>
                  <a:schemeClr val="dk1"/>
                </a:solidFill>
              </a:rPr>
              <a:t>herança</a:t>
            </a:r>
            <a:r>
              <a:rPr lang="en-US" sz="2000">
                <a:solidFill>
                  <a:schemeClr val="dk1"/>
                </a:solidFill>
              </a:rPr>
              <a:t> em Python.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Aprender como criar </a:t>
            </a:r>
            <a:r>
              <a:rPr b="1" lang="en-US" sz="2000">
                <a:solidFill>
                  <a:schemeClr val="dk1"/>
                </a:solidFill>
              </a:rPr>
              <a:t>classes filhas</a:t>
            </a:r>
            <a:r>
              <a:rPr lang="en-US" sz="2000">
                <a:solidFill>
                  <a:schemeClr val="dk1"/>
                </a:solidFill>
              </a:rPr>
              <a:t> que herdam atributos e métodos da classe pai.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Compreender o </a:t>
            </a:r>
            <a:r>
              <a:rPr b="1" lang="en-US" sz="2000">
                <a:solidFill>
                  <a:schemeClr val="dk1"/>
                </a:solidFill>
              </a:rPr>
              <a:t>polimorfismo</a:t>
            </a:r>
            <a:r>
              <a:rPr lang="en-US" sz="2000">
                <a:solidFill>
                  <a:schemeClr val="dk1"/>
                </a:solidFill>
              </a:rPr>
              <a:t>: métodos com mesmo nome, comportamento diferente.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Aplicar os conceitos em </a:t>
            </a:r>
            <a:r>
              <a:rPr b="1" lang="en-US" sz="2000">
                <a:solidFill>
                  <a:schemeClr val="dk1"/>
                </a:solidFill>
              </a:rPr>
              <a:t>projetos práticos</a:t>
            </a:r>
            <a:r>
              <a:rPr lang="en-US" sz="2000">
                <a:solidFill>
                  <a:schemeClr val="dk1"/>
                </a:solidFill>
              </a:rPr>
              <a:t>, consolidando POO.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64da4721dd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64da4721dd_0_3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64da4721dd_0_3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 Herança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64da4721dd_0_3"/>
          <p:cNvSpPr txBox="1"/>
          <p:nvPr/>
        </p:nvSpPr>
        <p:spPr>
          <a:xfrm>
            <a:off x="1151325" y="3809875"/>
            <a:ext cx="9644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Permite que uma </a:t>
            </a:r>
            <a:r>
              <a:rPr b="1" lang="en-US" sz="2000">
                <a:solidFill>
                  <a:schemeClr val="dk1"/>
                </a:solidFill>
              </a:rPr>
              <a:t>classe filha</a:t>
            </a:r>
            <a:r>
              <a:rPr lang="en-US" sz="2000">
                <a:solidFill>
                  <a:schemeClr val="dk1"/>
                </a:solidFill>
              </a:rPr>
              <a:t> reutilize </a:t>
            </a:r>
            <a:r>
              <a:rPr b="1" lang="en-US" sz="2000">
                <a:solidFill>
                  <a:schemeClr val="dk1"/>
                </a:solidFill>
              </a:rPr>
              <a:t>atributos e métodos</a:t>
            </a:r>
            <a:r>
              <a:rPr lang="en-US" sz="2000">
                <a:solidFill>
                  <a:schemeClr val="dk1"/>
                </a:solidFill>
              </a:rPr>
              <a:t> de uma </a:t>
            </a:r>
            <a:r>
              <a:rPr b="1" lang="en-US" sz="2000">
                <a:solidFill>
                  <a:schemeClr val="dk1"/>
                </a:solidFill>
              </a:rPr>
              <a:t>classe pai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Evita repetição de código e facilita manutenção.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64da4721dd_0_3"/>
          <p:cNvSpPr/>
          <p:nvPr/>
        </p:nvSpPr>
        <p:spPr>
          <a:xfrm>
            <a:off x="1315775" y="5668250"/>
            <a:ext cx="10436400" cy="1179900"/>
          </a:xfrm>
          <a:prstGeom prst="rect">
            <a:avLst/>
          </a:prstGeom>
          <a:solidFill>
            <a:srgbClr val="7EB61F">
              <a:alpha val="63390"/>
            </a:srgbClr>
          </a:solidFill>
          <a:ln cap="flat" cmpd="sng" w="9525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📌 Analogia: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Uma </a:t>
            </a:r>
            <a:r>
              <a:rPr b="1" lang="en-US" sz="2000">
                <a:solidFill>
                  <a:schemeClr val="dk1"/>
                </a:solidFill>
              </a:rPr>
              <a:t>classe pai</a:t>
            </a:r>
            <a:r>
              <a:rPr lang="en-US" sz="2000">
                <a:solidFill>
                  <a:schemeClr val="dk1"/>
                </a:solidFill>
              </a:rPr>
              <a:t> é como uma </a:t>
            </a:r>
            <a:r>
              <a:rPr b="1" lang="en-US" sz="2000">
                <a:solidFill>
                  <a:schemeClr val="dk1"/>
                </a:solidFill>
              </a:rPr>
              <a:t>receita básica de bolo</a:t>
            </a:r>
            <a:r>
              <a:rPr lang="en-US" sz="2000">
                <a:solidFill>
                  <a:schemeClr val="dk1"/>
                </a:solidFill>
              </a:rPr>
              <a:t>, e a </a:t>
            </a:r>
            <a:r>
              <a:rPr b="1" lang="en-US" sz="2000">
                <a:solidFill>
                  <a:schemeClr val="dk1"/>
                </a:solidFill>
              </a:rPr>
              <a:t>classe filha</a:t>
            </a:r>
            <a:r>
              <a:rPr lang="en-US" sz="2000">
                <a:solidFill>
                  <a:schemeClr val="dk1"/>
                </a:solidFill>
              </a:rPr>
              <a:t> é uma </a:t>
            </a:r>
            <a:r>
              <a:rPr b="1" lang="en-US" sz="2000">
                <a:solidFill>
                  <a:schemeClr val="dk1"/>
                </a:solidFill>
              </a:rPr>
              <a:t>variação da receita</a:t>
            </a:r>
            <a:r>
              <a:rPr lang="en-US" sz="2000">
                <a:solidFill>
                  <a:schemeClr val="dk1"/>
                </a:solidFill>
              </a:rPr>
              <a:t> (ex.: bolo de chocolate, bolo de cenoura).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64da4721dd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64da4721dd_0_14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64da4721dd_0_14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Polimorfismo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64da4721dd_0_14"/>
          <p:cNvSpPr txBox="1"/>
          <p:nvPr/>
        </p:nvSpPr>
        <p:spPr>
          <a:xfrm>
            <a:off x="1151325" y="3809875"/>
            <a:ext cx="96441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Permite que </a:t>
            </a:r>
            <a:r>
              <a:rPr b="1" lang="en-US" sz="2000">
                <a:solidFill>
                  <a:schemeClr val="dk1"/>
                </a:solidFill>
              </a:rPr>
              <a:t>métodos com o mesmo nome</a:t>
            </a:r>
            <a:r>
              <a:rPr lang="en-US" sz="2000">
                <a:solidFill>
                  <a:schemeClr val="dk1"/>
                </a:solidFill>
              </a:rPr>
              <a:t> se comportem de forma </a:t>
            </a:r>
            <a:r>
              <a:rPr b="1" lang="en-US" sz="2000">
                <a:solidFill>
                  <a:schemeClr val="dk1"/>
                </a:solidFill>
              </a:rPr>
              <a:t>diferente</a:t>
            </a:r>
            <a:r>
              <a:rPr lang="en-US" sz="2000">
                <a:solidFill>
                  <a:schemeClr val="dk1"/>
                </a:solidFill>
              </a:rPr>
              <a:t> dependendo do objeto.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Em Python, polimorfismo acontece com: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Sobrescrita de métodos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overriding</a:t>
            </a:r>
            <a:r>
              <a:rPr lang="en-US" sz="2000">
                <a:solidFill>
                  <a:schemeClr val="dk1"/>
                </a:solidFill>
              </a:rPr>
              <a:t>)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Funções que aceitam diferentes tipos de objetos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64da4721dd_0_14"/>
          <p:cNvSpPr/>
          <p:nvPr/>
        </p:nvSpPr>
        <p:spPr>
          <a:xfrm>
            <a:off x="1330700" y="6655100"/>
            <a:ext cx="10436400" cy="1179900"/>
          </a:xfrm>
          <a:prstGeom prst="rect">
            <a:avLst/>
          </a:prstGeom>
          <a:solidFill>
            <a:srgbClr val="7EB61F">
              <a:alpha val="63390"/>
            </a:srgbClr>
          </a:solidFill>
          <a:ln cap="flat" cmpd="sng" w="9525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📌 Analogia: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botão de “ligar”</a:t>
            </a:r>
            <a:r>
              <a:rPr lang="en-US" sz="2000">
                <a:solidFill>
                  <a:schemeClr val="dk1"/>
                </a:solidFill>
              </a:rPr>
              <a:t> pode ligar o </a:t>
            </a:r>
            <a:r>
              <a:rPr b="1" lang="en-US" sz="2000">
                <a:solidFill>
                  <a:schemeClr val="dk1"/>
                </a:solidFill>
              </a:rPr>
              <a:t>carro</a:t>
            </a:r>
            <a:r>
              <a:rPr lang="en-US" sz="2000">
                <a:solidFill>
                  <a:schemeClr val="dk1"/>
                </a:solidFill>
              </a:rPr>
              <a:t>, a </a:t>
            </a:r>
            <a:r>
              <a:rPr b="1" lang="en-US" sz="2000">
                <a:solidFill>
                  <a:schemeClr val="dk1"/>
                </a:solidFill>
              </a:rPr>
              <a:t>máquina de café</a:t>
            </a:r>
            <a:r>
              <a:rPr lang="en-US" sz="2000">
                <a:solidFill>
                  <a:schemeClr val="dk1"/>
                </a:solidFill>
              </a:rPr>
              <a:t> ou o </a:t>
            </a:r>
            <a:r>
              <a:rPr b="1" lang="en-US" sz="2000">
                <a:solidFill>
                  <a:schemeClr val="dk1"/>
                </a:solidFill>
              </a:rPr>
              <a:t>computador</a:t>
            </a:r>
            <a:r>
              <a:rPr lang="en-US" sz="2000">
                <a:solidFill>
                  <a:schemeClr val="dk1"/>
                </a:solidFill>
              </a:rPr>
              <a:t> — mesma ação, resultados diferentes.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64da4721dd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64da4721dd_0_24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64da4721dd_0_24"/>
          <p:cNvSpPr txBox="1"/>
          <p:nvPr/>
        </p:nvSpPr>
        <p:spPr>
          <a:xfrm>
            <a:off x="986825" y="4820238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Herança Simples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g364da4721dd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975" y="2849375"/>
            <a:ext cx="4410075" cy="56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64da4721dd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64da4721dd_0_34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64da4721dd_0_34"/>
          <p:cNvSpPr txBox="1"/>
          <p:nvPr/>
        </p:nvSpPr>
        <p:spPr>
          <a:xfrm>
            <a:off x="986825" y="4820238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Polimorfismo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Google Shape;128;g364da4721dd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4738" y="3774600"/>
            <a:ext cx="10478524" cy="29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64da4721dd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64da4721dd_0_42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64da4721dd_0_42"/>
          <p:cNvSpPr txBox="1"/>
          <p:nvPr/>
        </p:nvSpPr>
        <p:spPr>
          <a:xfrm>
            <a:off x="986825" y="4820238"/>
            <a:ext cx="382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Herança com super()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g364da4721dd_0_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6925" y="2668150"/>
            <a:ext cx="6848475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64da4721dd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64da4721dd_0_51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64da4721dd_0_51"/>
          <p:cNvSpPr txBox="1"/>
          <p:nvPr/>
        </p:nvSpPr>
        <p:spPr>
          <a:xfrm>
            <a:off x="1121400" y="3289450"/>
            <a:ext cx="112737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Boas Práticas</a:t>
            </a:r>
            <a:endParaRPr b="1" sz="3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Use </a:t>
            </a:r>
            <a:r>
              <a:rPr b="1" lang="en-US" sz="2000">
                <a:solidFill>
                  <a:schemeClr val="dk1"/>
                </a:solidFill>
              </a:rPr>
              <a:t>super()</a:t>
            </a:r>
            <a:r>
              <a:rPr lang="en-US" sz="2000">
                <a:solidFill>
                  <a:schemeClr val="dk1"/>
                </a:solidFill>
              </a:rPr>
              <a:t> para reaproveitar código da classe pai.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Sobrescreva métodos apenas quando necessário.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Pense em polimorfismo como </a:t>
            </a:r>
            <a:r>
              <a:rPr b="1" lang="en-US" sz="2000">
                <a:solidFill>
                  <a:schemeClr val="dk1"/>
                </a:solidFill>
              </a:rPr>
              <a:t>“mesma interface, diferentes implementações”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Herança → código mais limpo e reutilizável.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364da4721dd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64da4721dd_0_70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64da4721dd_0_70"/>
          <p:cNvSpPr txBox="1"/>
          <p:nvPr/>
        </p:nvSpPr>
        <p:spPr>
          <a:xfrm>
            <a:off x="1121400" y="3289450"/>
            <a:ext cx="11273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Aplicações no Mercado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Sistemas bancários: contas diferentes com regras diferentes.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Jogos: personagens com classes diferentes (guerreiro, mago, arqueiro).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Aplicações web: diferentes tipos de usuários (admin, cliente, fornecedor).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Frameworks de software: criar componentes reutilizáveis e extensíveis.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64da4721dd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64da4721dd_0_62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13 — Herança e Polimorfismo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64da4721dd_0_62"/>
          <p:cNvSpPr txBox="1"/>
          <p:nvPr/>
        </p:nvSpPr>
        <p:spPr>
          <a:xfrm>
            <a:off x="1121400" y="3289450"/>
            <a:ext cx="112737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Exercícios para Sala</a:t>
            </a:r>
            <a:endParaRPr b="1" sz="23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Crie uma classe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Veiculo</a:t>
            </a:r>
            <a:r>
              <a:rPr lang="en-US" sz="1700">
                <a:solidFill>
                  <a:schemeClr val="dk1"/>
                </a:solidFill>
              </a:rPr>
              <a:t> com atributos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marca</a:t>
            </a:r>
            <a:r>
              <a:rPr lang="en-US" sz="1700">
                <a:solidFill>
                  <a:schemeClr val="dk1"/>
                </a:solidFill>
              </a:rPr>
              <a:t> 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modelo</a:t>
            </a:r>
            <a:r>
              <a:rPr lang="en-US" sz="1700">
                <a:solidFill>
                  <a:schemeClr val="dk1"/>
                </a:solidFill>
              </a:rPr>
              <a:t> e método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ligar()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Crie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Carro</a:t>
            </a:r>
            <a:r>
              <a:rPr lang="en-US" sz="1700">
                <a:solidFill>
                  <a:schemeClr val="dk1"/>
                </a:solidFill>
              </a:rPr>
              <a:t> 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Moto</a:t>
            </a:r>
            <a:r>
              <a:rPr lang="en-US" sz="1700">
                <a:solidFill>
                  <a:schemeClr val="dk1"/>
                </a:solidFill>
              </a:rPr>
              <a:t> que herdam de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Veiculo</a:t>
            </a:r>
            <a:r>
              <a:rPr lang="en-US" sz="1700">
                <a:solidFill>
                  <a:schemeClr val="dk1"/>
                </a:solidFill>
              </a:rPr>
              <a:t> e sobrescrevem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ligar()</a:t>
            </a:r>
            <a:r>
              <a:rPr lang="en-US" sz="1700">
                <a:solidFill>
                  <a:schemeClr val="dk1"/>
                </a:solidFill>
              </a:rPr>
              <a:t> com mensagens específicas.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Crie uma classe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Funcionario</a:t>
            </a:r>
            <a:r>
              <a:rPr lang="en-US" sz="1700">
                <a:solidFill>
                  <a:schemeClr val="dk1"/>
                </a:solidFill>
              </a:rPr>
              <a:t> com método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calcular_salario()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Crie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Gerente</a:t>
            </a:r>
            <a:r>
              <a:rPr lang="en-US" sz="1700">
                <a:solidFill>
                  <a:schemeClr val="dk1"/>
                </a:solidFill>
              </a:rPr>
              <a:t> e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Vendedor</a:t>
            </a:r>
            <a:r>
              <a:rPr lang="en-US" sz="1700">
                <a:solidFill>
                  <a:schemeClr val="dk1"/>
                </a:solidFill>
              </a:rPr>
              <a:t> que implementam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calcular_salario()</a:t>
            </a:r>
            <a:r>
              <a:rPr lang="en-US" sz="1700">
                <a:solidFill>
                  <a:schemeClr val="dk1"/>
                </a:solidFill>
              </a:rPr>
              <a:t> de forma diferente (polimorfismo).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Expanda o </a:t>
            </a:r>
            <a:r>
              <a:rPr b="1" lang="en-US" sz="1700">
                <a:solidFill>
                  <a:schemeClr val="dk1"/>
                </a:solidFill>
              </a:rPr>
              <a:t>simulador bancário</a:t>
            </a:r>
            <a:r>
              <a:rPr lang="en-US" sz="1700">
                <a:solidFill>
                  <a:schemeClr val="dk1"/>
                </a:solidFill>
              </a:rPr>
              <a:t>: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Adicione métodos exclusivos para cada tipo de conta.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Crie uma função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mostrar_extrato(conta)</a:t>
            </a:r>
            <a:r>
              <a:rPr lang="en-US" sz="1700">
                <a:solidFill>
                  <a:schemeClr val="dk1"/>
                </a:solidFill>
              </a:rPr>
              <a:t> que funcione para qualquer conta (polimorfismo).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Desafio: crie uma lista de animais diferentes e use uma função para </a:t>
            </a:r>
            <a:r>
              <a:rPr b="1" lang="en-US" sz="1700">
                <a:solidFill>
                  <a:schemeClr val="dk1"/>
                </a:solidFill>
              </a:rPr>
              <a:t>emitir som de todos</a:t>
            </a:r>
            <a:r>
              <a:rPr lang="en-US" sz="1700">
                <a:solidFill>
                  <a:schemeClr val="dk1"/>
                </a:solidFill>
              </a:rPr>
              <a:t>, mostrando polimorfismo.</a:t>
            </a:r>
            <a:endParaRPr b="1"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71f89f91c1_0_185"/>
          <p:cNvSpPr txBox="1"/>
          <p:nvPr/>
        </p:nvSpPr>
        <p:spPr>
          <a:xfrm>
            <a:off x="2086950" y="1184275"/>
            <a:ext cx="739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71f89f91c1_0_185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11 — Introdução a Funções + Primeira Noção de POO (Classes e Objetos)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