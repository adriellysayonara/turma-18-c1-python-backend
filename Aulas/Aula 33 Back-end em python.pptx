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gbO/miHq3TW+6mbuhlmMmGpJ8z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CD1077-90A5-4605-9F51-B01866F7AB5B}">
  <a:tblStyle styleId="{9ECD1077-90A5-4605-9F51-B01866F7AB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e04a39b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be04a39be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e04a39b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9be04a39be_1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be04a39b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9be04a39be_1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e04a39b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9be04a39be_1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be04a39be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9be04a39be_1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e04a39be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9be04a39be_1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be04a39be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9be04a39be_1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e04a39be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9be04a39be_1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e04a39be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9be04a39be_1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be04a39be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9be04a39be_1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be04a39be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9be04a39be_1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be04a39be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9be04a39be_1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e04a39be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9be04a39be_1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62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09896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Implementar persistência (salvar/ler do arquivo ou banco).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Aplicar boas práticas de arquitetura (DAO, Repository).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Relacionar com frameworks reais (Django).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9be04a39be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9be04a39be_1_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39be04a39be_1_1"/>
          <p:cNvSpPr txBox="1"/>
          <p:nvPr/>
        </p:nvSpPr>
        <p:spPr>
          <a:xfrm>
            <a:off x="1151325" y="3028800"/>
            <a:ext cx="593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Revisão da Arquitetura MVC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1" name="Google Shape;101;g39be04a39be_1_1"/>
          <p:cNvGraphicFramePr/>
          <p:nvPr/>
        </p:nvGraphicFramePr>
        <p:xfrm>
          <a:off x="1151325" y="398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{9ECD1077-90A5-4605-9F51-B01866F7AB5B}</a:tableStyleId>
              </a:tblPr>
              <a:tblGrid>
                <a:gridCol w="2814900"/>
                <a:gridCol w="3992875"/>
                <a:gridCol w="4880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Camada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Responsabilidade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Exemplo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Model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Representa os dados e regras de negócio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Classe </a:t>
                      </a: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Produto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View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 com o usuário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Menus no terminal ou templates HTML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Controller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Intermedia Model e View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Classe </a:t>
                      </a: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ProdutoController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DAO (Data Access Object)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Encapsula o acesso à persistência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Classe </a:t>
                      </a: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ProdutoDAO</a:t>
                      </a:r>
                      <a:r>
                        <a:rPr lang="en-US" sz="2000"/>
                        <a:t> que lê/escreve JSON ou banco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9be04a39be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9be04a39be_1_11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g39be04a39be_1_11"/>
          <p:cNvSpPr txBox="1"/>
          <p:nvPr/>
        </p:nvSpPr>
        <p:spPr>
          <a:xfrm>
            <a:off x="1151325" y="3028800"/>
            <a:ext cx="858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Refatorando o Model com DAO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g39be04a39be_1_11"/>
          <p:cNvSpPr txBox="1"/>
          <p:nvPr/>
        </p:nvSpPr>
        <p:spPr>
          <a:xfrm>
            <a:off x="1151325" y="3917450"/>
            <a:ext cx="11408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</a:t>
            </a:r>
            <a:r>
              <a:rPr b="1" lang="en-US" sz="2000">
                <a:solidFill>
                  <a:schemeClr val="dk1"/>
                </a:solidFill>
              </a:rPr>
              <a:t>DAO</a:t>
            </a:r>
            <a:r>
              <a:rPr lang="en-US" sz="2000">
                <a:solidFill>
                  <a:schemeClr val="dk1"/>
                </a:solidFill>
              </a:rPr>
              <a:t> é uma </a:t>
            </a:r>
            <a:r>
              <a:rPr b="1" lang="en-US" sz="2000">
                <a:solidFill>
                  <a:schemeClr val="dk1"/>
                </a:solidFill>
              </a:rPr>
              <a:t>camada especializada</a:t>
            </a:r>
            <a:r>
              <a:rPr lang="en-US" sz="2000">
                <a:solidFill>
                  <a:schemeClr val="dk1"/>
                </a:solidFill>
              </a:rPr>
              <a:t> dentro do Model, que cuida </a:t>
            </a:r>
            <a:r>
              <a:rPr b="1" lang="en-US" sz="2000">
                <a:solidFill>
                  <a:schemeClr val="dk1"/>
                </a:solidFill>
              </a:rPr>
              <a:t>exclusivamente da persistência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Assim, o Model fica mais limpo e a troca de armazenamento (ex: de arquivo para banco) fica fácil.</a:t>
            </a:r>
            <a:endParaRPr sz="2000"/>
          </a:p>
        </p:txBody>
      </p:sp>
      <p:pic>
        <p:nvPicPr>
          <p:cNvPr id="110" name="Google Shape;110;g39be04a39be_1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5300" y="5267800"/>
            <a:ext cx="6200775" cy="383857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9be04a39be_1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9be04a39be_1_2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g39be04a39be_1_23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Implementação do DAO (persistência em arquivo JSON)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g39be04a39be_1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9425" y="3962275"/>
            <a:ext cx="6276975" cy="546735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g39be04a39be_1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0075" y="4596213"/>
            <a:ext cx="5723750" cy="372097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9be04a39be_1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9be04a39be_1_34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g39be04a39be_1_34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Controller: intermediando View ↔ DAO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g39be04a39be_1_34"/>
          <p:cNvPicPr preferRelativeResize="0"/>
          <p:nvPr/>
        </p:nvPicPr>
        <p:blipFill rotWithShape="1">
          <a:blip r:embed="rId5">
            <a:alphaModFix/>
          </a:blip>
          <a:srcRect b="41581" l="0" r="0" t="0"/>
          <a:stretch/>
        </p:blipFill>
        <p:spPr>
          <a:xfrm>
            <a:off x="763950" y="3855075"/>
            <a:ext cx="8474925" cy="5041374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g39be04a39be_1_34"/>
          <p:cNvPicPr preferRelativeResize="0"/>
          <p:nvPr/>
        </p:nvPicPr>
        <p:blipFill rotWithShape="1">
          <a:blip r:embed="rId5">
            <a:alphaModFix/>
          </a:blip>
          <a:srcRect b="0" l="0" r="0" t="57343"/>
          <a:stretch/>
        </p:blipFill>
        <p:spPr>
          <a:xfrm>
            <a:off x="9238875" y="4517375"/>
            <a:ext cx="8474925" cy="3681250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9be04a39be_1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9be04a39be_1_4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g39be04a39be_1_47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View (interface simples em terminal)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g39be04a39be_1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827698"/>
            <a:ext cx="7263900" cy="6151401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g39be04a39be_1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9be04a39be_1_5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g39be04a39be_1_57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Ligando tudo no main.py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g39be04a39be_1_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7250" y="3772900"/>
            <a:ext cx="7193508" cy="533667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9be04a39be_1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9be04a39be_1_6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9be04a39be_1_66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Boas práticas aplicadas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2" name="Google Shape;152;g39be04a39be_1_66"/>
          <p:cNvGraphicFramePr/>
          <p:nvPr/>
        </p:nvGraphicFramePr>
        <p:xfrm>
          <a:off x="1151325" y="435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{9ECD1077-90A5-4605-9F51-B01866F7AB5B}</a:tableStyleId>
              </a:tblPr>
              <a:tblGrid>
                <a:gridCol w="3090500"/>
                <a:gridCol w="6181000"/>
                <a:gridCol w="3723675"/>
              </a:tblGrid>
              <a:tr h="146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Prática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Descrição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Benefício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DAO (Data Access Object)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Isola o acesso a dados do restante do sistema.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Facilita trocar de arquivo → banco.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Separação MVC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Model, View e Controller em módulos distintos.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Código limpo e testável.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Refatoração contínua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Quebra de responsabilidades em classes menores.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Manutenção e expansão mais simples.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Repository Pattern (opcional)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Camada entre Controller e DAO para aplicar regras de negócio.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Evita duplicação de lógica.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9be04a39be_1_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9be04a39be_1_8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9be04a39be_1_86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Ligação com Frameworks Reais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60" name="Google Shape;160;g39be04a39be_1_86"/>
          <p:cNvGraphicFramePr/>
          <p:nvPr/>
        </p:nvGraphicFramePr>
        <p:xfrm>
          <a:off x="1151325" y="397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{9ECD1077-90A5-4605-9F51-B01866F7AB5B}</a:tableStyleId>
              </a:tblPr>
              <a:tblGrid>
                <a:gridCol w="2810150"/>
                <a:gridCol w="5661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Conceito no Projeto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Django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Model (Produto)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models.py</a:t>
                      </a:r>
                      <a:r>
                        <a:rPr lang="en-US" sz="2000"/>
                        <a:t> com classes </a:t>
                      </a: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models.Model</a:t>
                      </a:r>
                      <a:endParaRPr sz="20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DAO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Implementado automaticamente pelo ORM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Controller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views.py</a:t>
                      </a:r>
                      <a:r>
                        <a:rPr lang="en-US" sz="2000"/>
                        <a:t> (funções de view)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View (Terminal ou HTML)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Templates (HTML + Django Template Language)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9be04a39be_1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9be04a39be_1_7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9be04a39be_1_76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1 – Sistema de Livros (Biblioteca)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g39be04a39be_1_76"/>
          <p:cNvSpPr txBox="1"/>
          <p:nvPr/>
        </p:nvSpPr>
        <p:spPr>
          <a:xfrm>
            <a:off x="1241050" y="3839775"/>
            <a:ext cx="14877300" cy="50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Objetivo:</a:t>
            </a:r>
            <a:r>
              <a:rPr lang="en-US" sz="1800">
                <a:solidFill>
                  <a:schemeClr val="dk1"/>
                </a:solidFill>
              </a:rPr>
              <a:t> Controlar livros em uma biblioteca.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Campos do Livro: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Código único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Título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Autor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Disponível (sim/não)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Funcionalidades: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Adicionar livro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Listar livros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Remover livro por código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Marcar livro como emprestado ou devolvido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Persistência em JSON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Extras:</a:t>
            </a:r>
            <a:r>
              <a:rPr lang="en-US" sz="1800">
                <a:solidFill>
                  <a:schemeClr val="dk1"/>
                </a:solidFill>
              </a:rPr>
              <a:t> Buscar livro por autor ou título.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9be04a39be_1_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9be04a39be_1_110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39be04a39be_1_110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2 – Sistema de Clientes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9be04a39be_1_110"/>
          <p:cNvSpPr txBox="1"/>
          <p:nvPr/>
        </p:nvSpPr>
        <p:spPr>
          <a:xfrm>
            <a:off x="1241050" y="3839775"/>
            <a:ext cx="14877300" cy="50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Objetivo:</a:t>
            </a:r>
            <a:r>
              <a:rPr lang="en-US" sz="1800">
                <a:solidFill>
                  <a:schemeClr val="dk1"/>
                </a:solidFill>
              </a:rPr>
              <a:t> Gerenciar clientes de uma loja.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Campos do Cliente: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ID único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Nome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E-mail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Telefone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Funcionalidades: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Adicionar cliente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Listar clientes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Remover cliente por ID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Persistência em JSON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Buscar cliente por e-mail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Extras:</a:t>
            </a:r>
            <a:r>
              <a:rPr lang="en-US" sz="1800">
                <a:solidFill>
                  <a:schemeClr val="dk1"/>
                </a:solidFill>
              </a:rPr>
              <a:t> Permitir atualizar telefone ou e-mail do cliente.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9be04a39be_1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9be04a39be_1_11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9be04a39be_1_117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3 – </a:t>
            </a: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Sistema de Pedidos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9be04a39be_1_117"/>
          <p:cNvSpPr txBox="1"/>
          <p:nvPr/>
        </p:nvSpPr>
        <p:spPr>
          <a:xfrm>
            <a:off x="1241050" y="3839775"/>
            <a:ext cx="14877300" cy="5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Objetivo:</a:t>
            </a:r>
            <a:r>
              <a:rPr lang="en-US" sz="1800">
                <a:solidFill>
                  <a:schemeClr val="dk1"/>
                </a:solidFill>
              </a:rPr>
              <a:t> Gerenciar pedidos de clientes em uma loja.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Campos do Pedido: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ID único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Nome do cliente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Lista de produtos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Status (pendente/concluído)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Funcionalidades: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Criar pedido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Listar pedidos (com filtro por status)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Atualizar status do pedido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Remover pedido por ID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Persistência em JSON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Extras:</a:t>
            </a:r>
            <a:r>
              <a:rPr lang="en-US" sz="1800">
                <a:solidFill>
                  <a:schemeClr val="dk1"/>
                </a:solidFill>
              </a:rPr>
              <a:t> Permitir adicionar ou remover produtos de um pedido existente.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9be04a39be_1_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9be04a39be_1_12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39be04a39be_1_126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4 – </a:t>
            </a: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Sistema de Filmes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9be04a39be_1_126"/>
          <p:cNvSpPr txBox="1"/>
          <p:nvPr/>
        </p:nvSpPr>
        <p:spPr>
          <a:xfrm>
            <a:off x="1241050" y="3839775"/>
            <a:ext cx="14877300" cy="55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Objetivo:</a:t>
            </a:r>
            <a:r>
              <a:rPr lang="en-US" sz="1700">
                <a:solidFill>
                  <a:schemeClr val="dk1"/>
                </a:solidFill>
              </a:rPr>
              <a:t> Gerenciar filmes em uma locadora ou coleção pessoal.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Campos do Filme: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Código único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Título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Diretor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Ano de lançamento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Disponível para aluguel (sim/não)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Funcionalidades: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Adicionar filme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Listar filmes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Remover filme por código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Marcar filme como alugado/devolvido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Persistência em JSON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Extras:</a:t>
            </a:r>
            <a:r>
              <a:rPr lang="en-US" sz="1700">
                <a:solidFill>
                  <a:schemeClr val="dk1"/>
                </a:solidFill>
              </a:rPr>
              <a:t> Buscar filmes por diretor ou ano de lançamento.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9be04a39be_1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9be04a39be_1_13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g39be04a39be_1_135"/>
          <p:cNvSpPr txBox="1"/>
          <p:nvPr/>
        </p:nvSpPr>
        <p:spPr>
          <a:xfrm>
            <a:off x="1151325" y="3028800"/>
            <a:ext cx="1140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Exercício 5 – </a:t>
            </a: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Sistema de Contatos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g39be04a39be_1_135"/>
          <p:cNvSpPr txBox="1"/>
          <p:nvPr/>
        </p:nvSpPr>
        <p:spPr>
          <a:xfrm>
            <a:off x="1241050" y="3839775"/>
            <a:ext cx="14877300" cy="55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Objetivo:</a:t>
            </a:r>
            <a:r>
              <a:rPr lang="en-US" sz="1700">
                <a:solidFill>
                  <a:schemeClr val="dk1"/>
                </a:solidFill>
              </a:rPr>
              <a:t> Criar uma agenda de contatos.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Campos do Contato: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ID único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Nome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Telefone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E-mail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Endereço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Funcionalidades: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Adicionar contato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Listar contatos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Remover contato por ID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Buscar contato por nome ou e-mail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Persistência em JSON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Extras:</a:t>
            </a:r>
            <a:r>
              <a:rPr lang="en-US" sz="1700">
                <a:solidFill>
                  <a:schemeClr val="dk1"/>
                </a:solidFill>
              </a:rPr>
              <a:t> Permitir atualizar telefone ou endereço de um contato existente.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6" name="Google Shape;206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71f89f91c1_0_18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Refatoração e Padrões Avançados (DAO + MVC completo)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